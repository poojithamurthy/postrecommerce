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8604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brand and the ask: this is a real store, not a mock-up. Fifty-two designs live, thirteen orders recorded, a working admin panel behind it. Introduce the four of us and say we will walk the marking scheme in order: technology, marketing, conversion, profitability, then planning and execution.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Say the six blocks follow the marking scheme exactly, and that every claim from here on is backed by a screenshot from the live admin panel or Instagram Insights.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positioning line to say out loud: the things you love should not live only in your camera roll. Ready-made catalogue for volume and discovery, custom work for margin and emotional pull. Both sell — the order mix later proves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design carries an SKU — PSTR-CIN-01, PSTR-DES-04 and so on. That code is not decoration: it is what lets a customer DM four characters and have an order created without a single clarifying message. Mention that the catalogue itself is a shareable PDF we send on WhatsApp.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live store prices: A4 ₹90, A3 ₹120, 13 × 19 ₹150 — pitched at a student budget so a first poster is an impulse buy. The print-cost column is what we pay the vendor per sheet; the gap between price and print cost is the margin the dashboard reports. The difference between single-sheet and bulk-run cost is the supplier problem we come back to on the challenges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the dashed boxes: six components are live and running orders today — Shopify, Razorpay, the Node.js backend, the database, the React/Next.js admin panel and Cloudflare R2 — while two are specified and scoped but not shipped. Claiming an AI engine we have not built would be the easiest thing to get caught on. What we can defend is that both have a defined trigger, a data source and a place in the stack.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top to bottom: customer flow, backend, storage, admin, QR scan. Step two is the one to dwell on — nothing happens until Razorpay's webhook tells our backend the payment succeeded, so the revenue on the dashboard is only verified money. Why Razorpay: UPI is how students pay, and no card number, CVV or UPI PIN ever touches our server. Why a random QR id like A7K92XP rather than the order number: nobody can guess their way into someone else's memories. Why Cloudflare R2: cheap, scalable storage with no bandwidth fees on gallery views.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sidebar is the argument: Dashboard, Orders, Production, Completed, Costs, Memories, Admins, Change Password, Activity Logs. Costs sit beside revenue on the same screen, which is why we can quote a margin without opening a spreadsheet. Offer to open the live panel if the room asks.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points. First, nothing is deleted — a cancelled order stays visible with its value, because a dashboard that quietly drops bad news is useless for managing the business. Second, zero orders sitting in production or printed at the time of the screenshot is the 48-hour promise working, not an empty queue.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differentiator no marketplace copies easily, and also the biggest risk we carry. Somebody's engagement photos sitting in our storage is a security problem before it is a feature. The retention warning on the dashboard exists so a vault never dies silently on a customer.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these are not built: order volume does not justify them yet. A recommender trained on thirteen orders recommends noise. We would rather show a specification we can defend than a demo that would mislead.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Defend the single-channel choice: with a two-week window and no ad budget, going deep on the platform where the audience already sits beat spreading thin across four. The UTM tag is worth pointing at — it is the difference between hoping Instagram drove traffic and knowing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Instagram will not release gender or age breakdowns at 27 followers — Meta needs a larger base before it publishes demographics. Say that plainly if asked; it is a platform limit, not a gap in our reporting.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managerial read: stories are cheap to make and buy attention, posts are where you spend effort because they convert attention into a tap. That split is what the next term's content calendar should be built on — more stories for frequency, fewer but better posts carrying the link.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sample size: these are directional reads on a 30-day window, not statistically clean A/B tests. What makes them useful is that each one changed what we did next — the follow-up email in particular was a reaction to seeing 34 taps produce only 5 orders.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14.7% tap-to-customer rate is the number to lead with — it is far above a typical e-commerce benchmark, because a bio-link tap is already a qualified visitor. The weak step is 314 visits to 34 taps. Fixing the profile and landing page is where the next order comes from, not more reach.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two to narrate rather than reading all six. SKU shorthand and the follow-up email are the ones with evidence attached: the codes come straight from the catalogue, and the email is three of our eight customers.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two red bars. Cost is lumpy because printing is batched — we pay the vendor in runs, not per order. That is the whole reason bulk pricing matters, and it is why a thin run of orders is more expensive per poster than a fat one.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readings. Ready-made is the volume engine at 54% of revenue, but custom work is 46% from six orders — higher value per order and the line we should grow. Against the ₹4,000 we put in, ₹1,000 each, the ₹1,995 profit has returned about half the seed capital inside the first cycle.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Sriparno ran both of these. The negotiating position was weak — a student brand with no history asking for bulk rates — so what worked was committing to volume over a term rather than haggling on a single job. The physical check is unglamorous and it is the reason we have had no replacement claims.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what we would change: the vendor shortlist should have been a gate, not a task inside the first two days. Every operational surprise we hit later traced back to picking suppliers in parallel with building rather than before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slide and worth slowing down on. We did not abandon the idea because it was bad; we abandoned it because it was unbuyable at our scale. Separating the promise — something that stands on a desk — from the mechanism let us keep the first and replace the second in a day.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why lanes rather than shared tasks: with a fourteen-day window, handoffs were the expensive part. Each lane owned a decision end to end and reported into a daily check-in. The one place lanes crossed deliberately was the order lifecycle, which operations, website and payments all had to agree on before day six.</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last card hardest — it is the answer to "what would you do differently". Also worth naming the next three moves: fix the 314-to-34 profile step, grow custom orders because they carry the higher value, and get print volume to a point where bulk rates apply.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offering to open the live store and the admin panel on a phone. The strongest thing we have is that none of this is a mock-up: thirteen real orders, eleven fulfilled, ₹1,995 of real profit. Invite questions on supplier economics and on the vault security model — those are the two we can go deepest 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3238"/>
        </a:solidFill>
        <a:effectLst/>
      </p:bgPr>
    </p:bg>
    <p:spTree>
      <p:nvGrpSpPr>
        <p:cNvPr id="1" name=""/>
        <p:cNvGrpSpPr/>
        <p:nvPr/>
      </p:nvGrpSpPr>
      <p:grpSpPr>
        <a:xfrm>
          <a:off x="0" y="0"/>
          <a:ext cx="0" cy="0"/>
          <a:chOff x="0" y="0"/>
          <a:chExt cx="0" cy="0"/>
        </a:xfrm>
      </p:grpSpPr>
      <p:sp>
        <p:nvSpPr>
          <p:cNvPr id="2" name="Text 0"/>
          <p:cNvSpPr/>
          <p:nvPr/>
        </p:nvSpPr>
        <p:spPr>
          <a:xfrm>
            <a:off x="812800" y="749300"/>
            <a:ext cx="4055110"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E8A48F"/>
                </a:solidFill>
                <a:latin typeface="Poppins" pitchFamily="34" charset="0"/>
                <a:ea typeface="Poppins" pitchFamily="34" charset="-122"/>
                <a:cs typeface="Poppins" pitchFamily="34" charset="-120"/>
              </a:rPr>
              <a:t>E-COMMERCE PROJECT · 2026</a:t>
            </a:r>
            <a:endParaRPr lang="en-US" sz="1200" dirty="0"/>
          </a:p>
        </p:txBody>
      </p:sp>
      <p:sp>
        <p:nvSpPr>
          <p:cNvPr id="3" name="Text 1"/>
          <p:cNvSpPr/>
          <p:nvPr/>
        </p:nvSpPr>
        <p:spPr>
          <a:xfrm>
            <a:off x="5100320" y="749300"/>
            <a:ext cx="62788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8C3C2"/>
                </a:solidFill>
                <a:latin typeface="Poppins" pitchFamily="34" charset="0"/>
                <a:ea typeface="Poppins" pitchFamily="34" charset="-122"/>
                <a:cs typeface="Poppins" pitchFamily="34" charset="-120"/>
              </a:rPr>
              <a:t>Poojitha K · Anushka Mahato · Sriparno Chowdhury · Akshaya Tantri</a:t>
            </a:r>
            <a:endParaRPr lang="en-US" sz="1200" dirty="0"/>
          </a:p>
        </p:txBody>
      </p:sp>
      <p:pic>
        <p:nvPicPr>
          <p:cNvPr id="4" name="Image 0" descr="Postr logo"/>
          <p:cNvPicPr>
            <a:picLocks noChangeAspect="1"/>
          </p:cNvPicPr>
          <p:nvPr/>
        </p:nvPicPr>
        <p:blipFill>
          <a:blip r:embed="rId3"/>
          <a:srcRect/>
          <a:stretch/>
        </p:blipFill>
        <p:spPr>
          <a:xfrm>
            <a:off x="812800" y="1444625"/>
            <a:ext cx="533400" cy="698500"/>
          </a:xfrm>
          <a:prstGeom prst="rect">
            <a:avLst/>
          </a:prstGeom>
        </p:spPr>
      </p:pic>
      <p:sp>
        <p:nvSpPr>
          <p:cNvPr id="5" name="Text 2"/>
          <p:cNvSpPr/>
          <p:nvPr/>
        </p:nvSpPr>
        <p:spPr>
          <a:xfrm>
            <a:off x="1562100" y="1270000"/>
            <a:ext cx="2573196" cy="1073150"/>
          </a:xfrm>
          <a:prstGeom prst="rect">
            <a:avLst/>
          </a:prstGeom>
          <a:noFill/>
          <a:ln/>
        </p:spPr>
        <p:txBody>
          <a:bodyPr wrap="square" lIns="0" tIns="0" rIns="0" bIns="0" rtlCol="0" anchor="t">
            <a:normAutofit/>
          </a:bodyPr>
          <a:lstStyle/>
          <a:p>
            <a:pPr marL="0" indent="0" algn="l">
              <a:lnSpc>
                <a:spcPts val="8250"/>
              </a:lnSpc>
              <a:buNone/>
            </a:pPr>
            <a:r>
              <a:rPr lang="en-US" sz="7500" dirty="0">
                <a:solidFill>
                  <a:srgbClr val="FAF6F0"/>
                </a:solidFill>
                <a:latin typeface="Playfair Display" pitchFamily="34" charset="0"/>
                <a:ea typeface="Playfair Display" pitchFamily="34" charset="-122"/>
                <a:cs typeface="Playfair Display" pitchFamily="34" charset="-120"/>
              </a:rPr>
              <a:t>Postr.</a:t>
            </a:r>
            <a:endParaRPr lang="en-US" sz="7500" dirty="0"/>
          </a:p>
        </p:txBody>
      </p:sp>
      <p:sp>
        <p:nvSpPr>
          <p:cNvPr id="6" name="Text 3"/>
          <p:cNvSpPr/>
          <p:nvPr/>
        </p:nvSpPr>
        <p:spPr>
          <a:xfrm>
            <a:off x="812800" y="2514600"/>
            <a:ext cx="7194550" cy="434340"/>
          </a:xfrm>
          <a:prstGeom prst="rect">
            <a:avLst/>
          </a:prstGeom>
          <a:noFill/>
          <a:ln/>
        </p:spPr>
        <p:txBody>
          <a:bodyPr wrap="square" lIns="0" tIns="0" rIns="0" bIns="0" rtlCol="0" anchor="t">
            <a:normAutofit/>
          </a:bodyPr>
          <a:lstStyle/>
          <a:p>
            <a:pPr marL="0" indent="0" algn="l">
              <a:lnSpc>
                <a:spcPts val="3220"/>
              </a:lnSpc>
              <a:buNone/>
            </a:pPr>
            <a:r>
              <a:rPr lang="en-US" sz="2300" i="1" dirty="0">
                <a:solidFill>
                  <a:srgbClr val="E8A48F"/>
                </a:solidFill>
                <a:latin typeface="Playfair Display" pitchFamily="34" charset="0"/>
                <a:ea typeface="Playfair Display" pitchFamily="34" charset="-122"/>
                <a:cs typeface="Playfair Display" pitchFamily="34" charset="-120"/>
              </a:rPr>
              <a:t>Made for your space.</a:t>
            </a:r>
            <a:endParaRPr lang="en-US" sz="2300" dirty="0"/>
          </a:p>
        </p:txBody>
      </p:sp>
      <p:pic>
        <p:nvPicPr>
          <p:cNvPr id="7" name="Image 1" descr="Five Postr posters fanned out: The World Is Yours, Stay Cold, Wake Up Sid, Senna and GOAT"/>
          <p:cNvPicPr>
            <a:picLocks noChangeAspect="1"/>
          </p:cNvPicPr>
          <p:nvPr/>
        </p:nvPicPr>
        <p:blipFill>
          <a:blip r:embed="rId4"/>
          <a:srcRect l="-1" r="-1"/>
          <a:stretch/>
        </p:blipFill>
        <p:spPr>
          <a:xfrm>
            <a:off x="2286000" y="3079750"/>
            <a:ext cx="7620000" cy="2940050"/>
          </a:xfrm>
          <a:prstGeom prst="rect">
            <a:avLst/>
          </a:prstGeom>
        </p:spPr>
      </p:pic>
      <p:sp>
        <p:nvSpPr>
          <p:cNvPr id="8" name="Text 4"/>
          <p:cNvSpPr/>
          <p:nvPr/>
        </p:nvSpPr>
        <p:spPr>
          <a:xfrm>
            <a:off x="812800" y="6220460"/>
            <a:ext cx="497078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8A48F"/>
                </a:solidFill>
                <a:latin typeface="Poppins" pitchFamily="34" charset="0"/>
                <a:ea typeface="Poppins" pitchFamily="34" charset="-122"/>
                <a:cs typeface="Poppins" pitchFamily="34" charset="-120"/>
              </a:rPr>
              <a:t>Live store · mypostr.store</a:t>
            </a:r>
            <a:endParaRPr lang="en-US" sz="1300" dirty="0"/>
          </a:p>
        </p:txBody>
      </p:sp>
      <p:sp>
        <p:nvSpPr>
          <p:cNvPr id="9" name="Text 5"/>
          <p:cNvSpPr/>
          <p:nvPr/>
        </p:nvSpPr>
        <p:spPr>
          <a:xfrm>
            <a:off x="7454900" y="6238240"/>
            <a:ext cx="39243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A8C3C2"/>
                </a:solidFill>
                <a:latin typeface="Poppins" pitchFamily="34" charset="0"/>
                <a:ea typeface="Poppins" pitchFamily="34" charset="-122"/>
                <a:cs typeface="Poppins" pitchFamily="34" charset="-120"/>
              </a:rPr>
              <a:t>01 / 25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B14F36"/>
                </a:solidFill>
                <a:latin typeface="Poppins" pitchFamily="34" charset="0"/>
                <a:ea typeface="Poppins" pitchFamily="34" charset="-122"/>
                <a:cs typeface="Poppins" pitchFamily="34" charset="-120"/>
              </a:rPr>
              <a:t>CONTENTS</a:t>
            </a:r>
            <a:endParaRPr lang="en-US" sz="1200" dirty="0"/>
          </a:p>
        </p:txBody>
      </p:sp>
      <p:sp>
        <p:nvSpPr>
          <p:cNvPr id="3" name="Text 1"/>
          <p:cNvSpPr/>
          <p:nvPr/>
        </p:nvSpPr>
        <p:spPr>
          <a:xfrm>
            <a:off x="812800" y="128016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2454B"/>
                </a:solidFill>
                <a:latin typeface="Playfair Display" pitchFamily="34" charset="0"/>
                <a:ea typeface="Playfair Display" pitchFamily="34" charset="-122"/>
                <a:cs typeface="Playfair Display" pitchFamily="34" charset="-120"/>
              </a:rPr>
              <a:t>What we'll cover</a:t>
            </a:r>
            <a:endParaRPr lang="en-US" sz="3600" dirty="0"/>
          </a:p>
        </p:txBody>
      </p:sp>
      <p:sp>
        <p:nvSpPr>
          <p:cNvPr id="4" name="Shape 2"/>
          <p:cNvSpPr/>
          <p:nvPr/>
        </p:nvSpPr>
        <p:spPr>
          <a:xfrm>
            <a:off x="812800" y="2040255"/>
            <a:ext cx="10566400" cy="0"/>
          </a:xfrm>
          <a:prstGeom prst="line">
            <a:avLst/>
          </a:prstGeom>
          <a:noFill/>
          <a:ln w="6350">
            <a:solidFill>
              <a:srgbClr val="DCD3C8"/>
            </a:solidFill>
            <a:prstDash val="solid"/>
          </a:ln>
        </p:spPr>
        <p:txBody>
          <a:bodyPr/>
          <a:lstStyle/>
          <a:p>
            <a:endParaRPr lang="en-IN"/>
          </a:p>
        </p:txBody>
      </p:sp>
      <p:sp>
        <p:nvSpPr>
          <p:cNvPr id="5" name="Text 3"/>
          <p:cNvSpPr/>
          <p:nvPr/>
        </p:nvSpPr>
        <p:spPr>
          <a:xfrm>
            <a:off x="812800" y="2156460"/>
            <a:ext cx="4064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14F36"/>
                </a:solidFill>
                <a:latin typeface="Playfair Display" pitchFamily="34" charset="0"/>
                <a:ea typeface="Playfair Display" pitchFamily="34" charset="-122"/>
                <a:cs typeface="Playfair Display" pitchFamily="34" charset="-120"/>
              </a:rPr>
              <a:t>01</a:t>
            </a:r>
            <a:endParaRPr lang="en-US" sz="1600" dirty="0"/>
          </a:p>
        </p:txBody>
      </p:sp>
      <p:sp>
        <p:nvSpPr>
          <p:cNvPr id="6" name="Text 4"/>
          <p:cNvSpPr/>
          <p:nvPr/>
        </p:nvSpPr>
        <p:spPr>
          <a:xfrm>
            <a:off x="1371600" y="2181860"/>
            <a:ext cx="418592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2454B"/>
                </a:solidFill>
                <a:latin typeface="Poppins" pitchFamily="34" charset="0"/>
                <a:ea typeface="Poppins" pitchFamily="34" charset="-122"/>
                <a:cs typeface="Poppins" pitchFamily="34" charset="-120"/>
              </a:rPr>
              <a:t>Technology &amp; digital enablement</a:t>
            </a:r>
            <a:endParaRPr lang="en-US" sz="1500" dirty="0"/>
          </a:p>
        </p:txBody>
      </p:sp>
      <p:sp>
        <p:nvSpPr>
          <p:cNvPr id="7" name="Text 5"/>
          <p:cNvSpPr/>
          <p:nvPr/>
        </p:nvSpPr>
        <p:spPr>
          <a:xfrm>
            <a:off x="5638800" y="2207260"/>
            <a:ext cx="591261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5C"/>
                </a:solidFill>
                <a:latin typeface="Poppins" pitchFamily="34" charset="0"/>
                <a:ea typeface="Poppins" pitchFamily="34" charset="-122"/>
                <a:cs typeface="Poppins" pitchFamily="34" charset="-120"/>
              </a:rPr>
              <a:t>Storefront, Razorpay, admin analytics, memory vault, AI and chatbot</a:t>
            </a:r>
            <a:endParaRPr lang="en-US" sz="1300" dirty="0"/>
          </a:p>
        </p:txBody>
      </p:sp>
      <p:sp>
        <p:nvSpPr>
          <p:cNvPr id="8" name="Shape 6"/>
          <p:cNvSpPr/>
          <p:nvPr/>
        </p:nvSpPr>
        <p:spPr>
          <a:xfrm>
            <a:off x="812800" y="2566035"/>
            <a:ext cx="10566400" cy="0"/>
          </a:xfrm>
          <a:prstGeom prst="line">
            <a:avLst/>
          </a:prstGeom>
          <a:noFill/>
          <a:ln w="6350">
            <a:solidFill>
              <a:srgbClr val="DCD3C8"/>
            </a:solidFill>
            <a:prstDash val="solid"/>
          </a:ln>
        </p:spPr>
        <p:txBody>
          <a:bodyPr/>
          <a:lstStyle/>
          <a:p>
            <a:endParaRPr lang="en-IN"/>
          </a:p>
        </p:txBody>
      </p:sp>
      <p:sp>
        <p:nvSpPr>
          <p:cNvPr id="9" name="Text 7"/>
          <p:cNvSpPr/>
          <p:nvPr/>
        </p:nvSpPr>
        <p:spPr>
          <a:xfrm>
            <a:off x="812800" y="2682240"/>
            <a:ext cx="4064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14F36"/>
                </a:solidFill>
                <a:latin typeface="Playfair Display" pitchFamily="34" charset="0"/>
                <a:ea typeface="Playfair Display" pitchFamily="34" charset="-122"/>
                <a:cs typeface="Playfair Display" pitchFamily="34" charset="-120"/>
              </a:rPr>
              <a:t>02</a:t>
            </a:r>
            <a:endParaRPr lang="en-US" sz="1600" dirty="0"/>
          </a:p>
        </p:txBody>
      </p:sp>
      <p:sp>
        <p:nvSpPr>
          <p:cNvPr id="10" name="Text 8"/>
          <p:cNvSpPr/>
          <p:nvPr/>
        </p:nvSpPr>
        <p:spPr>
          <a:xfrm>
            <a:off x="1371600" y="2707640"/>
            <a:ext cx="418592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2454B"/>
                </a:solidFill>
                <a:latin typeface="Poppins" pitchFamily="34" charset="0"/>
                <a:ea typeface="Poppins" pitchFamily="34" charset="-122"/>
                <a:cs typeface="Poppins" pitchFamily="34" charset="-120"/>
              </a:rPr>
              <a:t>Digital marketing &amp; acquisition</a:t>
            </a:r>
            <a:endParaRPr lang="en-US" sz="1500" dirty="0"/>
          </a:p>
        </p:txBody>
      </p:sp>
      <p:sp>
        <p:nvSpPr>
          <p:cNvPr id="11" name="Text 9"/>
          <p:cNvSpPr/>
          <p:nvPr/>
        </p:nvSpPr>
        <p:spPr>
          <a:xfrm>
            <a:off x="5638800" y="2733040"/>
            <a:ext cx="591261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5C"/>
                </a:solidFill>
                <a:latin typeface="Poppins" pitchFamily="34" charset="0"/>
                <a:ea typeface="Poppins" pitchFamily="34" charset="-122"/>
                <a:cs typeface="Poppins" pitchFamily="34" charset="-120"/>
              </a:rPr>
              <a:t>Channel strategy, content, SEO, campaigns and what we tested</a:t>
            </a:r>
            <a:endParaRPr lang="en-US" sz="1300" dirty="0"/>
          </a:p>
        </p:txBody>
      </p:sp>
      <p:sp>
        <p:nvSpPr>
          <p:cNvPr id="12" name="Shape 10"/>
          <p:cNvSpPr/>
          <p:nvPr/>
        </p:nvSpPr>
        <p:spPr>
          <a:xfrm>
            <a:off x="812800" y="3091815"/>
            <a:ext cx="10566400" cy="0"/>
          </a:xfrm>
          <a:prstGeom prst="line">
            <a:avLst/>
          </a:prstGeom>
          <a:noFill/>
          <a:ln w="6350">
            <a:solidFill>
              <a:srgbClr val="DCD3C8"/>
            </a:solidFill>
            <a:prstDash val="solid"/>
          </a:ln>
        </p:spPr>
        <p:txBody>
          <a:bodyPr/>
          <a:lstStyle/>
          <a:p>
            <a:endParaRPr lang="en-IN"/>
          </a:p>
        </p:txBody>
      </p:sp>
      <p:sp>
        <p:nvSpPr>
          <p:cNvPr id="13" name="Text 11"/>
          <p:cNvSpPr/>
          <p:nvPr/>
        </p:nvSpPr>
        <p:spPr>
          <a:xfrm>
            <a:off x="812800" y="3208020"/>
            <a:ext cx="4064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14F36"/>
                </a:solidFill>
                <a:latin typeface="Playfair Display" pitchFamily="34" charset="0"/>
                <a:ea typeface="Playfair Display" pitchFamily="34" charset="-122"/>
                <a:cs typeface="Playfair Display" pitchFamily="34" charset="-120"/>
              </a:rPr>
              <a:t>03</a:t>
            </a:r>
            <a:endParaRPr lang="en-US" sz="1600" dirty="0"/>
          </a:p>
        </p:txBody>
      </p:sp>
      <p:sp>
        <p:nvSpPr>
          <p:cNvPr id="14" name="Text 12"/>
          <p:cNvSpPr/>
          <p:nvPr/>
        </p:nvSpPr>
        <p:spPr>
          <a:xfrm>
            <a:off x="1371600" y="3233420"/>
            <a:ext cx="418592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2454B"/>
                </a:solidFill>
                <a:latin typeface="Poppins" pitchFamily="34" charset="0"/>
                <a:ea typeface="Poppins" pitchFamily="34" charset="-122"/>
                <a:cs typeface="Poppins" pitchFamily="34" charset="-120"/>
              </a:rPr>
              <a:t>Sales &amp; customer conversion</a:t>
            </a:r>
            <a:endParaRPr lang="en-US" sz="1500" dirty="0"/>
          </a:p>
        </p:txBody>
      </p:sp>
      <p:sp>
        <p:nvSpPr>
          <p:cNvPr id="15" name="Text 13"/>
          <p:cNvSpPr/>
          <p:nvPr/>
        </p:nvSpPr>
        <p:spPr>
          <a:xfrm>
            <a:off x="5638800" y="3258820"/>
            <a:ext cx="591261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5C"/>
                </a:solidFill>
                <a:latin typeface="Poppins" pitchFamily="34" charset="0"/>
                <a:ea typeface="Poppins" pitchFamily="34" charset="-122"/>
                <a:cs typeface="Poppins" pitchFamily="34" charset="-120"/>
              </a:rPr>
              <a:t>The traffic-to-order journey and the tactics that closed it</a:t>
            </a:r>
            <a:endParaRPr lang="en-US" sz="1300" dirty="0"/>
          </a:p>
        </p:txBody>
      </p:sp>
      <p:sp>
        <p:nvSpPr>
          <p:cNvPr id="16" name="Shape 14"/>
          <p:cNvSpPr/>
          <p:nvPr/>
        </p:nvSpPr>
        <p:spPr>
          <a:xfrm>
            <a:off x="812800" y="3617595"/>
            <a:ext cx="10566400" cy="0"/>
          </a:xfrm>
          <a:prstGeom prst="line">
            <a:avLst/>
          </a:prstGeom>
          <a:noFill/>
          <a:ln w="6350">
            <a:solidFill>
              <a:srgbClr val="DCD3C8"/>
            </a:solidFill>
            <a:prstDash val="solid"/>
          </a:ln>
        </p:spPr>
        <p:txBody>
          <a:bodyPr/>
          <a:lstStyle/>
          <a:p>
            <a:endParaRPr lang="en-IN"/>
          </a:p>
        </p:txBody>
      </p:sp>
      <p:sp>
        <p:nvSpPr>
          <p:cNvPr id="17" name="Text 15"/>
          <p:cNvSpPr/>
          <p:nvPr/>
        </p:nvSpPr>
        <p:spPr>
          <a:xfrm>
            <a:off x="812800" y="3733800"/>
            <a:ext cx="4064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14F36"/>
                </a:solidFill>
                <a:latin typeface="Playfair Display" pitchFamily="34" charset="0"/>
                <a:ea typeface="Playfair Display" pitchFamily="34" charset="-122"/>
                <a:cs typeface="Playfair Display" pitchFamily="34" charset="-120"/>
              </a:rPr>
              <a:t>04</a:t>
            </a:r>
            <a:endParaRPr lang="en-US" sz="1600" dirty="0"/>
          </a:p>
        </p:txBody>
      </p:sp>
      <p:sp>
        <p:nvSpPr>
          <p:cNvPr id="18" name="Text 16"/>
          <p:cNvSpPr/>
          <p:nvPr/>
        </p:nvSpPr>
        <p:spPr>
          <a:xfrm>
            <a:off x="1371600" y="3759200"/>
            <a:ext cx="418592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2454B"/>
                </a:solidFill>
                <a:latin typeface="Poppins" pitchFamily="34" charset="0"/>
                <a:ea typeface="Poppins" pitchFamily="34" charset="-122"/>
                <a:cs typeface="Poppins" pitchFamily="34" charset="-120"/>
              </a:rPr>
              <a:t>Business performance</a:t>
            </a:r>
            <a:endParaRPr lang="en-US" sz="1500" dirty="0"/>
          </a:p>
        </p:txBody>
      </p:sp>
      <p:sp>
        <p:nvSpPr>
          <p:cNvPr id="19" name="Text 17"/>
          <p:cNvSpPr/>
          <p:nvPr/>
        </p:nvSpPr>
        <p:spPr>
          <a:xfrm>
            <a:off x="5638800" y="3784600"/>
            <a:ext cx="591261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5C"/>
                </a:solidFill>
                <a:latin typeface="Poppins" pitchFamily="34" charset="0"/>
                <a:ea typeface="Poppins" pitchFamily="34" charset="-122"/>
                <a:cs typeface="Poppins" pitchFamily="34" charset="-120"/>
              </a:rPr>
              <a:t>Revenue, cost, profit, margin and return on what we spent</a:t>
            </a:r>
            <a:endParaRPr lang="en-US" sz="1300" dirty="0"/>
          </a:p>
        </p:txBody>
      </p:sp>
      <p:sp>
        <p:nvSpPr>
          <p:cNvPr id="20" name="Shape 18"/>
          <p:cNvSpPr/>
          <p:nvPr/>
        </p:nvSpPr>
        <p:spPr>
          <a:xfrm>
            <a:off x="812800" y="4143375"/>
            <a:ext cx="10566400" cy="0"/>
          </a:xfrm>
          <a:prstGeom prst="line">
            <a:avLst/>
          </a:prstGeom>
          <a:noFill/>
          <a:ln w="6350">
            <a:solidFill>
              <a:srgbClr val="DCD3C8"/>
            </a:solidFill>
            <a:prstDash val="solid"/>
          </a:ln>
        </p:spPr>
        <p:txBody>
          <a:bodyPr/>
          <a:lstStyle/>
          <a:p>
            <a:endParaRPr lang="en-IN"/>
          </a:p>
        </p:txBody>
      </p:sp>
      <p:sp>
        <p:nvSpPr>
          <p:cNvPr id="21" name="Text 19"/>
          <p:cNvSpPr/>
          <p:nvPr/>
        </p:nvSpPr>
        <p:spPr>
          <a:xfrm>
            <a:off x="812800" y="4259580"/>
            <a:ext cx="4064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14F36"/>
                </a:solidFill>
                <a:latin typeface="Playfair Display" pitchFamily="34" charset="0"/>
                <a:ea typeface="Playfair Display" pitchFamily="34" charset="-122"/>
                <a:cs typeface="Playfair Display" pitchFamily="34" charset="-120"/>
              </a:rPr>
              <a:t>05</a:t>
            </a:r>
            <a:endParaRPr lang="en-US" sz="1600" dirty="0"/>
          </a:p>
        </p:txBody>
      </p:sp>
      <p:sp>
        <p:nvSpPr>
          <p:cNvPr id="22" name="Text 20"/>
          <p:cNvSpPr/>
          <p:nvPr/>
        </p:nvSpPr>
        <p:spPr>
          <a:xfrm>
            <a:off x="1371600" y="4284980"/>
            <a:ext cx="418592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2454B"/>
                </a:solidFill>
                <a:latin typeface="Poppins" pitchFamily="34" charset="0"/>
                <a:ea typeface="Poppins" pitchFamily="34" charset="-122"/>
                <a:cs typeface="Poppins" pitchFamily="34" charset="-120"/>
              </a:rPr>
              <a:t>Planning, challenges, adaptability</a:t>
            </a:r>
            <a:endParaRPr lang="en-US" sz="1500" dirty="0"/>
          </a:p>
        </p:txBody>
      </p:sp>
      <p:sp>
        <p:nvSpPr>
          <p:cNvPr id="23" name="Text 21"/>
          <p:cNvSpPr/>
          <p:nvPr/>
        </p:nvSpPr>
        <p:spPr>
          <a:xfrm>
            <a:off x="5638800" y="4310380"/>
            <a:ext cx="591261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5C"/>
                </a:solidFill>
                <a:latin typeface="Poppins" pitchFamily="34" charset="0"/>
                <a:ea typeface="Poppins" pitchFamily="34" charset="-122"/>
                <a:cs typeface="Poppins" pitchFamily="34" charset="-120"/>
              </a:rPr>
              <a:t>The two-week build, supplier risk and the ideas we dropped</a:t>
            </a:r>
            <a:endParaRPr lang="en-US" sz="1300" dirty="0"/>
          </a:p>
        </p:txBody>
      </p:sp>
      <p:sp>
        <p:nvSpPr>
          <p:cNvPr id="24" name="Shape 22"/>
          <p:cNvSpPr/>
          <p:nvPr/>
        </p:nvSpPr>
        <p:spPr>
          <a:xfrm>
            <a:off x="812800" y="4669155"/>
            <a:ext cx="10566400" cy="0"/>
          </a:xfrm>
          <a:prstGeom prst="line">
            <a:avLst/>
          </a:prstGeom>
          <a:noFill/>
          <a:ln w="6350">
            <a:solidFill>
              <a:srgbClr val="DCD3C8"/>
            </a:solidFill>
            <a:prstDash val="solid"/>
          </a:ln>
        </p:spPr>
        <p:txBody>
          <a:bodyPr/>
          <a:lstStyle/>
          <a:p>
            <a:endParaRPr lang="en-IN"/>
          </a:p>
        </p:txBody>
      </p:sp>
      <p:sp>
        <p:nvSpPr>
          <p:cNvPr id="25" name="Shape 23"/>
          <p:cNvSpPr/>
          <p:nvPr/>
        </p:nvSpPr>
        <p:spPr>
          <a:xfrm>
            <a:off x="812800" y="5193665"/>
            <a:ext cx="10566400" cy="0"/>
          </a:xfrm>
          <a:prstGeom prst="line">
            <a:avLst/>
          </a:prstGeom>
          <a:noFill/>
          <a:ln w="6350">
            <a:solidFill>
              <a:srgbClr val="DCD3C8"/>
            </a:solidFill>
            <a:prstDash val="solid"/>
          </a:ln>
        </p:spPr>
        <p:txBody>
          <a:bodyPr/>
          <a:lstStyle/>
          <a:p>
            <a:endParaRPr lang="en-IN"/>
          </a:p>
        </p:txBody>
      </p:sp>
      <p:sp>
        <p:nvSpPr>
          <p:cNvPr id="26" name="Text 24"/>
          <p:cNvSpPr/>
          <p:nvPr/>
        </p:nvSpPr>
        <p:spPr>
          <a:xfrm>
            <a:off x="812800" y="4785360"/>
            <a:ext cx="4064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14F36"/>
                </a:solidFill>
                <a:latin typeface="Playfair Display" pitchFamily="34" charset="0"/>
                <a:ea typeface="Playfair Display" pitchFamily="34" charset="-122"/>
                <a:cs typeface="Playfair Display" pitchFamily="34" charset="-120"/>
              </a:rPr>
              <a:t>06</a:t>
            </a:r>
            <a:endParaRPr lang="en-US" sz="1600" dirty="0"/>
          </a:p>
        </p:txBody>
      </p:sp>
      <p:sp>
        <p:nvSpPr>
          <p:cNvPr id="27" name="Text 25"/>
          <p:cNvSpPr/>
          <p:nvPr/>
        </p:nvSpPr>
        <p:spPr>
          <a:xfrm>
            <a:off x="1371600" y="4810760"/>
            <a:ext cx="418592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2454B"/>
                </a:solidFill>
                <a:latin typeface="Poppins" pitchFamily="34" charset="0"/>
                <a:ea typeface="Poppins" pitchFamily="34" charset="-122"/>
                <a:cs typeface="Poppins" pitchFamily="34" charset="-120"/>
              </a:rPr>
              <a:t>Execution &amp; reflection</a:t>
            </a:r>
            <a:endParaRPr lang="en-US" sz="1500" dirty="0"/>
          </a:p>
        </p:txBody>
      </p:sp>
      <p:sp>
        <p:nvSpPr>
          <p:cNvPr id="28" name="Text 26"/>
          <p:cNvSpPr/>
          <p:nvPr/>
        </p:nvSpPr>
        <p:spPr>
          <a:xfrm>
            <a:off x="5638800" y="4836160"/>
            <a:ext cx="591261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5C"/>
                </a:solidFill>
                <a:latin typeface="Poppins" pitchFamily="34" charset="0"/>
                <a:ea typeface="Poppins" pitchFamily="34" charset="-122"/>
                <a:cs typeface="Poppins" pitchFamily="34" charset="-120"/>
              </a:rPr>
              <a:t>Who owned what, and what the build actually taught us</a:t>
            </a:r>
            <a:endParaRPr lang="en-US" sz="1300" dirty="0"/>
          </a:p>
        </p:txBody>
      </p:sp>
      <p:pic>
        <p:nvPicPr>
          <p:cNvPr id="29" name="Image 0" descr="Postr logo"/>
          <p:cNvPicPr>
            <a:picLocks noChangeAspect="1"/>
          </p:cNvPicPr>
          <p:nvPr/>
        </p:nvPicPr>
        <p:blipFill>
          <a:blip r:embed="rId3"/>
          <a:srcRect/>
          <a:stretch/>
        </p:blipFill>
        <p:spPr>
          <a:xfrm>
            <a:off x="812800" y="6228080"/>
            <a:ext cx="165100" cy="215900"/>
          </a:xfrm>
          <a:prstGeom prst="rect">
            <a:avLst/>
          </a:prstGeom>
        </p:spPr>
      </p:pic>
      <p:sp>
        <p:nvSpPr>
          <p:cNvPr id="30" name="Text 27"/>
          <p:cNvSpPr/>
          <p:nvPr/>
        </p:nvSpPr>
        <p:spPr>
          <a:xfrm>
            <a:off x="1066800" y="6220461"/>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454B"/>
                </a:solidFill>
                <a:latin typeface="Playfair Display" pitchFamily="34" charset="0"/>
                <a:ea typeface="Playfair Display" pitchFamily="34" charset="-122"/>
                <a:cs typeface="Playfair Display" pitchFamily="34" charset="-120"/>
              </a:rPr>
              <a:t>Postr.</a:t>
            </a:r>
            <a:endParaRPr lang="en-US" sz="1300" dirty="0"/>
          </a:p>
        </p:txBody>
      </p:sp>
      <p:sp>
        <p:nvSpPr>
          <p:cNvPr id="31" name="Text 28"/>
          <p:cNvSpPr/>
          <p:nvPr/>
        </p:nvSpPr>
        <p:spPr>
          <a:xfrm>
            <a:off x="8763000" y="6238241"/>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5E7175"/>
                </a:solidFill>
                <a:latin typeface="Poppins" pitchFamily="34" charset="0"/>
                <a:ea typeface="Poppins" pitchFamily="34" charset="-122"/>
                <a:cs typeface="Poppins" pitchFamily="34" charset="-120"/>
              </a:rPr>
              <a:t>02 / 25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454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E8A48F"/>
                </a:solidFill>
                <a:latin typeface="Poppins" pitchFamily="34" charset="0"/>
                <a:ea typeface="Poppins" pitchFamily="34" charset="-122"/>
                <a:cs typeface="Poppins" pitchFamily="34" charset="-120"/>
              </a:rPr>
              <a:t>THE BRAND</a:t>
            </a:r>
            <a:endParaRPr lang="en-US" sz="1200" dirty="0"/>
          </a:p>
        </p:txBody>
      </p:sp>
      <p:sp>
        <p:nvSpPr>
          <p:cNvPr id="3" name="Text 1"/>
          <p:cNvSpPr/>
          <p:nvPr/>
        </p:nvSpPr>
        <p:spPr>
          <a:xfrm>
            <a:off x="812800" y="1254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FAF6F0"/>
                </a:solidFill>
                <a:latin typeface="Playfair Display" pitchFamily="34" charset="0"/>
                <a:ea typeface="Playfair Display" pitchFamily="34" charset="-122"/>
                <a:cs typeface="Playfair Display" pitchFamily="34" charset="-120"/>
              </a:rPr>
              <a:t>A wall that sounds like you</a:t>
            </a:r>
            <a:endParaRPr lang="en-US" sz="3600" dirty="0"/>
          </a:p>
        </p:txBody>
      </p:sp>
      <p:sp>
        <p:nvSpPr>
          <p:cNvPr id="4" name="Text 2"/>
          <p:cNvSpPr/>
          <p:nvPr/>
        </p:nvSpPr>
        <p:spPr>
          <a:xfrm>
            <a:off x="812800" y="1986280"/>
            <a:ext cx="9483725" cy="964565"/>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D6E6E4"/>
                </a:solidFill>
                <a:latin typeface="Poppins" pitchFamily="34" charset="0"/>
                <a:ea typeface="Poppins" pitchFamily="34" charset="-122"/>
                <a:cs typeface="Poppins" pitchFamily="34" charset="-120"/>
              </a:rPr>
              <a:t>Postr. prints the films, lyrics, athletes and photographs people already care about — on 250 GSM matte art paper, hand-checked, shipped in a rigid tube. Fifty-two ready-made designs, plus anything a customer sends us.</a:t>
            </a:r>
            <a:endParaRPr lang="en-US" sz="1700" dirty="0"/>
          </a:p>
        </p:txBody>
      </p:sp>
      <p:sp>
        <p:nvSpPr>
          <p:cNvPr id="5" name="Shape 3"/>
          <p:cNvSpPr/>
          <p:nvPr/>
        </p:nvSpPr>
        <p:spPr>
          <a:xfrm>
            <a:off x="815975" y="3157220"/>
            <a:ext cx="2501900" cy="1845310"/>
          </a:xfrm>
          <a:prstGeom prst="roundRect">
            <a:avLst>
              <a:gd name="adj" fmla="val 5334"/>
            </a:avLst>
          </a:prstGeom>
          <a:solidFill>
            <a:srgbClr val="1A555C"/>
          </a:solidFill>
          <a:ln w="6350">
            <a:solidFill>
              <a:srgbClr val="2D6A70"/>
            </a:solidFill>
            <a:prstDash val="solid"/>
          </a:ln>
        </p:spPr>
        <p:txBody>
          <a:bodyPr/>
          <a:lstStyle/>
          <a:p>
            <a:endParaRPr lang="en-IN"/>
          </a:p>
        </p:txBody>
      </p:sp>
      <p:sp>
        <p:nvSpPr>
          <p:cNvPr id="6" name="Text 4"/>
          <p:cNvSpPr/>
          <p:nvPr/>
        </p:nvSpPr>
        <p:spPr>
          <a:xfrm>
            <a:off x="1033780" y="3375025"/>
            <a:ext cx="2128279"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FAF6F0"/>
                </a:solidFill>
                <a:latin typeface="Playfair Display" pitchFamily="34" charset="0"/>
                <a:ea typeface="Playfair Display" pitchFamily="34" charset="-122"/>
                <a:cs typeface="Playfair Display" pitchFamily="34" charset="-120"/>
              </a:rPr>
              <a:t>52</a:t>
            </a:r>
            <a:endParaRPr lang="en-US" sz="3000" dirty="0"/>
          </a:p>
        </p:txBody>
      </p:sp>
      <p:sp>
        <p:nvSpPr>
          <p:cNvPr id="7" name="Text 5"/>
          <p:cNvSpPr/>
          <p:nvPr/>
        </p:nvSpPr>
        <p:spPr>
          <a:xfrm>
            <a:off x="1033780" y="3895725"/>
            <a:ext cx="2128279" cy="9144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6E6E4"/>
                </a:solidFill>
                <a:latin typeface="Poppins" pitchFamily="34" charset="0"/>
                <a:ea typeface="Poppins" pitchFamily="34" charset="-122"/>
                <a:cs typeface="Poppins" pitchFamily="34" charset="-120"/>
              </a:rPr>
              <a:t>designs across five collections — cinema, Desi Dil, sport, grit and comfort watch.</a:t>
            </a:r>
            <a:endParaRPr lang="en-US" sz="1250" dirty="0"/>
          </a:p>
        </p:txBody>
      </p:sp>
      <p:sp>
        <p:nvSpPr>
          <p:cNvPr id="8" name="Shape 6"/>
          <p:cNvSpPr/>
          <p:nvPr/>
        </p:nvSpPr>
        <p:spPr>
          <a:xfrm>
            <a:off x="3502025" y="3157220"/>
            <a:ext cx="2501900" cy="1845310"/>
          </a:xfrm>
          <a:prstGeom prst="roundRect">
            <a:avLst>
              <a:gd name="adj" fmla="val 5334"/>
            </a:avLst>
          </a:prstGeom>
          <a:solidFill>
            <a:srgbClr val="1A555C"/>
          </a:solidFill>
          <a:ln w="6350">
            <a:solidFill>
              <a:srgbClr val="2D6A70"/>
            </a:solidFill>
            <a:prstDash val="solid"/>
          </a:ln>
        </p:spPr>
        <p:txBody>
          <a:bodyPr/>
          <a:lstStyle/>
          <a:p>
            <a:endParaRPr lang="en-IN"/>
          </a:p>
        </p:txBody>
      </p:sp>
      <p:sp>
        <p:nvSpPr>
          <p:cNvPr id="9" name="Text 7"/>
          <p:cNvSpPr/>
          <p:nvPr/>
        </p:nvSpPr>
        <p:spPr>
          <a:xfrm>
            <a:off x="3719830" y="3375025"/>
            <a:ext cx="2128279"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FAF6F0"/>
                </a:solidFill>
                <a:latin typeface="Playfair Display" pitchFamily="34" charset="0"/>
                <a:ea typeface="Playfair Display" pitchFamily="34" charset="-122"/>
                <a:cs typeface="Playfair Display" pitchFamily="34" charset="-120"/>
              </a:rPr>
              <a:t>3</a:t>
            </a:r>
            <a:endParaRPr lang="en-US" sz="3000" dirty="0"/>
          </a:p>
        </p:txBody>
      </p:sp>
      <p:sp>
        <p:nvSpPr>
          <p:cNvPr id="10" name="Text 8"/>
          <p:cNvSpPr/>
          <p:nvPr/>
        </p:nvSpPr>
        <p:spPr>
          <a:xfrm>
            <a:off x="3719830" y="3895725"/>
            <a:ext cx="2128279"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6E6E4"/>
                </a:solidFill>
                <a:latin typeface="Poppins" pitchFamily="34" charset="0"/>
                <a:ea typeface="Poppins" pitchFamily="34" charset="-122"/>
                <a:cs typeface="Poppins" pitchFamily="34" charset="-120"/>
              </a:rPr>
              <a:t>sizes — A4 at ₹90, A3 at ₹120 and 13 × 19 at ₹150.</a:t>
            </a:r>
            <a:endParaRPr lang="en-US" sz="1250" dirty="0"/>
          </a:p>
        </p:txBody>
      </p:sp>
      <p:sp>
        <p:nvSpPr>
          <p:cNvPr id="11" name="Shape 9"/>
          <p:cNvSpPr/>
          <p:nvPr/>
        </p:nvSpPr>
        <p:spPr>
          <a:xfrm>
            <a:off x="6188075" y="3157220"/>
            <a:ext cx="2501900" cy="1845310"/>
          </a:xfrm>
          <a:prstGeom prst="roundRect">
            <a:avLst>
              <a:gd name="adj" fmla="val 5334"/>
            </a:avLst>
          </a:prstGeom>
          <a:solidFill>
            <a:srgbClr val="1A555C"/>
          </a:solidFill>
          <a:ln w="6350">
            <a:solidFill>
              <a:srgbClr val="2D6A70"/>
            </a:solidFill>
            <a:prstDash val="solid"/>
          </a:ln>
        </p:spPr>
        <p:txBody>
          <a:bodyPr/>
          <a:lstStyle/>
          <a:p>
            <a:endParaRPr lang="en-IN"/>
          </a:p>
        </p:txBody>
      </p:sp>
      <p:sp>
        <p:nvSpPr>
          <p:cNvPr id="12" name="Text 10"/>
          <p:cNvSpPr/>
          <p:nvPr/>
        </p:nvSpPr>
        <p:spPr>
          <a:xfrm>
            <a:off x="6405880" y="3375025"/>
            <a:ext cx="2128279"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FAF6F0"/>
                </a:solidFill>
                <a:latin typeface="Playfair Display" pitchFamily="34" charset="0"/>
                <a:ea typeface="Playfair Display" pitchFamily="34" charset="-122"/>
                <a:cs typeface="Playfair Display" pitchFamily="34" charset="-120"/>
              </a:rPr>
              <a:t>48h</a:t>
            </a:r>
            <a:endParaRPr lang="en-US" sz="3000" dirty="0"/>
          </a:p>
        </p:txBody>
      </p:sp>
      <p:sp>
        <p:nvSpPr>
          <p:cNvPr id="13" name="Text 11"/>
          <p:cNvSpPr/>
          <p:nvPr/>
        </p:nvSpPr>
        <p:spPr>
          <a:xfrm>
            <a:off x="6405880" y="3895725"/>
            <a:ext cx="2128279"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6E6E4"/>
                </a:solidFill>
                <a:latin typeface="Poppins" pitchFamily="34" charset="0"/>
                <a:ea typeface="Poppins" pitchFamily="34" charset="-122"/>
                <a:cs typeface="Poppins" pitchFamily="34" charset="-120"/>
              </a:rPr>
              <a:t>dispatch, in a rigid tube, tracked from order to fulfilment.</a:t>
            </a:r>
            <a:endParaRPr lang="en-US" sz="1250" dirty="0"/>
          </a:p>
        </p:txBody>
      </p:sp>
      <p:sp>
        <p:nvSpPr>
          <p:cNvPr id="14" name="Shape 12"/>
          <p:cNvSpPr/>
          <p:nvPr/>
        </p:nvSpPr>
        <p:spPr>
          <a:xfrm>
            <a:off x="8874125" y="3157220"/>
            <a:ext cx="2501900" cy="1845310"/>
          </a:xfrm>
          <a:prstGeom prst="roundRect">
            <a:avLst>
              <a:gd name="adj" fmla="val 5334"/>
            </a:avLst>
          </a:prstGeom>
          <a:solidFill>
            <a:srgbClr val="1A555C"/>
          </a:solidFill>
          <a:ln w="6350">
            <a:solidFill>
              <a:srgbClr val="2D6A70"/>
            </a:solidFill>
            <a:prstDash val="solid"/>
          </a:ln>
        </p:spPr>
        <p:txBody>
          <a:bodyPr/>
          <a:lstStyle/>
          <a:p>
            <a:endParaRPr lang="en-IN"/>
          </a:p>
        </p:txBody>
      </p:sp>
      <p:sp>
        <p:nvSpPr>
          <p:cNvPr id="15" name="Text 13"/>
          <p:cNvSpPr/>
          <p:nvPr/>
        </p:nvSpPr>
        <p:spPr>
          <a:xfrm>
            <a:off x="9091930" y="3375025"/>
            <a:ext cx="2128279"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FAF6F0"/>
                </a:solidFill>
                <a:latin typeface="Playfair Display" pitchFamily="34" charset="0"/>
                <a:ea typeface="Playfair Display" pitchFamily="34" charset="-122"/>
                <a:cs typeface="Playfair Display" pitchFamily="34" charset="-120"/>
              </a:rPr>
              <a:t>∞</a:t>
            </a:r>
            <a:endParaRPr lang="en-US" sz="3000" dirty="0"/>
          </a:p>
        </p:txBody>
      </p:sp>
      <p:sp>
        <p:nvSpPr>
          <p:cNvPr id="16" name="Text 14"/>
          <p:cNvSpPr/>
          <p:nvPr/>
        </p:nvSpPr>
        <p:spPr>
          <a:xfrm>
            <a:off x="9091930" y="3895725"/>
            <a:ext cx="2128279"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6E6E4"/>
                </a:solidFill>
                <a:latin typeface="Poppins" pitchFamily="34" charset="0"/>
                <a:ea typeface="Poppins" pitchFamily="34" charset="-122"/>
                <a:cs typeface="Poppins" pitchFamily="34" charset="-120"/>
              </a:rPr>
              <a:t>made to order — send a photo, a lyric or an inside joke, see a preview first.</a:t>
            </a:r>
            <a:endParaRPr lang="en-US" sz="1250" dirty="0"/>
          </a:p>
        </p:txBody>
      </p:sp>
      <p:pic>
        <p:nvPicPr>
          <p:cNvPr id="17" name="Image 0" descr="Postr logo"/>
          <p:cNvPicPr>
            <a:picLocks noChangeAspect="1"/>
          </p:cNvPicPr>
          <p:nvPr/>
        </p:nvPicPr>
        <p:blipFill>
          <a:blip r:embed="rId3"/>
          <a:srcRect/>
          <a:stretch/>
        </p:blipFill>
        <p:spPr>
          <a:xfrm>
            <a:off x="812800" y="6228080"/>
            <a:ext cx="165100" cy="215900"/>
          </a:xfrm>
          <a:prstGeom prst="rect">
            <a:avLst/>
          </a:prstGeom>
        </p:spPr>
      </p:pic>
      <p:sp>
        <p:nvSpPr>
          <p:cNvPr id="18" name="Text 15"/>
          <p:cNvSpPr/>
          <p:nvPr/>
        </p:nvSpPr>
        <p:spPr>
          <a:xfrm>
            <a:off x="1066800" y="6220461"/>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AF6F0"/>
                </a:solidFill>
                <a:latin typeface="Playfair Display" pitchFamily="34" charset="0"/>
                <a:ea typeface="Playfair Display" pitchFamily="34" charset="-122"/>
                <a:cs typeface="Playfair Display" pitchFamily="34" charset="-120"/>
              </a:rPr>
              <a:t>Postr.</a:t>
            </a:r>
            <a:endParaRPr lang="en-US" sz="1300" dirty="0"/>
          </a:p>
        </p:txBody>
      </p:sp>
      <p:sp>
        <p:nvSpPr>
          <p:cNvPr id="19" name="Text 16"/>
          <p:cNvSpPr/>
          <p:nvPr/>
        </p:nvSpPr>
        <p:spPr>
          <a:xfrm>
            <a:off x="8763000" y="6238241"/>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A8C3C2"/>
                </a:solidFill>
                <a:latin typeface="Poppins" pitchFamily="34" charset="0"/>
                <a:ea typeface="Poppins" pitchFamily="34" charset="-122"/>
                <a:cs typeface="Poppins" pitchFamily="34" charset="-120"/>
              </a:rPr>
              <a:t>03 / 25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323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E8A48F"/>
                </a:solidFill>
                <a:latin typeface="Poppins" pitchFamily="34" charset="0"/>
                <a:ea typeface="Poppins" pitchFamily="34" charset="-122"/>
                <a:cs typeface="Poppins" pitchFamily="34" charset="-120"/>
              </a:rPr>
              <a:t>THE CATALOGUE · VOLUME ONE</a:t>
            </a:r>
            <a:endParaRPr lang="en-US" sz="1200" dirty="0"/>
          </a:p>
        </p:txBody>
      </p:sp>
      <p:sp>
        <p:nvSpPr>
          <p:cNvPr id="3" name="Text 1"/>
          <p:cNvSpPr/>
          <p:nvPr/>
        </p:nvSpPr>
        <p:spPr>
          <a:xfrm>
            <a:off x="812800" y="12420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FAF6F0"/>
                </a:solidFill>
                <a:latin typeface="Playfair Display" pitchFamily="34" charset="0"/>
                <a:ea typeface="Playfair Display" pitchFamily="34" charset="-122"/>
                <a:cs typeface="Playfair Display" pitchFamily="34" charset="-120"/>
              </a:rPr>
              <a:t>Five collections, one wall</a:t>
            </a:r>
            <a:endParaRPr lang="en-US" sz="3600" dirty="0"/>
          </a:p>
        </p:txBody>
      </p:sp>
      <p:pic>
        <p:nvPicPr>
          <p:cNvPr id="4" name="Image 0" descr="Six Postr poster designs in a row: Stay Insane, Eternal Sunshine, Senna, World's Best Boss, Kahaani Ke Andar and Hangtime"/>
          <p:cNvPicPr>
            <a:picLocks noChangeAspect="1"/>
          </p:cNvPicPr>
          <p:nvPr/>
        </p:nvPicPr>
        <p:blipFill>
          <a:blip r:embed="rId3"/>
          <a:srcRect l="-38" r="-38"/>
          <a:stretch/>
        </p:blipFill>
        <p:spPr>
          <a:xfrm>
            <a:off x="812800" y="1960880"/>
            <a:ext cx="10566400" cy="2343150"/>
          </a:xfrm>
          <a:prstGeom prst="rect">
            <a:avLst/>
          </a:prstGeom>
        </p:spPr>
      </p:pic>
      <p:sp>
        <p:nvSpPr>
          <p:cNvPr id="5" name="Text 2"/>
          <p:cNvSpPr/>
          <p:nvPr/>
        </p:nvSpPr>
        <p:spPr>
          <a:xfrm>
            <a:off x="812800" y="4519930"/>
            <a:ext cx="205110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8A48F"/>
                </a:solidFill>
                <a:latin typeface="Playfair Display" pitchFamily="34" charset="0"/>
                <a:ea typeface="Playfair Display" pitchFamily="34" charset="-122"/>
                <a:cs typeface="Playfair Display" pitchFamily="34" charset="-120"/>
              </a:rPr>
              <a:t>19</a:t>
            </a:r>
            <a:endParaRPr lang="en-US" sz="2200" dirty="0"/>
          </a:p>
        </p:txBody>
      </p:sp>
      <p:sp>
        <p:nvSpPr>
          <p:cNvPr id="6" name="Text 3"/>
          <p:cNvSpPr/>
          <p:nvPr/>
        </p:nvSpPr>
        <p:spPr>
          <a:xfrm>
            <a:off x="812800" y="4893311"/>
            <a:ext cx="2051101"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6E6E4"/>
                </a:solidFill>
                <a:latin typeface="Poppins" pitchFamily="34" charset="0"/>
                <a:ea typeface="Poppins" pitchFamily="34" charset="-122"/>
                <a:cs typeface="Poppins" pitchFamily="34" charset="-120"/>
              </a:rPr>
              <a:t>Cinema That Stays With You</a:t>
            </a:r>
            <a:endParaRPr lang="en-US" sz="1200" dirty="0"/>
          </a:p>
        </p:txBody>
      </p:sp>
      <p:sp>
        <p:nvSpPr>
          <p:cNvPr id="7" name="Text 4"/>
          <p:cNvSpPr/>
          <p:nvPr/>
        </p:nvSpPr>
        <p:spPr>
          <a:xfrm>
            <a:off x="2956560" y="4519930"/>
            <a:ext cx="205110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8A48F"/>
                </a:solidFill>
                <a:latin typeface="Playfair Display" pitchFamily="34" charset="0"/>
                <a:ea typeface="Playfair Display" pitchFamily="34" charset="-122"/>
                <a:cs typeface="Playfair Display" pitchFamily="34" charset="-120"/>
              </a:rPr>
              <a:t>10</a:t>
            </a:r>
            <a:endParaRPr lang="en-US" sz="2200" dirty="0"/>
          </a:p>
        </p:txBody>
      </p:sp>
      <p:sp>
        <p:nvSpPr>
          <p:cNvPr id="8" name="Text 5"/>
          <p:cNvSpPr/>
          <p:nvPr/>
        </p:nvSpPr>
        <p:spPr>
          <a:xfrm>
            <a:off x="2956560" y="4893311"/>
            <a:ext cx="2051101"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6E6E4"/>
                </a:solidFill>
                <a:latin typeface="Poppins" pitchFamily="34" charset="0"/>
                <a:ea typeface="Poppins" pitchFamily="34" charset="-122"/>
                <a:cs typeface="Poppins" pitchFamily="34" charset="-120"/>
              </a:rPr>
              <a:t>Desi Dil</a:t>
            </a:r>
            <a:endParaRPr lang="en-US" sz="1200" dirty="0"/>
          </a:p>
        </p:txBody>
      </p:sp>
      <p:sp>
        <p:nvSpPr>
          <p:cNvPr id="9" name="Text 6"/>
          <p:cNvSpPr/>
          <p:nvPr/>
        </p:nvSpPr>
        <p:spPr>
          <a:xfrm>
            <a:off x="5100320" y="4519930"/>
            <a:ext cx="205110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8A48F"/>
                </a:solidFill>
                <a:latin typeface="Playfair Display" pitchFamily="34" charset="0"/>
                <a:ea typeface="Playfair Display" pitchFamily="34" charset="-122"/>
                <a:cs typeface="Playfair Display" pitchFamily="34" charset="-120"/>
              </a:rPr>
              <a:t>13</a:t>
            </a:r>
            <a:endParaRPr lang="en-US" sz="2200" dirty="0"/>
          </a:p>
        </p:txBody>
      </p:sp>
      <p:sp>
        <p:nvSpPr>
          <p:cNvPr id="10" name="Text 7"/>
          <p:cNvSpPr/>
          <p:nvPr/>
        </p:nvSpPr>
        <p:spPr>
          <a:xfrm>
            <a:off x="5100320" y="4893311"/>
            <a:ext cx="2051101"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6E6E4"/>
                </a:solidFill>
                <a:latin typeface="Poppins" pitchFamily="34" charset="0"/>
                <a:ea typeface="Poppins" pitchFamily="34" charset="-122"/>
                <a:cs typeface="Poppins" pitchFamily="34" charset="-120"/>
              </a:rPr>
              <a:t>Legends Of The Game</a:t>
            </a:r>
            <a:endParaRPr lang="en-US" sz="1200" dirty="0"/>
          </a:p>
        </p:txBody>
      </p:sp>
      <p:sp>
        <p:nvSpPr>
          <p:cNvPr id="11" name="Text 8"/>
          <p:cNvSpPr/>
          <p:nvPr/>
        </p:nvSpPr>
        <p:spPr>
          <a:xfrm>
            <a:off x="7244080" y="4519930"/>
            <a:ext cx="205110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8A48F"/>
                </a:solidFill>
                <a:latin typeface="Playfair Display" pitchFamily="34" charset="0"/>
                <a:ea typeface="Playfair Display" pitchFamily="34" charset="-122"/>
                <a:cs typeface="Playfair Display" pitchFamily="34" charset="-120"/>
              </a:rPr>
              <a:t>6</a:t>
            </a:r>
            <a:endParaRPr lang="en-US" sz="2200" dirty="0"/>
          </a:p>
        </p:txBody>
      </p:sp>
      <p:sp>
        <p:nvSpPr>
          <p:cNvPr id="12" name="Text 9"/>
          <p:cNvSpPr/>
          <p:nvPr/>
        </p:nvSpPr>
        <p:spPr>
          <a:xfrm>
            <a:off x="7244080" y="4893311"/>
            <a:ext cx="2051101"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6E6E4"/>
                </a:solidFill>
                <a:latin typeface="Poppins" pitchFamily="34" charset="0"/>
                <a:ea typeface="Poppins" pitchFamily="34" charset="-122"/>
                <a:cs typeface="Poppins" pitchFamily="34" charset="-120"/>
              </a:rPr>
              <a:t>Grit &amp; Glory</a:t>
            </a:r>
            <a:endParaRPr lang="en-US" sz="1200" dirty="0"/>
          </a:p>
        </p:txBody>
      </p:sp>
      <p:sp>
        <p:nvSpPr>
          <p:cNvPr id="13" name="Text 10"/>
          <p:cNvSpPr/>
          <p:nvPr/>
        </p:nvSpPr>
        <p:spPr>
          <a:xfrm>
            <a:off x="9387840" y="4519930"/>
            <a:ext cx="205110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8A48F"/>
                </a:solidFill>
                <a:latin typeface="Playfair Display" pitchFamily="34" charset="0"/>
                <a:ea typeface="Playfair Display" pitchFamily="34" charset="-122"/>
                <a:cs typeface="Playfair Display" pitchFamily="34" charset="-120"/>
              </a:rPr>
              <a:t>4</a:t>
            </a:r>
            <a:endParaRPr lang="en-US" sz="2200" dirty="0"/>
          </a:p>
        </p:txBody>
      </p:sp>
      <p:sp>
        <p:nvSpPr>
          <p:cNvPr id="14" name="Text 11"/>
          <p:cNvSpPr/>
          <p:nvPr/>
        </p:nvSpPr>
        <p:spPr>
          <a:xfrm>
            <a:off x="9387840" y="4893311"/>
            <a:ext cx="2051101"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6E6E4"/>
                </a:solidFill>
                <a:latin typeface="Poppins" pitchFamily="34" charset="0"/>
                <a:ea typeface="Poppins" pitchFamily="34" charset="-122"/>
                <a:cs typeface="Poppins" pitchFamily="34" charset="-120"/>
              </a:rPr>
              <a:t>Comfort Watch</a:t>
            </a:r>
            <a:endParaRPr lang="en-US" sz="1200" dirty="0"/>
          </a:p>
        </p:txBody>
      </p:sp>
      <p:pic>
        <p:nvPicPr>
          <p:cNvPr id="15" name="Image 1" descr="Postr logo"/>
          <p:cNvPicPr>
            <a:picLocks noChangeAspect="1"/>
          </p:cNvPicPr>
          <p:nvPr/>
        </p:nvPicPr>
        <p:blipFill>
          <a:blip r:embed="rId4"/>
          <a:srcRect/>
          <a:stretch/>
        </p:blipFill>
        <p:spPr>
          <a:xfrm>
            <a:off x="812800" y="6228082"/>
            <a:ext cx="165100" cy="215900"/>
          </a:xfrm>
          <a:prstGeom prst="rect">
            <a:avLst/>
          </a:prstGeom>
        </p:spPr>
      </p:pic>
      <p:sp>
        <p:nvSpPr>
          <p:cNvPr id="16" name="Text 12"/>
          <p:cNvSpPr/>
          <p:nvPr/>
        </p:nvSpPr>
        <p:spPr>
          <a:xfrm>
            <a:off x="1066800" y="6220461"/>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AF6F0"/>
                </a:solidFill>
                <a:latin typeface="Playfair Display" pitchFamily="34" charset="0"/>
                <a:ea typeface="Playfair Display" pitchFamily="34" charset="-122"/>
                <a:cs typeface="Playfair Display" pitchFamily="34" charset="-120"/>
              </a:rPr>
              <a:t>Postr.</a:t>
            </a:r>
            <a:endParaRPr lang="en-US" sz="1300" dirty="0"/>
          </a:p>
        </p:txBody>
      </p:sp>
      <p:sp>
        <p:nvSpPr>
          <p:cNvPr id="17" name="Text 13"/>
          <p:cNvSpPr/>
          <p:nvPr/>
        </p:nvSpPr>
        <p:spPr>
          <a:xfrm>
            <a:off x="8763000" y="6238239"/>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A8C3C2"/>
                </a:solidFill>
                <a:latin typeface="Poppins" pitchFamily="34" charset="0"/>
                <a:ea typeface="Poppins" pitchFamily="34" charset="-122"/>
                <a:cs typeface="Poppins" pitchFamily="34" charset="-120"/>
              </a:rPr>
              <a:t>04 / 25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B14F36"/>
                </a:solidFill>
                <a:latin typeface="Poppins" pitchFamily="34" charset="0"/>
                <a:ea typeface="Poppins" pitchFamily="34" charset="-122"/>
                <a:cs typeface="Poppins" pitchFamily="34" charset="-120"/>
              </a:rPr>
              <a:t>THE MODEL</a:t>
            </a:r>
            <a:endParaRPr lang="en-US" sz="1200" dirty="0"/>
          </a:p>
        </p:txBody>
      </p:sp>
      <p:sp>
        <p:nvSpPr>
          <p:cNvPr id="3" name="Text 1"/>
          <p:cNvSpPr/>
          <p:nvPr/>
        </p:nvSpPr>
        <p:spPr>
          <a:xfrm>
            <a:off x="812800" y="1254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2454B"/>
                </a:solidFill>
                <a:latin typeface="Playfair Display" pitchFamily="34" charset="0"/>
                <a:ea typeface="Playfair Display" pitchFamily="34" charset="-122"/>
                <a:cs typeface="Playfair Display" pitchFamily="34" charset="-120"/>
              </a:rPr>
              <a:t>Direct to customer, three price points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2559519147"/>
              </p:ext>
            </p:extLst>
          </p:nvPr>
        </p:nvGraphicFramePr>
        <p:xfrm>
          <a:off x="812800" y="1986282"/>
          <a:ext cx="10566400" cy="1884680"/>
        </p:xfrm>
        <a:graphic>
          <a:graphicData uri="http://schemas.openxmlformats.org/drawingml/2006/table">
            <a:tbl>
              <a:tblPr/>
              <a:tblGrid>
                <a:gridCol w="1373632">
                  <a:extLst>
                    <a:ext uri="{9D8B030D-6E8A-4147-A177-3AD203B41FA5}">
                      <a16:colId xmlns:a16="http://schemas.microsoft.com/office/drawing/2014/main" val="20000"/>
                    </a:ext>
                  </a:extLst>
                </a:gridCol>
                <a:gridCol w="2113280">
                  <a:extLst>
                    <a:ext uri="{9D8B030D-6E8A-4147-A177-3AD203B41FA5}">
                      <a16:colId xmlns:a16="http://schemas.microsoft.com/office/drawing/2014/main" val="20001"/>
                    </a:ext>
                  </a:extLst>
                </a:gridCol>
                <a:gridCol w="1373632">
                  <a:extLst>
                    <a:ext uri="{9D8B030D-6E8A-4147-A177-3AD203B41FA5}">
                      <a16:colId xmlns:a16="http://schemas.microsoft.com/office/drawing/2014/main" val="20002"/>
                    </a:ext>
                  </a:extLst>
                </a:gridCol>
                <a:gridCol w="1796288">
                  <a:extLst>
                    <a:ext uri="{9D8B030D-6E8A-4147-A177-3AD203B41FA5}">
                      <a16:colId xmlns:a16="http://schemas.microsoft.com/office/drawing/2014/main" val="20003"/>
                    </a:ext>
                  </a:extLst>
                </a:gridCol>
                <a:gridCol w="3909568">
                  <a:extLst>
                    <a:ext uri="{9D8B030D-6E8A-4147-A177-3AD203B41FA5}">
                      <a16:colId xmlns:a16="http://schemas.microsoft.com/office/drawing/2014/main" val="20004"/>
                    </a:ext>
                  </a:extLst>
                </a:gridCol>
              </a:tblGrid>
              <a:tr h="471170">
                <a:tc>
                  <a:txBody>
                    <a:bodyPr/>
                    <a:lstStyle/>
                    <a:p>
                      <a:pPr marL="0" indent="0">
                        <a:lnSpc>
                          <a:spcPts val="2030"/>
                        </a:lnSpc>
                        <a:buNone/>
                      </a:pPr>
                      <a:r>
                        <a:rPr lang="en-US" sz="1450" b="1" dirty="0">
                          <a:solidFill>
                            <a:srgbClr val="FAF6F0"/>
                          </a:solidFill>
                          <a:latin typeface="Poppins" pitchFamily="34" charset="0"/>
                          <a:ea typeface="Poppins" pitchFamily="34" charset="-122"/>
                          <a:cs typeface="Poppins" pitchFamily="34" charset="-120"/>
                        </a:rPr>
                        <a:t>Size</a:t>
                      </a:r>
                      <a:endParaRPr lang="en-US" sz="1450" dirty="0">
                        <a:latin typeface="Poppins" charset="0"/>
                        <a:ea typeface="Poppins" charset="0"/>
                        <a:cs typeface="Poppins" charset="0"/>
                      </a:endParaRPr>
                    </a:p>
                  </a:txBody>
                  <a:tcPr marL="139700" marR="1397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12454B"/>
                    </a:solidFill>
                  </a:tcPr>
                </a:tc>
                <a:tc>
                  <a:txBody>
                    <a:bodyPr/>
                    <a:lstStyle/>
                    <a:p>
                      <a:pPr marL="0" indent="0">
                        <a:lnSpc>
                          <a:spcPts val="2030"/>
                        </a:lnSpc>
                        <a:buNone/>
                      </a:pPr>
                      <a:r>
                        <a:rPr lang="en-US" sz="1450" b="1" dirty="0">
                          <a:solidFill>
                            <a:srgbClr val="FAF6F0"/>
                          </a:solidFill>
                          <a:latin typeface="Poppins" pitchFamily="34" charset="0"/>
                          <a:ea typeface="Poppins" pitchFamily="34" charset="-122"/>
                          <a:cs typeface="Poppins" pitchFamily="34" charset="-120"/>
                        </a:rPr>
                        <a:t>Dimensions</a:t>
                      </a:r>
                      <a:endParaRPr lang="en-US" sz="1450" dirty="0">
                        <a:latin typeface="Poppins" charset="0"/>
                        <a:ea typeface="Poppins" charset="0"/>
                        <a:cs typeface="Poppins" charset="0"/>
                      </a:endParaRPr>
                    </a:p>
                  </a:txBody>
                  <a:tcPr marL="139700" marR="1397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12454B"/>
                    </a:solidFill>
                  </a:tcPr>
                </a:tc>
                <a:tc>
                  <a:txBody>
                    <a:bodyPr/>
                    <a:lstStyle/>
                    <a:p>
                      <a:pPr marL="0" indent="0">
                        <a:lnSpc>
                          <a:spcPts val="2030"/>
                        </a:lnSpc>
                        <a:buNone/>
                      </a:pPr>
                      <a:r>
                        <a:rPr lang="en-US" sz="1450" b="1" dirty="0">
                          <a:solidFill>
                            <a:srgbClr val="FAF6F0"/>
                          </a:solidFill>
                          <a:latin typeface="Poppins" pitchFamily="34" charset="0"/>
                          <a:ea typeface="Poppins" pitchFamily="34" charset="-122"/>
                          <a:cs typeface="Poppins" pitchFamily="34" charset="-120"/>
                        </a:rPr>
                        <a:t>Price</a:t>
                      </a:r>
                      <a:endParaRPr lang="en-US" sz="1450" dirty="0">
                        <a:latin typeface="Poppins" charset="0"/>
                        <a:ea typeface="Poppins" charset="0"/>
                        <a:cs typeface="Poppins" charset="0"/>
                      </a:endParaRPr>
                    </a:p>
                  </a:txBody>
                  <a:tcPr marL="139700" marR="1397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12454B"/>
                    </a:solidFill>
                  </a:tcPr>
                </a:tc>
                <a:tc>
                  <a:txBody>
                    <a:bodyPr/>
                    <a:lstStyle/>
                    <a:p>
                      <a:pPr marL="0" indent="0">
                        <a:lnSpc>
                          <a:spcPts val="2030"/>
                        </a:lnSpc>
                        <a:buNone/>
                      </a:pPr>
                      <a:r>
                        <a:rPr lang="en-US" sz="1450" b="1" dirty="0">
                          <a:solidFill>
                            <a:schemeClr val="bg1"/>
                          </a:solidFill>
                          <a:latin typeface="Poppins" charset="0"/>
                          <a:ea typeface="Poppins" charset="0"/>
                          <a:cs typeface="Poppins" charset="0"/>
                        </a:rPr>
                        <a:t>Margin</a:t>
                      </a:r>
                    </a:p>
                  </a:txBody>
                  <a:tcPr marL="139700" marR="1397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12454B"/>
                    </a:solidFill>
                  </a:tcPr>
                </a:tc>
                <a:tc>
                  <a:txBody>
                    <a:bodyPr/>
                    <a:lstStyle/>
                    <a:p>
                      <a:pPr marL="0" indent="0">
                        <a:lnSpc>
                          <a:spcPts val="2030"/>
                        </a:lnSpc>
                        <a:buNone/>
                      </a:pPr>
                      <a:r>
                        <a:rPr lang="en-US" sz="1450" b="1" dirty="0">
                          <a:solidFill>
                            <a:srgbClr val="FAF6F0"/>
                          </a:solidFill>
                          <a:latin typeface="Poppins" pitchFamily="34" charset="0"/>
                          <a:ea typeface="Poppins" pitchFamily="34" charset="-122"/>
                          <a:cs typeface="Poppins" pitchFamily="34" charset="-120"/>
                        </a:rPr>
                        <a:t>Best for</a:t>
                      </a:r>
                      <a:endParaRPr lang="en-US" sz="1450" dirty="0">
                        <a:latin typeface="Poppins" charset="0"/>
                        <a:ea typeface="Poppins" charset="0"/>
                        <a:cs typeface="Poppins" charset="0"/>
                      </a:endParaRPr>
                    </a:p>
                  </a:txBody>
                  <a:tcPr marL="139700" marR="1397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12454B"/>
                    </a:solidFill>
                  </a:tcPr>
                </a:tc>
                <a:extLst>
                  <a:ext uri="{0D108BD9-81ED-4DB2-BD59-A6C34878D82A}">
                    <a16:rowId xmlns:a16="http://schemas.microsoft.com/office/drawing/2014/main" val="10000"/>
                  </a:ext>
                </a:extLst>
              </a:tr>
              <a:tr h="471170">
                <a:tc>
                  <a:txBody>
                    <a:bodyPr/>
                    <a:lstStyle/>
                    <a:p>
                      <a:pPr marL="0" indent="0">
                        <a:lnSpc>
                          <a:spcPts val="2030"/>
                        </a:lnSpc>
                        <a:buNone/>
                      </a:pPr>
                      <a:r>
                        <a:rPr lang="en-US" sz="1450" dirty="0">
                          <a:solidFill>
                            <a:srgbClr val="4A5A5C"/>
                          </a:solidFill>
                          <a:latin typeface="Poppins" pitchFamily="34" charset="0"/>
                          <a:ea typeface="Poppins" pitchFamily="34" charset="-122"/>
                          <a:cs typeface="Poppins" pitchFamily="34" charset="-120"/>
                        </a:rPr>
                        <a:t>A4</a:t>
                      </a:r>
                      <a:endParaRPr lang="en-US" sz="1450" dirty="0">
                        <a:latin typeface="Poppins" charset="0"/>
                        <a:ea typeface="Poppins" charset="0"/>
                        <a:cs typeface="Poppins" charset="0"/>
                      </a:endParaRPr>
                    </a:p>
                  </a:txBody>
                  <a:tcPr marL="139700" marR="1397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tc>
                  <a:txBody>
                    <a:bodyPr/>
                    <a:lstStyle/>
                    <a:p>
                      <a:pPr marL="0" indent="0">
                        <a:lnSpc>
                          <a:spcPts val="2030"/>
                        </a:lnSpc>
                        <a:buNone/>
                      </a:pPr>
                      <a:r>
                        <a:rPr lang="en-US" sz="1450" dirty="0">
                          <a:solidFill>
                            <a:srgbClr val="4A5A5C"/>
                          </a:solidFill>
                          <a:latin typeface="Poppins" pitchFamily="34" charset="0"/>
                          <a:ea typeface="Poppins" pitchFamily="34" charset="-122"/>
                          <a:cs typeface="Poppins" pitchFamily="34" charset="-120"/>
                        </a:rPr>
                        <a:t>8.3 × 11.7 in</a:t>
                      </a:r>
                      <a:endParaRPr lang="en-US" sz="1450" dirty="0">
                        <a:latin typeface="Poppins" charset="0"/>
                        <a:ea typeface="Poppins" charset="0"/>
                        <a:cs typeface="Poppins" charset="0"/>
                      </a:endParaRPr>
                    </a:p>
                  </a:txBody>
                  <a:tcPr marL="139700" marR="1397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tc>
                  <a:txBody>
                    <a:bodyPr/>
                    <a:lstStyle/>
                    <a:p>
                      <a:pPr marL="0" indent="0">
                        <a:lnSpc>
                          <a:spcPts val="2030"/>
                        </a:lnSpc>
                        <a:buNone/>
                      </a:pPr>
                      <a:r>
                        <a:rPr lang="en-US" sz="1450" dirty="0">
                          <a:solidFill>
                            <a:srgbClr val="4A5A5C"/>
                          </a:solidFill>
                          <a:latin typeface="Poppins" pitchFamily="34" charset="0"/>
                          <a:ea typeface="Poppins" pitchFamily="34" charset="-122"/>
                          <a:cs typeface="Poppins" pitchFamily="34" charset="-120"/>
                        </a:rPr>
                        <a:t>₹90</a:t>
                      </a:r>
                      <a:endParaRPr lang="en-US" sz="1450" dirty="0">
                        <a:latin typeface="Poppins" charset="0"/>
                        <a:ea typeface="Poppins" charset="0"/>
                        <a:cs typeface="Poppins" charset="0"/>
                      </a:endParaRPr>
                    </a:p>
                  </a:txBody>
                  <a:tcPr marL="139700" marR="1397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tc>
                  <a:txBody>
                    <a:bodyPr/>
                    <a:lstStyle/>
                    <a:p>
                      <a:pPr marL="0" indent="0">
                        <a:lnSpc>
                          <a:spcPts val="2030"/>
                        </a:lnSpc>
                        <a:buNone/>
                      </a:pPr>
                      <a:r>
                        <a:rPr lang="en-US" sz="1450" dirty="0">
                          <a:solidFill>
                            <a:srgbClr val="4A5A5C"/>
                          </a:solidFill>
                          <a:latin typeface="Poppins" pitchFamily="34" charset="0"/>
                          <a:ea typeface="Poppins" charset="0"/>
                          <a:cs typeface="Poppins" pitchFamily="34" charset="-120"/>
                        </a:rPr>
                        <a:t>44%</a:t>
                      </a:r>
                      <a:endParaRPr lang="en-US" sz="1450" dirty="0">
                        <a:latin typeface="Poppins" charset="0"/>
                        <a:ea typeface="Poppins" charset="0"/>
                        <a:cs typeface="Poppins" charset="0"/>
                      </a:endParaRPr>
                    </a:p>
                  </a:txBody>
                  <a:tcPr marL="139700" marR="1397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tc>
                  <a:txBody>
                    <a:bodyPr/>
                    <a:lstStyle/>
                    <a:p>
                      <a:pPr marL="0" indent="0">
                        <a:lnSpc>
                          <a:spcPts val="2030"/>
                        </a:lnSpc>
                        <a:buNone/>
                      </a:pPr>
                      <a:r>
                        <a:rPr lang="en-US" sz="1450" dirty="0">
                          <a:solidFill>
                            <a:srgbClr val="4A5A5C"/>
                          </a:solidFill>
                          <a:latin typeface="Poppins" pitchFamily="34" charset="0"/>
                          <a:ea typeface="Poppins" pitchFamily="34" charset="-122"/>
                          <a:cs typeface="Poppins" pitchFamily="34" charset="-120"/>
                        </a:rPr>
                        <a:t>Desks and collage grids</a:t>
                      </a:r>
                      <a:endParaRPr lang="en-US" sz="1450" dirty="0">
                        <a:latin typeface="Poppins" charset="0"/>
                        <a:ea typeface="Poppins" charset="0"/>
                        <a:cs typeface="Poppins" charset="0"/>
                      </a:endParaRPr>
                    </a:p>
                  </a:txBody>
                  <a:tcPr marL="139700" marR="1397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extLst>
                  <a:ext uri="{0D108BD9-81ED-4DB2-BD59-A6C34878D82A}">
                    <a16:rowId xmlns:a16="http://schemas.microsoft.com/office/drawing/2014/main" val="10001"/>
                  </a:ext>
                </a:extLst>
              </a:tr>
              <a:tr h="471170">
                <a:tc>
                  <a:txBody>
                    <a:bodyPr/>
                    <a:lstStyle/>
                    <a:p>
                      <a:pPr marL="0" indent="0">
                        <a:lnSpc>
                          <a:spcPts val="2030"/>
                        </a:lnSpc>
                        <a:buNone/>
                      </a:pPr>
                      <a:r>
                        <a:rPr lang="en-US" sz="1450" dirty="0">
                          <a:solidFill>
                            <a:srgbClr val="4A5A5C"/>
                          </a:solidFill>
                          <a:latin typeface="Poppins" pitchFamily="34" charset="0"/>
                          <a:ea typeface="Poppins" pitchFamily="34" charset="-122"/>
                          <a:cs typeface="Poppins" pitchFamily="34" charset="-120"/>
                        </a:rPr>
                        <a:t>A3</a:t>
                      </a:r>
                      <a:endParaRPr lang="en-US" sz="1450" dirty="0">
                        <a:latin typeface="Poppins" charset="0"/>
                        <a:ea typeface="Poppins" charset="0"/>
                        <a:cs typeface="Poppins" charset="0"/>
                      </a:endParaRPr>
                    </a:p>
                  </a:txBody>
                  <a:tcPr marL="139700" marR="1397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F1EAE0"/>
                    </a:solidFill>
                  </a:tcPr>
                </a:tc>
                <a:tc>
                  <a:txBody>
                    <a:bodyPr/>
                    <a:lstStyle/>
                    <a:p>
                      <a:pPr marL="0" indent="0">
                        <a:lnSpc>
                          <a:spcPts val="2030"/>
                        </a:lnSpc>
                        <a:buNone/>
                      </a:pPr>
                      <a:r>
                        <a:rPr lang="en-US" sz="1450" dirty="0">
                          <a:solidFill>
                            <a:srgbClr val="4A5A5C"/>
                          </a:solidFill>
                          <a:latin typeface="Poppins" pitchFamily="34" charset="0"/>
                          <a:ea typeface="Poppins" pitchFamily="34" charset="-122"/>
                          <a:cs typeface="Poppins" pitchFamily="34" charset="-120"/>
                        </a:rPr>
                        <a:t>11.7 × 16.5 in</a:t>
                      </a:r>
                      <a:endParaRPr lang="en-US" sz="1450" dirty="0">
                        <a:latin typeface="Poppins" charset="0"/>
                        <a:ea typeface="Poppins" charset="0"/>
                        <a:cs typeface="Poppins" charset="0"/>
                      </a:endParaRPr>
                    </a:p>
                  </a:txBody>
                  <a:tcPr marL="139700" marR="1397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F1EAE0"/>
                    </a:solidFill>
                  </a:tcPr>
                </a:tc>
                <a:tc>
                  <a:txBody>
                    <a:bodyPr/>
                    <a:lstStyle/>
                    <a:p>
                      <a:pPr marL="0" indent="0">
                        <a:lnSpc>
                          <a:spcPts val="2030"/>
                        </a:lnSpc>
                        <a:buNone/>
                      </a:pPr>
                      <a:r>
                        <a:rPr lang="en-US" sz="1450" dirty="0">
                          <a:solidFill>
                            <a:srgbClr val="4A5A5C"/>
                          </a:solidFill>
                          <a:latin typeface="Poppins" pitchFamily="34" charset="0"/>
                          <a:ea typeface="Poppins" pitchFamily="34" charset="-122"/>
                          <a:cs typeface="Poppins" pitchFamily="34" charset="-120"/>
                        </a:rPr>
                        <a:t>₹120</a:t>
                      </a:r>
                      <a:endParaRPr lang="en-US" sz="1450" dirty="0">
                        <a:latin typeface="Poppins" charset="0"/>
                        <a:ea typeface="Poppins" charset="0"/>
                        <a:cs typeface="Poppins" charset="0"/>
                      </a:endParaRPr>
                    </a:p>
                  </a:txBody>
                  <a:tcPr marL="139700" marR="1397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F1EAE0"/>
                    </a:solidFill>
                  </a:tcPr>
                </a:tc>
                <a:tc>
                  <a:txBody>
                    <a:bodyPr/>
                    <a:lstStyle/>
                    <a:p>
                      <a:pPr marL="0" indent="0">
                        <a:lnSpc>
                          <a:spcPts val="2030"/>
                        </a:lnSpc>
                        <a:buNone/>
                      </a:pPr>
                      <a:r>
                        <a:rPr lang="en-US" sz="1450" dirty="0">
                          <a:solidFill>
                            <a:srgbClr val="4A5A5C"/>
                          </a:solidFill>
                          <a:latin typeface="Poppins" pitchFamily="34" charset="0"/>
                          <a:ea typeface="Poppins" charset="0"/>
                          <a:cs typeface="Poppins" pitchFamily="34" charset="-120"/>
                        </a:rPr>
                        <a:t>37%</a:t>
                      </a:r>
                      <a:endParaRPr lang="en-US" sz="1450" dirty="0">
                        <a:latin typeface="Poppins" charset="0"/>
                        <a:ea typeface="Poppins" charset="0"/>
                        <a:cs typeface="Poppins" charset="0"/>
                      </a:endParaRPr>
                    </a:p>
                  </a:txBody>
                  <a:tcPr marL="139700" marR="1397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F1EAE0"/>
                    </a:solidFill>
                  </a:tcPr>
                </a:tc>
                <a:tc>
                  <a:txBody>
                    <a:bodyPr/>
                    <a:lstStyle/>
                    <a:p>
                      <a:pPr marL="0" indent="0">
                        <a:lnSpc>
                          <a:spcPts val="2030"/>
                        </a:lnSpc>
                        <a:buNone/>
                      </a:pPr>
                      <a:r>
                        <a:rPr lang="en-US" sz="1450" dirty="0">
                          <a:solidFill>
                            <a:srgbClr val="4A5A5C"/>
                          </a:solidFill>
                          <a:latin typeface="Poppins" pitchFamily="34" charset="0"/>
                          <a:ea typeface="Poppins" pitchFamily="34" charset="-122"/>
                          <a:cs typeface="Poppins" pitchFamily="34" charset="-120"/>
                        </a:rPr>
                        <a:t>The everyday hero size</a:t>
                      </a:r>
                      <a:endParaRPr lang="en-US" sz="1450" dirty="0">
                        <a:latin typeface="Poppins" charset="0"/>
                        <a:ea typeface="Poppins" charset="0"/>
                        <a:cs typeface="Poppins" charset="0"/>
                      </a:endParaRPr>
                    </a:p>
                  </a:txBody>
                  <a:tcPr marL="139700" marR="1397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F1EAE0"/>
                    </a:solidFill>
                  </a:tcPr>
                </a:tc>
                <a:extLst>
                  <a:ext uri="{0D108BD9-81ED-4DB2-BD59-A6C34878D82A}">
                    <a16:rowId xmlns:a16="http://schemas.microsoft.com/office/drawing/2014/main" val="10002"/>
                  </a:ext>
                </a:extLst>
              </a:tr>
              <a:tr h="471170">
                <a:tc>
                  <a:txBody>
                    <a:bodyPr/>
                    <a:lstStyle/>
                    <a:p>
                      <a:pPr marL="0" indent="0">
                        <a:lnSpc>
                          <a:spcPts val="2030"/>
                        </a:lnSpc>
                        <a:buNone/>
                      </a:pPr>
                      <a:r>
                        <a:rPr lang="en-US" sz="1450" dirty="0">
                          <a:solidFill>
                            <a:srgbClr val="4A5A5C"/>
                          </a:solidFill>
                          <a:latin typeface="Poppins" pitchFamily="34" charset="0"/>
                          <a:ea typeface="Poppins" pitchFamily="34" charset="-122"/>
                          <a:cs typeface="Poppins" pitchFamily="34" charset="-120"/>
                        </a:rPr>
                        <a:t>13 × 19</a:t>
                      </a:r>
                      <a:endParaRPr lang="en-US" sz="1450" dirty="0">
                        <a:latin typeface="Poppins" charset="0"/>
                        <a:ea typeface="Poppins" charset="0"/>
                        <a:cs typeface="Poppins" charset="0"/>
                      </a:endParaRPr>
                    </a:p>
                  </a:txBody>
                  <a:tcPr marL="139700" marR="1397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tc>
                  <a:txBody>
                    <a:bodyPr/>
                    <a:lstStyle/>
                    <a:p>
                      <a:pPr marL="0" indent="0">
                        <a:lnSpc>
                          <a:spcPts val="2030"/>
                        </a:lnSpc>
                        <a:buNone/>
                      </a:pPr>
                      <a:r>
                        <a:rPr lang="en-US" sz="1450" dirty="0">
                          <a:solidFill>
                            <a:srgbClr val="4A5A5C"/>
                          </a:solidFill>
                          <a:latin typeface="Poppins" pitchFamily="34" charset="0"/>
                          <a:ea typeface="Poppins" pitchFamily="34" charset="-122"/>
                          <a:cs typeface="Poppins" pitchFamily="34" charset="-120"/>
                        </a:rPr>
                        <a:t>13 × 19 in</a:t>
                      </a:r>
                      <a:endParaRPr lang="en-US" sz="1450" dirty="0">
                        <a:latin typeface="Poppins" charset="0"/>
                        <a:ea typeface="Poppins" charset="0"/>
                        <a:cs typeface="Poppins" charset="0"/>
                      </a:endParaRPr>
                    </a:p>
                  </a:txBody>
                  <a:tcPr marL="139700" marR="1397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tc>
                  <a:txBody>
                    <a:bodyPr/>
                    <a:lstStyle/>
                    <a:p>
                      <a:pPr marL="0" indent="0">
                        <a:lnSpc>
                          <a:spcPts val="2030"/>
                        </a:lnSpc>
                        <a:buNone/>
                      </a:pPr>
                      <a:r>
                        <a:rPr lang="en-US" sz="1450" dirty="0">
                          <a:solidFill>
                            <a:srgbClr val="4A5A5C"/>
                          </a:solidFill>
                          <a:latin typeface="Poppins" pitchFamily="34" charset="0"/>
                          <a:ea typeface="Poppins" pitchFamily="34" charset="-122"/>
                          <a:cs typeface="Poppins" pitchFamily="34" charset="-120"/>
                        </a:rPr>
                        <a:t>₹150</a:t>
                      </a:r>
                      <a:endParaRPr lang="en-US" sz="1450" dirty="0">
                        <a:latin typeface="Poppins" charset="0"/>
                        <a:ea typeface="Poppins" charset="0"/>
                        <a:cs typeface="Poppins" charset="0"/>
                      </a:endParaRPr>
                    </a:p>
                  </a:txBody>
                  <a:tcPr marL="139700" marR="1397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tc>
                  <a:txBody>
                    <a:bodyPr/>
                    <a:lstStyle/>
                    <a:p>
                      <a:pPr marL="0" indent="0">
                        <a:lnSpc>
                          <a:spcPts val="2030"/>
                        </a:lnSpc>
                        <a:buNone/>
                      </a:pPr>
                      <a:r>
                        <a:rPr lang="en-US" sz="1450" dirty="0">
                          <a:solidFill>
                            <a:srgbClr val="4A5A5C"/>
                          </a:solidFill>
                          <a:latin typeface="Poppins" pitchFamily="34" charset="0"/>
                          <a:ea typeface="Poppins" charset="0"/>
                          <a:cs typeface="Poppins" pitchFamily="34" charset="-120"/>
                        </a:rPr>
                        <a:t>33%</a:t>
                      </a:r>
                      <a:endParaRPr lang="en-US" sz="1450" dirty="0">
                        <a:latin typeface="Poppins" charset="0"/>
                        <a:ea typeface="Poppins" charset="0"/>
                        <a:cs typeface="Poppins" charset="0"/>
                      </a:endParaRPr>
                    </a:p>
                  </a:txBody>
                  <a:tcPr marL="139700" marR="1397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tc>
                  <a:txBody>
                    <a:bodyPr/>
                    <a:lstStyle/>
                    <a:p>
                      <a:pPr marL="0" indent="0">
                        <a:lnSpc>
                          <a:spcPts val="2030"/>
                        </a:lnSpc>
                        <a:buNone/>
                      </a:pPr>
                      <a:r>
                        <a:rPr lang="en-US" sz="1450" dirty="0">
                          <a:solidFill>
                            <a:srgbClr val="4A5A5C"/>
                          </a:solidFill>
                          <a:latin typeface="Poppins" pitchFamily="34" charset="0"/>
                          <a:ea typeface="Poppins" pitchFamily="34" charset="-122"/>
                          <a:cs typeface="Poppins" pitchFamily="34" charset="-120"/>
                        </a:rPr>
                        <a:t>Above a bed or a sofa</a:t>
                      </a:r>
                      <a:endParaRPr lang="en-US" sz="1450" dirty="0">
                        <a:latin typeface="Poppins" charset="0"/>
                        <a:ea typeface="Poppins" charset="0"/>
                        <a:cs typeface="Poppins" charset="0"/>
                      </a:endParaRPr>
                    </a:p>
                  </a:txBody>
                  <a:tcPr marL="139700" marR="1397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812800" y="4114800"/>
            <a:ext cx="3403600" cy="1311910"/>
          </a:xfrm>
          <a:prstGeom prst="roundRect">
            <a:avLst>
              <a:gd name="adj" fmla="val 7744"/>
            </a:avLst>
          </a:prstGeom>
          <a:solidFill>
            <a:srgbClr val="F1EAE0"/>
          </a:solidFill>
          <a:ln/>
        </p:spPr>
        <p:txBody>
          <a:bodyPr/>
          <a:lstStyle/>
          <a:p>
            <a:endParaRPr lang="en-IN"/>
          </a:p>
        </p:txBody>
      </p:sp>
      <p:sp>
        <p:nvSpPr>
          <p:cNvPr id="6" name="Text 3"/>
          <p:cNvSpPr/>
          <p:nvPr/>
        </p:nvSpPr>
        <p:spPr>
          <a:xfrm>
            <a:off x="1003300" y="4305300"/>
            <a:ext cx="3113278"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2454B"/>
                </a:solidFill>
                <a:latin typeface="Poppins" pitchFamily="34" charset="0"/>
                <a:ea typeface="Poppins" pitchFamily="34" charset="-122"/>
                <a:cs typeface="Poppins" pitchFamily="34" charset="-120"/>
              </a:rPr>
              <a:t>Bundle nudge</a:t>
            </a:r>
            <a:endParaRPr lang="en-US" sz="1400" dirty="0"/>
          </a:p>
        </p:txBody>
      </p:sp>
      <p:sp>
        <p:nvSpPr>
          <p:cNvPr id="7" name="Text 4"/>
          <p:cNvSpPr/>
          <p:nvPr/>
        </p:nvSpPr>
        <p:spPr>
          <a:xfrm>
            <a:off x="1003300" y="4569461"/>
            <a:ext cx="3113278"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A5C"/>
                </a:solidFill>
                <a:latin typeface="Poppins" pitchFamily="34" charset="0"/>
                <a:ea typeface="Poppins" pitchFamily="34" charset="-122"/>
                <a:cs typeface="Poppins" pitchFamily="34" charset="-120"/>
              </a:rPr>
              <a:t>Any three posters take 15% off, applied automatically at checkout — no code to remember.</a:t>
            </a:r>
            <a:endParaRPr lang="en-US" sz="1250" dirty="0"/>
          </a:p>
        </p:txBody>
      </p:sp>
      <p:sp>
        <p:nvSpPr>
          <p:cNvPr id="8" name="Shape 5"/>
          <p:cNvSpPr/>
          <p:nvPr/>
        </p:nvSpPr>
        <p:spPr>
          <a:xfrm>
            <a:off x="4394200" y="4114800"/>
            <a:ext cx="3403600" cy="1311910"/>
          </a:xfrm>
          <a:prstGeom prst="roundRect">
            <a:avLst>
              <a:gd name="adj" fmla="val 7744"/>
            </a:avLst>
          </a:prstGeom>
          <a:solidFill>
            <a:srgbClr val="F1EAE0"/>
          </a:solidFill>
          <a:ln/>
        </p:spPr>
        <p:txBody>
          <a:bodyPr/>
          <a:lstStyle/>
          <a:p>
            <a:endParaRPr lang="en-IN"/>
          </a:p>
        </p:txBody>
      </p:sp>
      <p:sp>
        <p:nvSpPr>
          <p:cNvPr id="9" name="Text 6"/>
          <p:cNvSpPr/>
          <p:nvPr/>
        </p:nvSpPr>
        <p:spPr>
          <a:xfrm>
            <a:off x="4584700" y="4305300"/>
            <a:ext cx="3113278"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2454B"/>
                </a:solidFill>
                <a:latin typeface="Poppins" pitchFamily="34" charset="0"/>
                <a:ea typeface="Poppins" pitchFamily="34" charset="-122"/>
                <a:cs typeface="Poppins" pitchFamily="34" charset="-120"/>
              </a:rPr>
              <a:t>Add-ons</a:t>
            </a:r>
            <a:endParaRPr lang="en-US" sz="1400" dirty="0"/>
          </a:p>
        </p:txBody>
      </p:sp>
      <p:sp>
        <p:nvSpPr>
          <p:cNvPr id="10" name="Text 7"/>
          <p:cNvSpPr/>
          <p:nvPr/>
        </p:nvSpPr>
        <p:spPr>
          <a:xfrm>
            <a:off x="4584700" y="4569461"/>
            <a:ext cx="3113278"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A5C"/>
                </a:solidFill>
                <a:latin typeface="Poppins" pitchFamily="34" charset="0"/>
                <a:ea typeface="Poppins" pitchFamily="34" charset="-122"/>
                <a:cs typeface="Poppins" pitchFamily="34" charset="-120"/>
              </a:rPr>
              <a:t>Polaroid sets, wooden tripod stands and gifting wraps sit on top of the print and lift the order value.</a:t>
            </a:r>
            <a:endParaRPr lang="en-US" sz="1250" dirty="0"/>
          </a:p>
        </p:txBody>
      </p:sp>
      <p:sp>
        <p:nvSpPr>
          <p:cNvPr id="11" name="Shape 8"/>
          <p:cNvSpPr/>
          <p:nvPr/>
        </p:nvSpPr>
        <p:spPr>
          <a:xfrm>
            <a:off x="7975600" y="4114800"/>
            <a:ext cx="3403600" cy="1311910"/>
          </a:xfrm>
          <a:prstGeom prst="roundRect">
            <a:avLst>
              <a:gd name="adj" fmla="val 7744"/>
            </a:avLst>
          </a:prstGeom>
          <a:solidFill>
            <a:srgbClr val="F1EAE0"/>
          </a:solidFill>
          <a:ln/>
        </p:spPr>
        <p:txBody>
          <a:bodyPr/>
          <a:lstStyle/>
          <a:p>
            <a:endParaRPr lang="en-IN"/>
          </a:p>
        </p:txBody>
      </p:sp>
      <p:sp>
        <p:nvSpPr>
          <p:cNvPr id="12" name="Text 9"/>
          <p:cNvSpPr/>
          <p:nvPr/>
        </p:nvSpPr>
        <p:spPr>
          <a:xfrm>
            <a:off x="8166100" y="4305300"/>
            <a:ext cx="3113278"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2454B"/>
                </a:solidFill>
                <a:latin typeface="Poppins" pitchFamily="34" charset="0"/>
                <a:ea typeface="Poppins" pitchFamily="34" charset="-122"/>
                <a:cs typeface="Poppins" pitchFamily="34" charset="-120"/>
              </a:rPr>
              <a:t>Custom work</a:t>
            </a:r>
            <a:endParaRPr lang="en-US" sz="1400" dirty="0"/>
          </a:p>
        </p:txBody>
      </p:sp>
      <p:sp>
        <p:nvSpPr>
          <p:cNvPr id="13" name="Text 10"/>
          <p:cNvSpPr/>
          <p:nvPr/>
        </p:nvSpPr>
        <p:spPr>
          <a:xfrm>
            <a:off x="8166100" y="4569461"/>
            <a:ext cx="3113278" cy="6921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A5C"/>
                </a:solidFill>
                <a:latin typeface="Poppins" pitchFamily="34" charset="0"/>
                <a:ea typeface="Poppins" pitchFamily="34" charset="-122"/>
                <a:cs typeface="Poppins" pitchFamily="34" charset="-120"/>
              </a:rPr>
              <a:t>Photos, lyrics, festival and business posters, priced per job. Highest margin line we run.</a:t>
            </a:r>
            <a:endParaRPr lang="en-US" sz="1250" dirty="0"/>
          </a:p>
        </p:txBody>
      </p:sp>
      <p:pic>
        <p:nvPicPr>
          <p:cNvPr id="14" name="Image 0" descr="Postr logo"/>
          <p:cNvPicPr>
            <a:picLocks noChangeAspect="1"/>
          </p:cNvPicPr>
          <p:nvPr/>
        </p:nvPicPr>
        <p:blipFill>
          <a:blip r:embed="rId3"/>
          <a:srcRect/>
          <a:stretch/>
        </p:blipFill>
        <p:spPr>
          <a:xfrm>
            <a:off x="812800" y="6228082"/>
            <a:ext cx="165100" cy="215900"/>
          </a:xfrm>
          <a:prstGeom prst="rect">
            <a:avLst/>
          </a:prstGeom>
        </p:spPr>
      </p:pic>
      <p:sp>
        <p:nvSpPr>
          <p:cNvPr id="15" name="Text 11"/>
          <p:cNvSpPr/>
          <p:nvPr/>
        </p:nvSpPr>
        <p:spPr>
          <a:xfrm>
            <a:off x="1066800" y="6220461"/>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454B"/>
                </a:solidFill>
                <a:latin typeface="Playfair Display" pitchFamily="34" charset="0"/>
                <a:ea typeface="Playfair Display" pitchFamily="34" charset="-122"/>
                <a:cs typeface="Playfair Display" pitchFamily="34" charset="-120"/>
              </a:rPr>
              <a:t>Postr.</a:t>
            </a:r>
            <a:endParaRPr lang="en-US" sz="1300" dirty="0"/>
          </a:p>
        </p:txBody>
      </p:sp>
      <p:sp>
        <p:nvSpPr>
          <p:cNvPr id="16" name="Text 12"/>
          <p:cNvSpPr/>
          <p:nvPr/>
        </p:nvSpPr>
        <p:spPr>
          <a:xfrm>
            <a:off x="8763000" y="6238239"/>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5E7175"/>
                </a:solidFill>
                <a:latin typeface="Poppins" pitchFamily="34" charset="0"/>
                <a:ea typeface="Poppins" pitchFamily="34" charset="-122"/>
                <a:cs typeface="Poppins" pitchFamily="34" charset="-120"/>
              </a:rPr>
              <a:t>05 / 25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B14F36"/>
                </a:solidFill>
                <a:latin typeface="Poppins" pitchFamily="34" charset="0"/>
                <a:ea typeface="Poppins" pitchFamily="34" charset="-122"/>
                <a:cs typeface="Poppins" pitchFamily="34" charset="-120"/>
              </a:rPr>
              <a:t>01 · TECHNOLOGY INTEGRATION &amp; DIGITAL ENABLEMENT</a:t>
            </a:r>
            <a:endParaRPr lang="en-US" sz="1200" dirty="0"/>
          </a:p>
        </p:txBody>
      </p:sp>
      <p:sp>
        <p:nvSpPr>
          <p:cNvPr id="3" name="Text 1"/>
          <p:cNvSpPr/>
          <p:nvPr/>
        </p:nvSpPr>
        <p:spPr>
          <a:xfrm>
            <a:off x="812800" y="12420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2454B"/>
                </a:solidFill>
                <a:latin typeface="Playfair Display" pitchFamily="34" charset="0"/>
                <a:ea typeface="Playfair Display" pitchFamily="34" charset="-122"/>
                <a:cs typeface="Playfair Display" pitchFamily="34" charset="-120"/>
              </a:rPr>
              <a:t>Eight components, one order</a:t>
            </a:r>
            <a:endParaRPr lang="en-US" sz="3600" dirty="0"/>
          </a:p>
        </p:txBody>
      </p:sp>
      <p:sp>
        <p:nvSpPr>
          <p:cNvPr id="4" name="Shape 2"/>
          <p:cNvSpPr/>
          <p:nvPr/>
        </p:nvSpPr>
        <p:spPr>
          <a:xfrm>
            <a:off x="812800" y="1960882"/>
            <a:ext cx="2527300" cy="1742440"/>
          </a:xfrm>
          <a:prstGeom prst="roundRect">
            <a:avLst>
              <a:gd name="adj" fmla="val 5831"/>
            </a:avLst>
          </a:prstGeom>
          <a:solidFill>
            <a:srgbClr val="F1EAE0"/>
          </a:solidFill>
          <a:ln/>
        </p:spPr>
        <p:txBody>
          <a:bodyPr/>
          <a:lstStyle/>
          <a:p>
            <a:endParaRPr lang="en-IN"/>
          </a:p>
        </p:txBody>
      </p:sp>
      <p:sp>
        <p:nvSpPr>
          <p:cNvPr id="5" name="Text 3"/>
          <p:cNvSpPr/>
          <p:nvPr/>
        </p:nvSpPr>
        <p:spPr>
          <a:xfrm>
            <a:off x="977900" y="2125982"/>
            <a:ext cx="2263013" cy="22098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B14F36"/>
                </a:solidFill>
                <a:latin typeface="Poppins" pitchFamily="34" charset="0"/>
                <a:ea typeface="Poppins" pitchFamily="34" charset="-122"/>
                <a:cs typeface="Poppins" pitchFamily="34" charset="-120"/>
              </a:rPr>
              <a:t>STOREFRONT</a:t>
            </a:r>
            <a:endParaRPr lang="en-US" sz="1100" dirty="0"/>
          </a:p>
        </p:txBody>
      </p:sp>
      <p:sp>
        <p:nvSpPr>
          <p:cNvPr id="6" name="Text 4"/>
          <p:cNvSpPr/>
          <p:nvPr/>
        </p:nvSpPr>
        <p:spPr>
          <a:xfrm>
            <a:off x="977900" y="2372361"/>
            <a:ext cx="226301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2454B"/>
                </a:solidFill>
                <a:latin typeface="Poppins" pitchFamily="34" charset="0"/>
                <a:ea typeface="Poppins" pitchFamily="34" charset="-122"/>
                <a:cs typeface="Poppins" pitchFamily="34" charset="-120"/>
              </a:rPr>
              <a:t>Shopify</a:t>
            </a:r>
            <a:endParaRPr lang="en-US" sz="1500" dirty="0"/>
          </a:p>
        </p:txBody>
      </p:sp>
      <p:sp>
        <p:nvSpPr>
          <p:cNvPr id="7" name="Text 5"/>
          <p:cNvSpPr/>
          <p:nvPr/>
        </p:nvSpPr>
        <p:spPr>
          <a:xfrm>
            <a:off x="977900" y="2651761"/>
            <a:ext cx="2263013"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C"/>
                </a:solidFill>
                <a:latin typeface="Poppins" pitchFamily="34" charset="0"/>
                <a:ea typeface="Poppins" pitchFamily="34" charset="-122"/>
                <a:cs typeface="Poppins" pitchFamily="34" charset="-120"/>
              </a:rPr>
              <a:t>mypostr.store — browse, customise, cart and checkout.</a:t>
            </a:r>
            <a:endParaRPr lang="en-US" sz="1200" dirty="0"/>
          </a:p>
        </p:txBody>
      </p:sp>
      <p:sp>
        <p:nvSpPr>
          <p:cNvPr id="8" name="Text 6"/>
          <p:cNvSpPr/>
          <p:nvPr/>
        </p:nvSpPr>
        <p:spPr>
          <a:xfrm>
            <a:off x="977900" y="3342639"/>
            <a:ext cx="2263013" cy="22098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12454B"/>
                </a:solidFill>
                <a:latin typeface="Poppins" pitchFamily="34" charset="0"/>
                <a:ea typeface="Poppins" pitchFamily="34" charset="-122"/>
                <a:cs typeface="Poppins" pitchFamily="34" charset="-120"/>
              </a:rPr>
              <a:t>LIVE</a:t>
            </a:r>
            <a:endParaRPr lang="en-US" sz="1100" dirty="0"/>
          </a:p>
        </p:txBody>
      </p:sp>
      <p:sp>
        <p:nvSpPr>
          <p:cNvPr id="9" name="Shape 7"/>
          <p:cNvSpPr/>
          <p:nvPr/>
        </p:nvSpPr>
        <p:spPr>
          <a:xfrm>
            <a:off x="3492500" y="1960882"/>
            <a:ext cx="2527300" cy="1742440"/>
          </a:xfrm>
          <a:prstGeom prst="roundRect">
            <a:avLst>
              <a:gd name="adj" fmla="val 5831"/>
            </a:avLst>
          </a:prstGeom>
          <a:solidFill>
            <a:srgbClr val="F1EAE0"/>
          </a:solidFill>
          <a:ln/>
        </p:spPr>
        <p:txBody>
          <a:bodyPr/>
          <a:lstStyle/>
          <a:p>
            <a:endParaRPr lang="en-IN"/>
          </a:p>
        </p:txBody>
      </p:sp>
      <p:sp>
        <p:nvSpPr>
          <p:cNvPr id="10" name="Text 8"/>
          <p:cNvSpPr/>
          <p:nvPr/>
        </p:nvSpPr>
        <p:spPr>
          <a:xfrm>
            <a:off x="3657600" y="2125982"/>
            <a:ext cx="2263013" cy="22098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B14F36"/>
                </a:solidFill>
                <a:latin typeface="Poppins" pitchFamily="34" charset="0"/>
                <a:ea typeface="Poppins" pitchFamily="34" charset="-122"/>
                <a:cs typeface="Poppins" pitchFamily="34" charset="-120"/>
              </a:rPr>
              <a:t>PAYMENTS</a:t>
            </a:r>
            <a:endParaRPr lang="en-US" sz="1100" dirty="0"/>
          </a:p>
        </p:txBody>
      </p:sp>
      <p:sp>
        <p:nvSpPr>
          <p:cNvPr id="11" name="Text 9"/>
          <p:cNvSpPr/>
          <p:nvPr/>
        </p:nvSpPr>
        <p:spPr>
          <a:xfrm>
            <a:off x="3657600" y="2372361"/>
            <a:ext cx="226301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2454B"/>
                </a:solidFill>
                <a:latin typeface="Poppins" pitchFamily="34" charset="0"/>
                <a:ea typeface="Poppins" pitchFamily="34" charset="-122"/>
                <a:cs typeface="Poppins" pitchFamily="34" charset="-120"/>
              </a:rPr>
              <a:t>Razorpay</a:t>
            </a:r>
            <a:endParaRPr lang="en-US" sz="1500" dirty="0"/>
          </a:p>
        </p:txBody>
      </p:sp>
      <p:sp>
        <p:nvSpPr>
          <p:cNvPr id="12" name="Text 10"/>
          <p:cNvSpPr/>
          <p:nvPr/>
        </p:nvSpPr>
        <p:spPr>
          <a:xfrm>
            <a:off x="3657600" y="2651761"/>
            <a:ext cx="2263013"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C"/>
                </a:solidFill>
                <a:latin typeface="Poppins" pitchFamily="34" charset="0"/>
                <a:ea typeface="Poppins" pitchFamily="34" charset="-122"/>
                <a:cs typeface="Poppins" pitchFamily="34" charset="-120"/>
              </a:rPr>
              <a:t>UPI, cards, wallets; a webhook confirms each payment.</a:t>
            </a:r>
            <a:endParaRPr lang="en-US" sz="1200" dirty="0"/>
          </a:p>
        </p:txBody>
      </p:sp>
      <p:sp>
        <p:nvSpPr>
          <p:cNvPr id="13" name="Text 11"/>
          <p:cNvSpPr/>
          <p:nvPr/>
        </p:nvSpPr>
        <p:spPr>
          <a:xfrm>
            <a:off x="3657600" y="3342639"/>
            <a:ext cx="2263013" cy="22098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12454B"/>
                </a:solidFill>
                <a:latin typeface="Poppins" pitchFamily="34" charset="0"/>
                <a:ea typeface="Poppins" pitchFamily="34" charset="-122"/>
                <a:cs typeface="Poppins" pitchFamily="34" charset="-120"/>
              </a:rPr>
              <a:t>LIVE</a:t>
            </a:r>
            <a:endParaRPr lang="en-US" sz="1100" dirty="0"/>
          </a:p>
        </p:txBody>
      </p:sp>
      <p:sp>
        <p:nvSpPr>
          <p:cNvPr id="14" name="Shape 12"/>
          <p:cNvSpPr/>
          <p:nvPr/>
        </p:nvSpPr>
        <p:spPr>
          <a:xfrm>
            <a:off x="6172200" y="1960882"/>
            <a:ext cx="2527300" cy="1742440"/>
          </a:xfrm>
          <a:prstGeom prst="roundRect">
            <a:avLst>
              <a:gd name="adj" fmla="val 5831"/>
            </a:avLst>
          </a:prstGeom>
          <a:solidFill>
            <a:srgbClr val="F1EAE0"/>
          </a:solidFill>
          <a:ln/>
        </p:spPr>
        <p:txBody>
          <a:bodyPr/>
          <a:lstStyle/>
          <a:p>
            <a:endParaRPr lang="en-IN"/>
          </a:p>
        </p:txBody>
      </p:sp>
      <p:sp>
        <p:nvSpPr>
          <p:cNvPr id="15" name="Text 13"/>
          <p:cNvSpPr/>
          <p:nvPr/>
        </p:nvSpPr>
        <p:spPr>
          <a:xfrm>
            <a:off x="6337300" y="2125982"/>
            <a:ext cx="2263013" cy="22098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B14F36"/>
                </a:solidFill>
                <a:latin typeface="Poppins" pitchFamily="34" charset="0"/>
                <a:ea typeface="Poppins" pitchFamily="34" charset="-122"/>
                <a:cs typeface="Poppins" pitchFamily="34" charset="-120"/>
              </a:rPr>
              <a:t>BACKEND API</a:t>
            </a:r>
            <a:endParaRPr lang="en-US" sz="1100" dirty="0"/>
          </a:p>
        </p:txBody>
      </p:sp>
      <p:sp>
        <p:nvSpPr>
          <p:cNvPr id="16" name="Text 14"/>
          <p:cNvSpPr/>
          <p:nvPr/>
        </p:nvSpPr>
        <p:spPr>
          <a:xfrm>
            <a:off x="6337300" y="2372361"/>
            <a:ext cx="226301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2454B"/>
                </a:solidFill>
                <a:latin typeface="Poppins" pitchFamily="34" charset="0"/>
                <a:ea typeface="Poppins" pitchFamily="34" charset="-122"/>
                <a:cs typeface="Poppins" pitchFamily="34" charset="-120"/>
              </a:rPr>
              <a:t>Node.js</a:t>
            </a:r>
            <a:endParaRPr lang="en-US" sz="1500" dirty="0"/>
          </a:p>
        </p:txBody>
      </p:sp>
      <p:sp>
        <p:nvSpPr>
          <p:cNvPr id="17" name="Text 15"/>
          <p:cNvSpPr/>
          <p:nvPr/>
        </p:nvSpPr>
        <p:spPr>
          <a:xfrm>
            <a:off x="6337300" y="2651761"/>
            <a:ext cx="226301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C"/>
                </a:solidFill>
                <a:latin typeface="Poppins" pitchFamily="34" charset="0"/>
                <a:ea typeface="Poppins" pitchFamily="34" charset="-122"/>
                <a:cs typeface="Poppins" pitchFamily="34" charset="-120"/>
              </a:rPr>
              <a:t>Order id, invoice PDF, QR id and email, per order.</a:t>
            </a:r>
            <a:endParaRPr lang="en-US" sz="1200" dirty="0"/>
          </a:p>
        </p:txBody>
      </p:sp>
      <p:sp>
        <p:nvSpPr>
          <p:cNvPr id="18" name="Text 16"/>
          <p:cNvSpPr/>
          <p:nvPr/>
        </p:nvSpPr>
        <p:spPr>
          <a:xfrm>
            <a:off x="6337300" y="3129282"/>
            <a:ext cx="2263013" cy="22098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12454B"/>
                </a:solidFill>
                <a:latin typeface="Poppins" pitchFamily="34" charset="0"/>
                <a:ea typeface="Poppins" pitchFamily="34" charset="-122"/>
                <a:cs typeface="Poppins" pitchFamily="34" charset="-120"/>
              </a:rPr>
              <a:t>LIVE</a:t>
            </a:r>
            <a:endParaRPr lang="en-US" sz="1100" dirty="0"/>
          </a:p>
        </p:txBody>
      </p:sp>
      <p:sp>
        <p:nvSpPr>
          <p:cNvPr id="19" name="Shape 17"/>
          <p:cNvSpPr/>
          <p:nvPr/>
        </p:nvSpPr>
        <p:spPr>
          <a:xfrm>
            <a:off x="8851900" y="1960882"/>
            <a:ext cx="2527300" cy="1742440"/>
          </a:xfrm>
          <a:prstGeom prst="roundRect">
            <a:avLst>
              <a:gd name="adj" fmla="val 5831"/>
            </a:avLst>
          </a:prstGeom>
          <a:solidFill>
            <a:srgbClr val="F1EAE0"/>
          </a:solidFill>
          <a:ln/>
        </p:spPr>
        <p:txBody>
          <a:bodyPr/>
          <a:lstStyle/>
          <a:p>
            <a:endParaRPr lang="en-IN"/>
          </a:p>
        </p:txBody>
      </p:sp>
      <p:sp>
        <p:nvSpPr>
          <p:cNvPr id="20" name="Text 18"/>
          <p:cNvSpPr/>
          <p:nvPr/>
        </p:nvSpPr>
        <p:spPr>
          <a:xfrm>
            <a:off x="9017000" y="2125982"/>
            <a:ext cx="2263013" cy="22098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B14F36"/>
                </a:solidFill>
                <a:latin typeface="Poppins" pitchFamily="34" charset="0"/>
                <a:ea typeface="Poppins" pitchFamily="34" charset="-122"/>
                <a:cs typeface="Poppins" pitchFamily="34" charset="-120"/>
              </a:rPr>
              <a:t>RECORDS</a:t>
            </a:r>
            <a:endParaRPr lang="en-US" sz="1100" dirty="0"/>
          </a:p>
        </p:txBody>
      </p:sp>
      <p:sp>
        <p:nvSpPr>
          <p:cNvPr id="21" name="Text 19"/>
          <p:cNvSpPr/>
          <p:nvPr/>
        </p:nvSpPr>
        <p:spPr>
          <a:xfrm>
            <a:off x="9017000" y="2372361"/>
            <a:ext cx="226301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2454B"/>
                </a:solidFill>
                <a:latin typeface="Poppins" pitchFamily="34" charset="0"/>
                <a:ea typeface="Poppins" pitchFamily="34" charset="-122"/>
                <a:cs typeface="Poppins" pitchFamily="34" charset="-120"/>
              </a:rPr>
              <a:t>Database</a:t>
            </a:r>
            <a:endParaRPr lang="en-US" sz="1500" dirty="0"/>
          </a:p>
        </p:txBody>
      </p:sp>
      <p:sp>
        <p:nvSpPr>
          <p:cNvPr id="22" name="Text 20"/>
          <p:cNvSpPr/>
          <p:nvPr/>
        </p:nvSpPr>
        <p:spPr>
          <a:xfrm>
            <a:off x="9017000" y="2651761"/>
            <a:ext cx="2263013"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C"/>
                </a:solidFill>
                <a:latin typeface="Poppins" pitchFamily="34" charset="0"/>
                <a:ea typeface="Poppins" pitchFamily="34" charset="-122"/>
                <a:cs typeface="Poppins" pitchFamily="34" charset="-120"/>
              </a:rPr>
              <a:t>Orders, customers, QR mapping, usage and invoices.</a:t>
            </a:r>
            <a:endParaRPr lang="en-US" sz="1200" dirty="0"/>
          </a:p>
        </p:txBody>
      </p:sp>
      <p:sp>
        <p:nvSpPr>
          <p:cNvPr id="23" name="Text 21"/>
          <p:cNvSpPr/>
          <p:nvPr/>
        </p:nvSpPr>
        <p:spPr>
          <a:xfrm>
            <a:off x="9017000" y="3342639"/>
            <a:ext cx="2263013" cy="22098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12454B"/>
                </a:solidFill>
                <a:latin typeface="Poppins" pitchFamily="34" charset="0"/>
                <a:ea typeface="Poppins" pitchFamily="34" charset="-122"/>
                <a:cs typeface="Poppins" pitchFamily="34" charset="-120"/>
              </a:rPr>
              <a:t>LIVE</a:t>
            </a:r>
            <a:endParaRPr lang="en-US" sz="1100" dirty="0"/>
          </a:p>
        </p:txBody>
      </p:sp>
      <p:sp>
        <p:nvSpPr>
          <p:cNvPr id="24" name="Shape 22"/>
          <p:cNvSpPr/>
          <p:nvPr/>
        </p:nvSpPr>
        <p:spPr>
          <a:xfrm>
            <a:off x="812800" y="3855721"/>
            <a:ext cx="2527300" cy="1539240"/>
          </a:xfrm>
          <a:prstGeom prst="roundRect">
            <a:avLst>
              <a:gd name="adj" fmla="val 6601"/>
            </a:avLst>
          </a:prstGeom>
          <a:solidFill>
            <a:srgbClr val="F1EAE0"/>
          </a:solidFill>
          <a:ln/>
        </p:spPr>
        <p:txBody>
          <a:bodyPr/>
          <a:lstStyle/>
          <a:p>
            <a:endParaRPr lang="en-IN"/>
          </a:p>
        </p:txBody>
      </p:sp>
      <p:sp>
        <p:nvSpPr>
          <p:cNvPr id="25" name="Text 23"/>
          <p:cNvSpPr/>
          <p:nvPr/>
        </p:nvSpPr>
        <p:spPr>
          <a:xfrm>
            <a:off x="977900" y="4020821"/>
            <a:ext cx="2263013" cy="22098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B14F36"/>
                </a:solidFill>
                <a:latin typeface="Poppins" pitchFamily="34" charset="0"/>
                <a:ea typeface="Poppins" pitchFamily="34" charset="-122"/>
                <a:cs typeface="Poppins" pitchFamily="34" charset="-120"/>
              </a:rPr>
              <a:t>ADMIN PANEL</a:t>
            </a:r>
            <a:endParaRPr lang="en-US" sz="1100" dirty="0"/>
          </a:p>
        </p:txBody>
      </p:sp>
      <p:sp>
        <p:nvSpPr>
          <p:cNvPr id="26" name="Text 24"/>
          <p:cNvSpPr/>
          <p:nvPr/>
        </p:nvSpPr>
        <p:spPr>
          <a:xfrm>
            <a:off x="977900" y="4267200"/>
            <a:ext cx="226301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2454B"/>
                </a:solidFill>
                <a:latin typeface="Poppins" pitchFamily="34" charset="0"/>
                <a:ea typeface="Poppins" pitchFamily="34" charset="-122"/>
                <a:cs typeface="Poppins" pitchFamily="34" charset="-120"/>
              </a:rPr>
              <a:t>React / Next.js</a:t>
            </a:r>
            <a:endParaRPr lang="en-US" sz="1500" dirty="0"/>
          </a:p>
        </p:txBody>
      </p:sp>
      <p:sp>
        <p:nvSpPr>
          <p:cNvPr id="27" name="Text 25"/>
          <p:cNvSpPr/>
          <p:nvPr/>
        </p:nvSpPr>
        <p:spPr>
          <a:xfrm>
            <a:off x="977900" y="4546600"/>
            <a:ext cx="226301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C"/>
                </a:solidFill>
                <a:latin typeface="Poppins" pitchFamily="34" charset="0"/>
                <a:ea typeface="Poppins" pitchFamily="34" charset="-122"/>
                <a:cs typeface="Poppins" pitchFamily="34" charset="-120"/>
              </a:rPr>
              <a:t>Orders, status, costs, uploads and storage quota.</a:t>
            </a:r>
            <a:endParaRPr lang="en-US" sz="1200" dirty="0"/>
          </a:p>
        </p:txBody>
      </p:sp>
      <p:sp>
        <p:nvSpPr>
          <p:cNvPr id="28" name="Text 26"/>
          <p:cNvSpPr/>
          <p:nvPr/>
        </p:nvSpPr>
        <p:spPr>
          <a:xfrm>
            <a:off x="977900" y="5024121"/>
            <a:ext cx="2263013" cy="22098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12454B"/>
                </a:solidFill>
                <a:latin typeface="Poppins" pitchFamily="34" charset="0"/>
                <a:ea typeface="Poppins" pitchFamily="34" charset="-122"/>
                <a:cs typeface="Poppins" pitchFamily="34" charset="-120"/>
              </a:rPr>
              <a:t>LIVE</a:t>
            </a:r>
            <a:endParaRPr lang="en-US" sz="1100" dirty="0"/>
          </a:p>
        </p:txBody>
      </p:sp>
      <p:sp>
        <p:nvSpPr>
          <p:cNvPr id="29" name="Shape 27"/>
          <p:cNvSpPr/>
          <p:nvPr/>
        </p:nvSpPr>
        <p:spPr>
          <a:xfrm>
            <a:off x="3492500" y="3855721"/>
            <a:ext cx="2527300" cy="1539240"/>
          </a:xfrm>
          <a:prstGeom prst="roundRect">
            <a:avLst>
              <a:gd name="adj" fmla="val 6601"/>
            </a:avLst>
          </a:prstGeom>
          <a:solidFill>
            <a:srgbClr val="F1EAE0"/>
          </a:solidFill>
          <a:ln/>
        </p:spPr>
        <p:txBody>
          <a:bodyPr/>
          <a:lstStyle/>
          <a:p>
            <a:endParaRPr lang="en-IN"/>
          </a:p>
        </p:txBody>
      </p:sp>
      <p:sp>
        <p:nvSpPr>
          <p:cNvPr id="30" name="Text 28"/>
          <p:cNvSpPr/>
          <p:nvPr/>
        </p:nvSpPr>
        <p:spPr>
          <a:xfrm>
            <a:off x="3657600" y="4020821"/>
            <a:ext cx="2263013" cy="22098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B14F36"/>
                </a:solidFill>
                <a:latin typeface="Poppins" pitchFamily="34" charset="0"/>
                <a:ea typeface="Poppins" pitchFamily="34" charset="-122"/>
                <a:cs typeface="Poppins" pitchFamily="34" charset="-120"/>
              </a:rPr>
              <a:t>MEMORY STORAGE</a:t>
            </a:r>
            <a:endParaRPr lang="en-US" sz="1100" dirty="0"/>
          </a:p>
        </p:txBody>
      </p:sp>
      <p:sp>
        <p:nvSpPr>
          <p:cNvPr id="31" name="Text 29"/>
          <p:cNvSpPr/>
          <p:nvPr/>
        </p:nvSpPr>
        <p:spPr>
          <a:xfrm>
            <a:off x="3657600" y="4267200"/>
            <a:ext cx="226301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2454B"/>
                </a:solidFill>
                <a:latin typeface="Poppins" pitchFamily="34" charset="0"/>
                <a:ea typeface="Poppins" pitchFamily="34" charset="-122"/>
                <a:cs typeface="Poppins" pitchFamily="34" charset="-120"/>
              </a:rPr>
              <a:t>Cloudflare R2</a:t>
            </a:r>
            <a:endParaRPr lang="en-US" sz="1500" dirty="0"/>
          </a:p>
        </p:txBody>
      </p:sp>
      <p:sp>
        <p:nvSpPr>
          <p:cNvPr id="32" name="Text 30"/>
          <p:cNvSpPr/>
          <p:nvPr/>
        </p:nvSpPr>
        <p:spPr>
          <a:xfrm>
            <a:off x="3657600" y="4546600"/>
            <a:ext cx="226301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C"/>
                </a:solidFill>
                <a:latin typeface="Poppins" pitchFamily="34" charset="0"/>
                <a:ea typeface="Poppins" pitchFamily="34" charset="-122"/>
                <a:cs typeface="Poppins" pitchFamily="34" charset="-120"/>
              </a:rPr>
              <a:t>One folder per QR id — photos, videos, invoice.</a:t>
            </a:r>
            <a:endParaRPr lang="en-US" sz="1200" dirty="0"/>
          </a:p>
        </p:txBody>
      </p:sp>
      <p:sp>
        <p:nvSpPr>
          <p:cNvPr id="33" name="Text 31"/>
          <p:cNvSpPr/>
          <p:nvPr/>
        </p:nvSpPr>
        <p:spPr>
          <a:xfrm>
            <a:off x="3657600" y="5024121"/>
            <a:ext cx="2263013" cy="22098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12454B"/>
                </a:solidFill>
                <a:latin typeface="Poppins" pitchFamily="34" charset="0"/>
                <a:ea typeface="Poppins" pitchFamily="34" charset="-122"/>
                <a:cs typeface="Poppins" pitchFamily="34" charset="-120"/>
              </a:rPr>
              <a:t>LIVE</a:t>
            </a:r>
            <a:endParaRPr lang="en-US" sz="1100" dirty="0"/>
          </a:p>
        </p:txBody>
      </p:sp>
      <p:sp>
        <p:nvSpPr>
          <p:cNvPr id="34" name="Shape 32"/>
          <p:cNvSpPr/>
          <p:nvPr/>
        </p:nvSpPr>
        <p:spPr>
          <a:xfrm>
            <a:off x="6175375" y="3858896"/>
            <a:ext cx="2520950" cy="1532890"/>
          </a:xfrm>
          <a:prstGeom prst="roundRect">
            <a:avLst>
              <a:gd name="adj" fmla="val 6421"/>
            </a:avLst>
          </a:prstGeom>
          <a:solidFill>
            <a:srgbClr val="FAF0EA"/>
          </a:solidFill>
          <a:ln w="6350">
            <a:solidFill>
              <a:srgbClr val="D0684F"/>
            </a:solidFill>
            <a:prstDash val="dash"/>
          </a:ln>
        </p:spPr>
        <p:txBody>
          <a:bodyPr/>
          <a:lstStyle/>
          <a:p>
            <a:endParaRPr lang="en-IN"/>
          </a:p>
        </p:txBody>
      </p:sp>
      <p:sp>
        <p:nvSpPr>
          <p:cNvPr id="35" name="Text 33"/>
          <p:cNvSpPr/>
          <p:nvPr/>
        </p:nvSpPr>
        <p:spPr>
          <a:xfrm>
            <a:off x="6342380" y="4025900"/>
            <a:ext cx="2252548" cy="22098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B14F36"/>
                </a:solidFill>
                <a:latin typeface="Poppins" pitchFamily="34" charset="0"/>
                <a:ea typeface="Poppins" pitchFamily="34" charset="-122"/>
                <a:cs typeface="Poppins" pitchFamily="34" charset="-120"/>
              </a:rPr>
              <a:t>PERSONALISATION</a:t>
            </a:r>
            <a:endParaRPr lang="en-US" sz="1100" dirty="0"/>
          </a:p>
        </p:txBody>
      </p:sp>
      <p:sp>
        <p:nvSpPr>
          <p:cNvPr id="36" name="Text 34"/>
          <p:cNvSpPr/>
          <p:nvPr/>
        </p:nvSpPr>
        <p:spPr>
          <a:xfrm>
            <a:off x="6342380" y="4272282"/>
            <a:ext cx="225254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2454B"/>
                </a:solidFill>
                <a:latin typeface="Poppins" pitchFamily="34" charset="0"/>
                <a:ea typeface="Poppins" pitchFamily="34" charset="-122"/>
                <a:cs typeface="Poppins" pitchFamily="34" charset="-120"/>
              </a:rPr>
              <a:t>AI picks</a:t>
            </a:r>
            <a:endParaRPr lang="en-US" sz="1500" dirty="0"/>
          </a:p>
        </p:txBody>
      </p:sp>
      <p:sp>
        <p:nvSpPr>
          <p:cNvPr id="37" name="Text 35"/>
          <p:cNvSpPr/>
          <p:nvPr/>
        </p:nvSpPr>
        <p:spPr>
          <a:xfrm>
            <a:off x="6342380" y="4551682"/>
            <a:ext cx="225254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C"/>
                </a:solidFill>
                <a:latin typeface="Poppins" pitchFamily="34" charset="0"/>
                <a:ea typeface="Poppins" pitchFamily="34" charset="-122"/>
                <a:cs typeface="Poppins" pitchFamily="34" charset="-120"/>
              </a:rPr>
              <a:t>Poster suggestions from browsing and past orders.</a:t>
            </a:r>
            <a:endParaRPr lang="en-US" sz="1200" dirty="0"/>
          </a:p>
        </p:txBody>
      </p:sp>
      <p:sp>
        <p:nvSpPr>
          <p:cNvPr id="38" name="Text 36"/>
          <p:cNvSpPr/>
          <p:nvPr/>
        </p:nvSpPr>
        <p:spPr>
          <a:xfrm>
            <a:off x="6342380" y="5029200"/>
            <a:ext cx="2252548" cy="22098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B14F36"/>
                </a:solidFill>
                <a:latin typeface="Poppins" pitchFamily="34" charset="0"/>
                <a:ea typeface="Poppins" pitchFamily="34" charset="-122"/>
                <a:cs typeface="Poppins" pitchFamily="34" charset="-120"/>
              </a:rPr>
              <a:t>NOT LIVE</a:t>
            </a:r>
            <a:endParaRPr lang="en-US" sz="1100" dirty="0"/>
          </a:p>
        </p:txBody>
      </p:sp>
      <p:sp>
        <p:nvSpPr>
          <p:cNvPr id="39" name="Shape 37"/>
          <p:cNvSpPr/>
          <p:nvPr/>
        </p:nvSpPr>
        <p:spPr>
          <a:xfrm>
            <a:off x="8855075" y="3858896"/>
            <a:ext cx="2520950" cy="1532890"/>
          </a:xfrm>
          <a:prstGeom prst="roundRect">
            <a:avLst>
              <a:gd name="adj" fmla="val 6421"/>
            </a:avLst>
          </a:prstGeom>
          <a:solidFill>
            <a:srgbClr val="FAF0EA"/>
          </a:solidFill>
          <a:ln w="6350">
            <a:solidFill>
              <a:srgbClr val="D0684F"/>
            </a:solidFill>
            <a:prstDash val="dash"/>
          </a:ln>
        </p:spPr>
        <p:txBody>
          <a:bodyPr/>
          <a:lstStyle/>
          <a:p>
            <a:endParaRPr lang="en-IN"/>
          </a:p>
        </p:txBody>
      </p:sp>
      <p:sp>
        <p:nvSpPr>
          <p:cNvPr id="40" name="Text 38"/>
          <p:cNvSpPr/>
          <p:nvPr/>
        </p:nvSpPr>
        <p:spPr>
          <a:xfrm>
            <a:off x="9022080" y="4025900"/>
            <a:ext cx="2252548" cy="22098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B14F36"/>
                </a:solidFill>
                <a:latin typeface="Poppins" pitchFamily="34" charset="0"/>
                <a:ea typeface="Poppins" pitchFamily="34" charset="-122"/>
                <a:cs typeface="Poppins" pitchFamily="34" charset="-120"/>
              </a:rPr>
              <a:t>SUPPORT</a:t>
            </a:r>
            <a:endParaRPr lang="en-US" sz="1100" dirty="0"/>
          </a:p>
        </p:txBody>
      </p:sp>
      <p:sp>
        <p:nvSpPr>
          <p:cNvPr id="41" name="Text 39"/>
          <p:cNvSpPr/>
          <p:nvPr/>
        </p:nvSpPr>
        <p:spPr>
          <a:xfrm>
            <a:off x="9022080" y="4272282"/>
            <a:ext cx="225254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2454B"/>
                </a:solidFill>
                <a:latin typeface="Poppins" pitchFamily="34" charset="0"/>
                <a:ea typeface="Poppins" pitchFamily="34" charset="-122"/>
                <a:cs typeface="Poppins" pitchFamily="34" charset="-120"/>
              </a:rPr>
              <a:t>Chatbot</a:t>
            </a:r>
            <a:endParaRPr lang="en-US" sz="1500" dirty="0"/>
          </a:p>
        </p:txBody>
      </p:sp>
      <p:sp>
        <p:nvSpPr>
          <p:cNvPr id="42" name="Text 40"/>
          <p:cNvSpPr/>
          <p:nvPr/>
        </p:nvSpPr>
        <p:spPr>
          <a:xfrm>
            <a:off x="9022080" y="4551682"/>
            <a:ext cx="225254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C"/>
                </a:solidFill>
                <a:latin typeface="Poppins" pitchFamily="34" charset="0"/>
                <a:ea typeface="Poppins" pitchFamily="34" charset="-122"/>
                <a:cs typeface="Poppins" pitchFamily="34" charset="-120"/>
              </a:rPr>
              <a:t>Order status, size help and fast catalogue search.</a:t>
            </a:r>
            <a:endParaRPr lang="en-US" sz="1200" dirty="0"/>
          </a:p>
        </p:txBody>
      </p:sp>
      <p:sp>
        <p:nvSpPr>
          <p:cNvPr id="43" name="Text 41"/>
          <p:cNvSpPr/>
          <p:nvPr/>
        </p:nvSpPr>
        <p:spPr>
          <a:xfrm>
            <a:off x="9022080" y="5029200"/>
            <a:ext cx="2252548" cy="22098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B14F36"/>
                </a:solidFill>
                <a:latin typeface="Poppins" pitchFamily="34" charset="0"/>
                <a:ea typeface="Poppins" pitchFamily="34" charset="-122"/>
                <a:cs typeface="Poppins" pitchFamily="34" charset="-120"/>
              </a:rPr>
              <a:t> NOT LIVE</a:t>
            </a:r>
            <a:endParaRPr lang="en-US" sz="1100" dirty="0"/>
          </a:p>
        </p:txBody>
      </p:sp>
      <p:pic>
        <p:nvPicPr>
          <p:cNvPr id="44" name="Image 0" descr="Postr logo"/>
          <p:cNvPicPr>
            <a:picLocks noChangeAspect="1"/>
          </p:cNvPicPr>
          <p:nvPr/>
        </p:nvPicPr>
        <p:blipFill>
          <a:blip r:embed="rId3"/>
          <a:srcRect/>
          <a:stretch/>
        </p:blipFill>
        <p:spPr>
          <a:xfrm>
            <a:off x="812800" y="6228082"/>
            <a:ext cx="165100" cy="215900"/>
          </a:xfrm>
          <a:prstGeom prst="rect">
            <a:avLst/>
          </a:prstGeom>
        </p:spPr>
      </p:pic>
      <p:sp>
        <p:nvSpPr>
          <p:cNvPr id="45" name="Text 42"/>
          <p:cNvSpPr/>
          <p:nvPr/>
        </p:nvSpPr>
        <p:spPr>
          <a:xfrm>
            <a:off x="1066800" y="6220461"/>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454B"/>
                </a:solidFill>
                <a:latin typeface="Playfair Display" pitchFamily="34" charset="0"/>
                <a:ea typeface="Playfair Display" pitchFamily="34" charset="-122"/>
                <a:cs typeface="Playfair Display" pitchFamily="34" charset="-120"/>
              </a:rPr>
              <a:t>Postr.</a:t>
            </a:r>
            <a:endParaRPr lang="en-US" sz="1300" dirty="0"/>
          </a:p>
        </p:txBody>
      </p:sp>
      <p:sp>
        <p:nvSpPr>
          <p:cNvPr id="46" name="Text 43"/>
          <p:cNvSpPr/>
          <p:nvPr/>
        </p:nvSpPr>
        <p:spPr>
          <a:xfrm>
            <a:off x="8763000" y="6238239"/>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5E7175"/>
                </a:solidFill>
                <a:latin typeface="Poppins" pitchFamily="34" charset="0"/>
                <a:ea typeface="Poppins" pitchFamily="34" charset="-122"/>
                <a:cs typeface="Poppins" pitchFamily="34" charset="-120"/>
              </a:rPr>
              <a:t>06 / 25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522"/>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B14F36"/>
                </a:solidFill>
                <a:latin typeface="Poppins" pitchFamily="34" charset="0"/>
                <a:ea typeface="Poppins" pitchFamily="34" charset="-122"/>
                <a:cs typeface="Poppins" pitchFamily="34" charset="-120"/>
              </a:rPr>
              <a:t>01 · TECHNOLOGY INTEGRATION · ARCHITECTURE</a:t>
            </a:r>
            <a:endParaRPr lang="en-US" sz="1200" dirty="0"/>
          </a:p>
        </p:txBody>
      </p:sp>
      <p:sp>
        <p:nvSpPr>
          <p:cNvPr id="3" name="Text 1"/>
          <p:cNvSpPr/>
          <p:nvPr/>
        </p:nvSpPr>
        <p:spPr>
          <a:xfrm>
            <a:off x="812800" y="1241822"/>
            <a:ext cx="10883392" cy="527764"/>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2454B"/>
                </a:solidFill>
                <a:latin typeface="Playfair Display" pitchFamily="34" charset="0"/>
                <a:ea typeface="Playfair Display" pitchFamily="34" charset="-122"/>
                <a:cs typeface="Playfair Display" pitchFamily="34" charset="-120"/>
              </a:rPr>
              <a:t>System architecture, end to end</a:t>
            </a:r>
            <a:endParaRPr lang="en-US" sz="3600" dirty="0"/>
          </a:p>
        </p:txBody>
      </p:sp>
      <p:pic>
        <p:nvPicPr>
          <p:cNvPr id="4" name="Image 0" descr="Photo memories poster system architecture: customer flow from Shopify store through Razorpay payment, webhook, order confirmation email and QR scan; Node.js backend creating order id, invoice PDF, unique QR id and R2 folder; Cloudflare R2 storage per QR id; admin panel with storage quota check; QR scan flow; tech stack of Shopify, Razorpay, Node.js, React or Next.js, Cloudflare R2 and generated QR codes"/>
          <p:cNvPicPr>
            <a:picLocks noChangeAspect="1"/>
          </p:cNvPicPr>
          <p:nvPr/>
        </p:nvPicPr>
        <p:blipFill>
          <a:blip r:embed="rId3"/>
          <a:srcRect l="-55" r="-55"/>
          <a:stretch/>
        </p:blipFill>
        <p:spPr>
          <a:xfrm>
            <a:off x="819150" y="1966438"/>
            <a:ext cx="5816600" cy="3873500"/>
          </a:xfrm>
          <a:prstGeom prst="rect">
            <a:avLst/>
          </a:prstGeom>
        </p:spPr>
      </p:pic>
      <p:sp>
        <p:nvSpPr>
          <p:cNvPr id="5" name="Shape 2"/>
          <p:cNvSpPr/>
          <p:nvPr/>
        </p:nvSpPr>
        <p:spPr>
          <a:xfrm>
            <a:off x="815975" y="1963263"/>
            <a:ext cx="5822950" cy="3879850"/>
          </a:xfrm>
          <a:prstGeom prst="rect">
            <a:avLst/>
          </a:prstGeom>
          <a:noFill/>
          <a:ln w="6350">
            <a:solidFill>
              <a:srgbClr val="DCD3C8"/>
            </a:solidFill>
            <a:prstDash val="solid"/>
          </a:ln>
        </p:spPr>
        <p:txBody>
          <a:bodyPr/>
          <a:lstStyle/>
          <a:p>
            <a:endParaRPr lang="en-IN"/>
          </a:p>
        </p:txBody>
      </p:sp>
      <p:sp>
        <p:nvSpPr>
          <p:cNvPr id="6" name="Shape 3"/>
          <p:cNvSpPr/>
          <p:nvPr/>
        </p:nvSpPr>
        <p:spPr>
          <a:xfrm>
            <a:off x="6896100" y="1963263"/>
            <a:ext cx="4483100" cy="0"/>
          </a:xfrm>
          <a:prstGeom prst="line">
            <a:avLst/>
          </a:prstGeom>
          <a:noFill/>
          <a:ln w="6350">
            <a:solidFill>
              <a:srgbClr val="DCD3C8"/>
            </a:solidFill>
            <a:prstDash val="solid"/>
          </a:ln>
        </p:spPr>
        <p:txBody>
          <a:bodyPr/>
          <a:lstStyle/>
          <a:p>
            <a:endParaRPr lang="en-IN"/>
          </a:p>
        </p:txBody>
      </p:sp>
      <p:sp>
        <p:nvSpPr>
          <p:cNvPr id="7" name="Text 4"/>
          <p:cNvSpPr/>
          <p:nvPr/>
        </p:nvSpPr>
        <p:spPr>
          <a:xfrm>
            <a:off x="6896100" y="2041367"/>
            <a:ext cx="2413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14F36"/>
                </a:solidFill>
                <a:latin typeface="Playfair Display" pitchFamily="34" charset="0"/>
                <a:ea typeface="Playfair Display" pitchFamily="34" charset="-122"/>
                <a:cs typeface="Playfair Display" pitchFamily="34" charset="-120"/>
              </a:rPr>
              <a:t>1</a:t>
            </a:r>
            <a:endParaRPr lang="en-US" sz="1400" dirty="0"/>
          </a:p>
        </p:txBody>
      </p:sp>
      <p:sp>
        <p:nvSpPr>
          <p:cNvPr id="8" name="Text 5"/>
          <p:cNvSpPr/>
          <p:nvPr/>
        </p:nvSpPr>
        <p:spPr>
          <a:xfrm>
            <a:off x="7213600" y="2076927"/>
            <a:ext cx="4290568"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A5C"/>
                </a:solidFill>
                <a:latin typeface="Poppins" pitchFamily="34" charset="0"/>
                <a:ea typeface="Poppins" pitchFamily="34" charset="-122"/>
                <a:cs typeface="Poppins" pitchFamily="34" charset="-120"/>
              </a:rPr>
              <a:t>Customer customises and checks out on the Shopify store</a:t>
            </a:r>
            <a:endParaRPr lang="en-US" sz="1250" dirty="0"/>
          </a:p>
        </p:txBody>
      </p:sp>
      <p:sp>
        <p:nvSpPr>
          <p:cNvPr id="9" name="Shape 6"/>
          <p:cNvSpPr/>
          <p:nvPr/>
        </p:nvSpPr>
        <p:spPr>
          <a:xfrm>
            <a:off x="6896100" y="2600802"/>
            <a:ext cx="4483100" cy="0"/>
          </a:xfrm>
          <a:prstGeom prst="line">
            <a:avLst/>
          </a:prstGeom>
          <a:noFill/>
          <a:ln w="6350">
            <a:solidFill>
              <a:srgbClr val="DCD3C8"/>
            </a:solidFill>
            <a:prstDash val="solid"/>
          </a:ln>
        </p:spPr>
        <p:txBody>
          <a:bodyPr/>
          <a:lstStyle/>
          <a:p>
            <a:endParaRPr lang="en-IN"/>
          </a:p>
        </p:txBody>
      </p:sp>
      <p:sp>
        <p:nvSpPr>
          <p:cNvPr id="10" name="Text 7"/>
          <p:cNvSpPr/>
          <p:nvPr/>
        </p:nvSpPr>
        <p:spPr>
          <a:xfrm>
            <a:off x="6896100" y="2678906"/>
            <a:ext cx="2413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14F36"/>
                </a:solidFill>
                <a:latin typeface="Playfair Display" pitchFamily="34" charset="0"/>
                <a:ea typeface="Playfair Display" pitchFamily="34" charset="-122"/>
                <a:cs typeface="Playfair Display" pitchFamily="34" charset="-120"/>
              </a:rPr>
              <a:t>2</a:t>
            </a:r>
            <a:endParaRPr lang="en-US" sz="1400" dirty="0"/>
          </a:p>
        </p:txBody>
      </p:sp>
      <p:sp>
        <p:nvSpPr>
          <p:cNvPr id="11" name="Text 8"/>
          <p:cNvSpPr/>
          <p:nvPr/>
        </p:nvSpPr>
        <p:spPr>
          <a:xfrm>
            <a:off x="7213600" y="2714467"/>
            <a:ext cx="4290568"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A5C"/>
                </a:solidFill>
                <a:latin typeface="Poppins" pitchFamily="34" charset="0"/>
                <a:ea typeface="Poppins" pitchFamily="34" charset="-122"/>
                <a:cs typeface="Poppins" pitchFamily="34" charset="-120"/>
              </a:rPr>
              <a:t>Pays through Razorpay; the payment webhook confirms success</a:t>
            </a:r>
            <a:endParaRPr lang="en-US" sz="1250" dirty="0"/>
          </a:p>
        </p:txBody>
      </p:sp>
      <p:sp>
        <p:nvSpPr>
          <p:cNvPr id="12" name="Shape 9"/>
          <p:cNvSpPr/>
          <p:nvPr/>
        </p:nvSpPr>
        <p:spPr>
          <a:xfrm>
            <a:off x="6896100" y="3238342"/>
            <a:ext cx="4483100" cy="0"/>
          </a:xfrm>
          <a:prstGeom prst="line">
            <a:avLst/>
          </a:prstGeom>
          <a:noFill/>
          <a:ln w="6350">
            <a:solidFill>
              <a:srgbClr val="DCD3C8"/>
            </a:solidFill>
            <a:prstDash val="solid"/>
          </a:ln>
        </p:spPr>
        <p:txBody>
          <a:bodyPr/>
          <a:lstStyle/>
          <a:p>
            <a:endParaRPr lang="en-IN"/>
          </a:p>
        </p:txBody>
      </p:sp>
      <p:sp>
        <p:nvSpPr>
          <p:cNvPr id="13" name="Text 10"/>
          <p:cNvSpPr/>
          <p:nvPr/>
        </p:nvSpPr>
        <p:spPr>
          <a:xfrm>
            <a:off x="6896100" y="3316446"/>
            <a:ext cx="2413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14F36"/>
                </a:solidFill>
                <a:latin typeface="Playfair Display" pitchFamily="34" charset="0"/>
                <a:ea typeface="Playfair Display" pitchFamily="34" charset="-122"/>
                <a:cs typeface="Playfair Display" pitchFamily="34" charset="-120"/>
              </a:rPr>
              <a:t>3</a:t>
            </a:r>
            <a:endParaRPr lang="en-US" sz="1400" dirty="0"/>
          </a:p>
        </p:txBody>
      </p:sp>
      <p:sp>
        <p:nvSpPr>
          <p:cNvPr id="14" name="Text 11"/>
          <p:cNvSpPr/>
          <p:nvPr/>
        </p:nvSpPr>
        <p:spPr>
          <a:xfrm>
            <a:off x="7213600" y="3352006"/>
            <a:ext cx="4290568"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A5C"/>
                </a:solidFill>
                <a:latin typeface="Poppins" pitchFamily="34" charset="0"/>
                <a:ea typeface="Poppins" pitchFamily="34" charset="-122"/>
                <a:cs typeface="Poppins" pitchFamily="34" charset="-120"/>
              </a:rPr>
              <a:t>Node.js backend creates the order id and an invoice PDF</a:t>
            </a:r>
            <a:endParaRPr lang="en-US" sz="1250" dirty="0"/>
          </a:p>
        </p:txBody>
      </p:sp>
      <p:sp>
        <p:nvSpPr>
          <p:cNvPr id="15" name="Shape 12"/>
          <p:cNvSpPr/>
          <p:nvPr/>
        </p:nvSpPr>
        <p:spPr>
          <a:xfrm>
            <a:off x="6896100" y="3875881"/>
            <a:ext cx="4483100" cy="0"/>
          </a:xfrm>
          <a:prstGeom prst="line">
            <a:avLst/>
          </a:prstGeom>
          <a:noFill/>
          <a:ln w="6350">
            <a:solidFill>
              <a:srgbClr val="DCD3C8"/>
            </a:solidFill>
            <a:prstDash val="solid"/>
          </a:ln>
        </p:spPr>
        <p:txBody>
          <a:bodyPr/>
          <a:lstStyle/>
          <a:p>
            <a:endParaRPr lang="en-IN"/>
          </a:p>
        </p:txBody>
      </p:sp>
      <p:sp>
        <p:nvSpPr>
          <p:cNvPr id="16" name="Text 13"/>
          <p:cNvSpPr/>
          <p:nvPr/>
        </p:nvSpPr>
        <p:spPr>
          <a:xfrm>
            <a:off x="6896100" y="3953988"/>
            <a:ext cx="2413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14F36"/>
                </a:solidFill>
                <a:latin typeface="Playfair Display" pitchFamily="34" charset="0"/>
                <a:ea typeface="Playfair Display" pitchFamily="34" charset="-122"/>
                <a:cs typeface="Playfair Display" pitchFamily="34" charset="-120"/>
              </a:rPr>
              <a:t>4</a:t>
            </a:r>
            <a:endParaRPr lang="en-US" sz="1400" dirty="0"/>
          </a:p>
        </p:txBody>
      </p:sp>
      <p:sp>
        <p:nvSpPr>
          <p:cNvPr id="17" name="Text 14"/>
          <p:cNvSpPr/>
          <p:nvPr/>
        </p:nvSpPr>
        <p:spPr>
          <a:xfrm>
            <a:off x="7213600" y="3989546"/>
            <a:ext cx="4290568"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A5C"/>
                </a:solidFill>
                <a:latin typeface="Poppins" pitchFamily="34" charset="0"/>
                <a:ea typeface="Poppins" pitchFamily="34" charset="-122"/>
                <a:cs typeface="Poppins" pitchFamily="34" charset="-120"/>
              </a:rPr>
              <a:t>Generates a random QR id and an R2 folder, memories/QR_ID/</a:t>
            </a:r>
            <a:endParaRPr lang="en-US" sz="1250" dirty="0"/>
          </a:p>
        </p:txBody>
      </p:sp>
      <p:sp>
        <p:nvSpPr>
          <p:cNvPr id="18" name="Shape 15"/>
          <p:cNvSpPr/>
          <p:nvPr/>
        </p:nvSpPr>
        <p:spPr>
          <a:xfrm>
            <a:off x="6896100" y="4513421"/>
            <a:ext cx="4483100" cy="0"/>
          </a:xfrm>
          <a:prstGeom prst="line">
            <a:avLst/>
          </a:prstGeom>
          <a:noFill/>
          <a:ln w="6350">
            <a:solidFill>
              <a:srgbClr val="DCD3C8"/>
            </a:solidFill>
            <a:prstDash val="solid"/>
          </a:ln>
        </p:spPr>
        <p:txBody>
          <a:bodyPr/>
          <a:lstStyle/>
          <a:p>
            <a:endParaRPr lang="en-IN"/>
          </a:p>
        </p:txBody>
      </p:sp>
      <p:sp>
        <p:nvSpPr>
          <p:cNvPr id="19" name="Text 16"/>
          <p:cNvSpPr/>
          <p:nvPr/>
        </p:nvSpPr>
        <p:spPr>
          <a:xfrm>
            <a:off x="6896100" y="4591527"/>
            <a:ext cx="2413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14F36"/>
                </a:solidFill>
                <a:latin typeface="Playfair Display" pitchFamily="34" charset="0"/>
                <a:ea typeface="Playfair Display" pitchFamily="34" charset="-122"/>
                <a:cs typeface="Playfair Display" pitchFamily="34" charset="-120"/>
              </a:rPr>
              <a:t>5</a:t>
            </a:r>
            <a:endParaRPr lang="en-US" sz="1400" dirty="0"/>
          </a:p>
        </p:txBody>
      </p:sp>
      <p:sp>
        <p:nvSpPr>
          <p:cNvPr id="20" name="Text 17"/>
          <p:cNvSpPr/>
          <p:nvPr/>
        </p:nvSpPr>
        <p:spPr>
          <a:xfrm>
            <a:off x="7213600" y="4627088"/>
            <a:ext cx="4290568"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A5C"/>
                </a:solidFill>
                <a:latin typeface="Poppins" pitchFamily="34" charset="0"/>
                <a:ea typeface="Poppins" pitchFamily="34" charset="-122"/>
                <a:cs typeface="Poppins" pitchFamily="34" charset="-120"/>
              </a:rPr>
              <a:t>Emails the customer the invoice and the QR code</a:t>
            </a:r>
            <a:endParaRPr lang="en-US" sz="1250" dirty="0"/>
          </a:p>
        </p:txBody>
      </p:sp>
      <p:sp>
        <p:nvSpPr>
          <p:cNvPr id="21" name="Shape 18"/>
          <p:cNvSpPr/>
          <p:nvPr/>
        </p:nvSpPr>
        <p:spPr>
          <a:xfrm>
            <a:off x="6896100" y="4928713"/>
            <a:ext cx="4483100" cy="0"/>
          </a:xfrm>
          <a:prstGeom prst="line">
            <a:avLst/>
          </a:prstGeom>
          <a:noFill/>
          <a:ln w="6350">
            <a:solidFill>
              <a:srgbClr val="DCD3C8"/>
            </a:solidFill>
            <a:prstDash val="solid"/>
          </a:ln>
        </p:spPr>
        <p:txBody>
          <a:bodyPr/>
          <a:lstStyle/>
          <a:p>
            <a:endParaRPr lang="en-IN"/>
          </a:p>
        </p:txBody>
      </p:sp>
      <p:sp>
        <p:nvSpPr>
          <p:cNvPr id="22" name="Shape 19"/>
          <p:cNvSpPr/>
          <p:nvPr/>
        </p:nvSpPr>
        <p:spPr>
          <a:xfrm>
            <a:off x="6896100" y="5342733"/>
            <a:ext cx="4483100" cy="0"/>
          </a:xfrm>
          <a:prstGeom prst="line">
            <a:avLst/>
          </a:prstGeom>
          <a:noFill/>
          <a:ln w="6350">
            <a:solidFill>
              <a:srgbClr val="DCD3C8"/>
            </a:solidFill>
            <a:prstDash val="solid"/>
          </a:ln>
        </p:spPr>
        <p:txBody>
          <a:bodyPr/>
          <a:lstStyle/>
          <a:p>
            <a:endParaRPr lang="en-IN"/>
          </a:p>
        </p:txBody>
      </p:sp>
      <p:sp>
        <p:nvSpPr>
          <p:cNvPr id="23" name="Text 20"/>
          <p:cNvSpPr/>
          <p:nvPr/>
        </p:nvSpPr>
        <p:spPr>
          <a:xfrm>
            <a:off x="6896100" y="5006817"/>
            <a:ext cx="2413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14F36"/>
                </a:solidFill>
                <a:latin typeface="Playfair Display" pitchFamily="34" charset="0"/>
                <a:ea typeface="Playfair Display" pitchFamily="34" charset="-122"/>
                <a:cs typeface="Playfair Display" pitchFamily="34" charset="-120"/>
              </a:rPr>
              <a:t>6</a:t>
            </a:r>
            <a:endParaRPr lang="en-US" sz="1400" dirty="0"/>
          </a:p>
        </p:txBody>
      </p:sp>
      <p:sp>
        <p:nvSpPr>
          <p:cNvPr id="24" name="Text 21"/>
          <p:cNvSpPr/>
          <p:nvPr/>
        </p:nvSpPr>
        <p:spPr>
          <a:xfrm>
            <a:off x="7213600" y="5042377"/>
            <a:ext cx="4290568"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A5C"/>
                </a:solidFill>
                <a:latin typeface="Poppins" pitchFamily="34" charset="0"/>
                <a:ea typeface="Poppins" pitchFamily="34" charset="-122"/>
                <a:cs typeface="Poppins" pitchFamily="34" charset="-120"/>
              </a:rPr>
              <a:t>Scanning the QR loads that folder as a gallery</a:t>
            </a:r>
            <a:endParaRPr lang="en-US" sz="1250" dirty="0"/>
          </a:p>
        </p:txBody>
      </p:sp>
      <p:pic>
        <p:nvPicPr>
          <p:cNvPr id="25" name="Image 1" descr="Postr logo"/>
          <p:cNvPicPr>
            <a:picLocks noChangeAspect="1"/>
          </p:cNvPicPr>
          <p:nvPr/>
        </p:nvPicPr>
        <p:blipFill>
          <a:blip r:embed="rId4"/>
          <a:srcRect/>
          <a:stretch/>
        </p:blipFill>
        <p:spPr>
          <a:xfrm>
            <a:off x="812800" y="6228082"/>
            <a:ext cx="165100" cy="215900"/>
          </a:xfrm>
          <a:prstGeom prst="rect">
            <a:avLst/>
          </a:prstGeom>
        </p:spPr>
      </p:pic>
      <p:sp>
        <p:nvSpPr>
          <p:cNvPr id="26" name="Text 22"/>
          <p:cNvSpPr/>
          <p:nvPr/>
        </p:nvSpPr>
        <p:spPr>
          <a:xfrm>
            <a:off x="1066800" y="6220461"/>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454B"/>
                </a:solidFill>
                <a:latin typeface="Playfair Display" pitchFamily="34" charset="0"/>
                <a:ea typeface="Playfair Display" pitchFamily="34" charset="-122"/>
                <a:cs typeface="Playfair Display" pitchFamily="34" charset="-120"/>
              </a:rPr>
              <a:t>Postr.</a:t>
            </a:r>
            <a:endParaRPr lang="en-US" sz="1300" dirty="0"/>
          </a:p>
        </p:txBody>
      </p:sp>
      <p:sp>
        <p:nvSpPr>
          <p:cNvPr id="27" name="Text 23"/>
          <p:cNvSpPr/>
          <p:nvPr/>
        </p:nvSpPr>
        <p:spPr>
          <a:xfrm>
            <a:off x="8763000" y="6238239"/>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5E7175"/>
                </a:solidFill>
                <a:latin typeface="Poppins" pitchFamily="34" charset="0"/>
                <a:ea typeface="Poppins" pitchFamily="34" charset="-122"/>
                <a:cs typeface="Poppins" pitchFamily="34" charset="-120"/>
              </a:rPr>
              <a:t>07 / 25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454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E8A48F"/>
                </a:solidFill>
                <a:latin typeface="Poppins" pitchFamily="34" charset="0"/>
                <a:ea typeface="Poppins" pitchFamily="34" charset="-122"/>
                <a:cs typeface="Poppins" pitchFamily="34" charset="-120"/>
              </a:rPr>
              <a:t>01 · TECHNOLOGY INTEGRATION · ANALYTICS</a:t>
            </a:r>
            <a:endParaRPr lang="en-US" sz="1200" dirty="0"/>
          </a:p>
        </p:txBody>
      </p:sp>
      <p:sp>
        <p:nvSpPr>
          <p:cNvPr id="3" name="Text 1"/>
          <p:cNvSpPr/>
          <p:nvPr/>
        </p:nvSpPr>
        <p:spPr>
          <a:xfrm>
            <a:off x="812800" y="12420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FAF6F0"/>
                </a:solidFill>
                <a:latin typeface="Playfair Display" pitchFamily="34" charset="0"/>
                <a:ea typeface="Playfair Display" pitchFamily="34" charset="-122"/>
                <a:cs typeface="Playfair Display" pitchFamily="34" charset="-120"/>
              </a:rPr>
              <a:t>The admin panel is our analytics layer</a:t>
            </a:r>
            <a:endParaRPr lang="en-US" sz="3600" dirty="0"/>
          </a:p>
        </p:txBody>
      </p:sp>
      <p:pic>
        <p:nvPicPr>
          <p:cNvPr id="4" name="Image 0" descr="Postr admin dashboard showing revenue ₹3,350, cost ₹1,355, profit ₹1,995 at 59.6% margin, 13 orders, 2 pending, 0 in production, 11 completed, 1 digital memory and 1 retention warning"/>
          <p:cNvPicPr>
            <a:picLocks noChangeAspect="1"/>
          </p:cNvPicPr>
          <p:nvPr/>
        </p:nvPicPr>
        <p:blipFill>
          <a:blip r:embed="rId3"/>
          <a:srcRect t="-45" b="-45"/>
          <a:stretch/>
        </p:blipFill>
        <p:spPr>
          <a:xfrm>
            <a:off x="812800" y="1960882"/>
            <a:ext cx="6604000" cy="3168650"/>
          </a:xfrm>
          <a:prstGeom prst="rect">
            <a:avLst/>
          </a:prstGeom>
        </p:spPr>
      </p:pic>
      <p:sp>
        <p:nvSpPr>
          <p:cNvPr id="5" name="Text 2"/>
          <p:cNvSpPr/>
          <p:nvPr/>
        </p:nvSpPr>
        <p:spPr>
          <a:xfrm>
            <a:off x="7670800" y="1960882"/>
            <a:ext cx="3819652"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AF6F0"/>
                </a:solidFill>
                <a:latin typeface="Poppins" pitchFamily="34" charset="0"/>
                <a:ea typeface="Poppins" pitchFamily="34" charset="-122"/>
                <a:cs typeface="Poppins" pitchFamily="34" charset="-120"/>
              </a:rPr>
              <a:t>What it reads live</a:t>
            </a:r>
            <a:endParaRPr lang="en-US" sz="1400" dirty="0"/>
          </a:p>
        </p:txBody>
      </p:sp>
      <p:sp>
        <p:nvSpPr>
          <p:cNvPr id="6" name="Text 3"/>
          <p:cNvSpPr/>
          <p:nvPr/>
        </p:nvSpPr>
        <p:spPr>
          <a:xfrm>
            <a:off x="7670800" y="2275839"/>
            <a:ext cx="3819652"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6E6E4"/>
                </a:solidFill>
                <a:latin typeface="Poppins" pitchFamily="34" charset="0"/>
                <a:ea typeface="Poppins" pitchFamily="34" charset="-122"/>
                <a:cs typeface="Poppins" pitchFamily="34" charset="-120"/>
              </a:rPr>
              <a:t>Revenue ₹3,350, with ₹290 of cancellations excluded rather than hidden</a:t>
            </a:r>
            <a:endParaRPr lang="en-US" sz="1250" dirty="0"/>
          </a:p>
        </p:txBody>
      </p:sp>
      <p:sp>
        <p:nvSpPr>
          <p:cNvPr id="7" name="Text 4"/>
          <p:cNvSpPr/>
          <p:nvPr/>
        </p:nvSpPr>
        <p:spPr>
          <a:xfrm>
            <a:off x="7670800" y="2821939"/>
            <a:ext cx="3819652"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6E6E4"/>
                </a:solidFill>
                <a:latin typeface="Poppins" pitchFamily="34" charset="0"/>
                <a:ea typeface="Poppins" pitchFamily="34" charset="-122"/>
                <a:cs typeface="Poppins" pitchFamily="34" charset="-120"/>
              </a:rPr>
              <a:t>Cost ₹1,355 booked against the same window</a:t>
            </a:r>
            <a:endParaRPr lang="en-US" sz="1250" dirty="0"/>
          </a:p>
        </p:txBody>
      </p:sp>
      <p:sp>
        <p:nvSpPr>
          <p:cNvPr id="8" name="Text 5"/>
          <p:cNvSpPr/>
          <p:nvPr/>
        </p:nvSpPr>
        <p:spPr>
          <a:xfrm>
            <a:off x="7670800" y="3145789"/>
            <a:ext cx="3819652"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6E6E4"/>
                </a:solidFill>
                <a:latin typeface="Poppins" pitchFamily="34" charset="0"/>
                <a:ea typeface="Poppins" pitchFamily="34" charset="-122"/>
                <a:cs typeface="Poppins" pitchFamily="34" charset="-120"/>
              </a:rPr>
              <a:t>Profit ₹1,995 at a 59.6% margin, computed, not typed</a:t>
            </a:r>
            <a:endParaRPr lang="en-US" sz="1250" dirty="0"/>
          </a:p>
        </p:txBody>
      </p:sp>
      <p:sp>
        <p:nvSpPr>
          <p:cNvPr id="9" name="Text 6"/>
          <p:cNvSpPr/>
          <p:nvPr/>
        </p:nvSpPr>
        <p:spPr>
          <a:xfrm>
            <a:off x="7670800" y="3691889"/>
            <a:ext cx="3819652"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6E6E4"/>
                </a:solidFill>
                <a:latin typeface="Poppins" pitchFamily="34" charset="0"/>
                <a:ea typeface="Poppins" pitchFamily="34" charset="-122"/>
                <a:cs typeface="Poppins" pitchFamily="34" charset="-120"/>
              </a:rPr>
              <a:t>13 orders · 11 completed · 2 pending · 2 cancelled</a:t>
            </a:r>
            <a:endParaRPr lang="en-US" sz="1250" dirty="0"/>
          </a:p>
        </p:txBody>
      </p:sp>
      <p:sp>
        <p:nvSpPr>
          <p:cNvPr id="10" name="Text 7"/>
          <p:cNvSpPr/>
          <p:nvPr/>
        </p:nvSpPr>
        <p:spPr>
          <a:xfrm>
            <a:off x="7670800" y="4237992"/>
            <a:ext cx="3819652"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6E6E4"/>
                </a:solidFill>
                <a:latin typeface="Poppins" pitchFamily="34" charset="0"/>
                <a:ea typeface="Poppins" pitchFamily="34" charset="-122"/>
                <a:cs typeface="Poppins" pitchFamily="34" charset="-120"/>
              </a:rPr>
              <a:t>1 digital memory live · 1 retention warning raised</a:t>
            </a:r>
            <a:endParaRPr lang="en-US" sz="1250" dirty="0"/>
          </a:p>
        </p:txBody>
      </p:sp>
      <p:pic>
        <p:nvPicPr>
          <p:cNvPr id="11" name="Image 1" descr="Postr logo"/>
          <p:cNvPicPr>
            <a:picLocks noChangeAspect="1"/>
          </p:cNvPicPr>
          <p:nvPr/>
        </p:nvPicPr>
        <p:blipFill>
          <a:blip r:embed="rId4"/>
          <a:srcRect/>
          <a:stretch/>
        </p:blipFill>
        <p:spPr>
          <a:xfrm>
            <a:off x="812800" y="6228079"/>
            <a:ext cx="165100" cy="215900"/>
          </a:xfrm>
          <a:prstGeom prst="rect">
            <a:avLst/>
          </a:prstGeom>
        </p:spPr>
      </p:pic>
      <p:sp>
        <p:nvSpPr>
          <p:cNvPr id="12" name="Text 8"/>
          <p:cNvSpPr/>
          <p:nvPr/>
        </p:nvSpPr>
        <p:spPr>
          <a:xfrm>
            <a:off x="1066800" y="6220464"/>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AF6F0"/>
                </a:solidFill>
                <a:latin typeface="Playfair Display" pitchFamily="34" charset="0"/>
                <a:ea typeface="Playfair Display" pitchFamily="34" charset="-122"/>
                <a:cs typeface="Playfair Display" pitchFamily="34" charset="-120"/>
              </a:rPr>
              <a:t>Postr.</a:t>
            </a:r>
            <a:endParaRPr lang="en-US" sz="1300" dirty="0"/>
          </a:p>
        </p:txBody>
      </p:sp>
      <p:sp>
        <p:nvSpPr>
          <p:cNvPr id="13" name="Text 9"/>
          <p:cNvSpPr/>
          <p:nvPr/>
        </p:nvSpPr>
        <p:spPr>
          <a:xfrm>
            <a:off x="8763000" y="6238242"/>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A8C3C2"/>
                </a:solidFill>
                <a:latin typeface="Poppins" pitchFamily="34" charset="0"/>
                <a:ea typeface="Poppins" pitchFamily="34" charset="-122"/>
                <a:cs typeface="Poppins" pitchFamily="34" charset="-120"/>
              </a:rPr>
              <a:t>08 / 25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454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1696"/>
          </a:xfrm>
          <a:prstGeom prst="rect">
            <a:avLst/>
          </a:prstGeom>
          <a:noFill/>
          <a:ln/>
        </p:spPr>
        <p:txBody>
          <a:bodyPr wrap="square" lIns="0" tIns="0" rIns="0" bIns="0" rtlCol="0" anchor="t">
            <a:normAutofit/>
          </a:bodyPr>
          <a:lstStyle/>
          <a:p>
            <a:pPr marL="0" indent="0" algn="l">
              <a:lnSpc>
                <a:spcPts val="1622"/>
              </a:lnSpc>
              <a:buNone/>
            </a:pPr>
            <a:r>
              <a:rPr lang="en-US" sz="1159" kern="0" spc="200" dirty="0">
                <a:solidFill>
                  <a:srgbClr val="E8A48F"/>
                </a:solidFill>
                <a:latin typeface="Poppins" pitchFamily="34" charset="0"/>
                <a:ea typeface="Poppins" pitchFamily="34" charset="-122"/>
                <a:cs typeface="Poppins" pitchFamily="34" charset="-120"/>
              </a:rPr>
              <a:t>01 · TECHNOLOGY INTEGRATION · ORDER STATUS</a:t>
            </a:r>
            <a:endParaRPr lang="en-US" sz="1159" dirty="0"/>
          </a:p>
        </p:txBody>
      </p:sp>
      <p:sp>
        <p:nvSpPr>
          <p:cNvPr id="3" name="Text 1"/>
          <p:cNvSpPr/>
          <p:nvPr/>
        </p:nvSpPr>
        <p:spPr>
          <a:xfrm>
            <a:off x="812800" y="1209594"/>
            <a:ext cx="10883392" cy="511731"/>
          </a:xfrm>
          <a:prstGeom prst="rect">
            <a:avLst/>
          </a:prstGeom>
          <a:noFill/>
          <a:ln/>
        </p:spPr>
        <p:txBody>
          <a:bodyPr wrap="square" lIns="0" tIns="0" rIns="0" bIns="0" rtlCol="0" anchor="t">
            <a:normAutofit/>
          </a:bodyPr>
          <a:lstStyle/>
          <a:p>
            <a:pPr marL="0" indent="0" algn="l">
              <a:lnSpc>
                <a:spcPts val="3873"/>
              </a:lnSpc>
              <a:buNone/>
            </a:pPr>
            <a:r>
              <a:rPr lang="en-US" sz="3521" dirty="0">
                <a:solidFill>
                  <a:srgbClr val="FAF6F0"/>
                </a:solidFill>
                <a:latin typeface="Playfair Display" pitchFamily="34" charset="0"/>
                <a:ea typeface="Playfair Display" pitchFamily="34" charset="-122"/>
                <a:cs typeface="Playfair Display" pitchFamily="34" charset="-120"/>
              </a:rPr>
              <a:t>Every order has a state</a:t>
            </a:r>
            <a:endParaRPr lang="en-US" sz="3521" dirty="0"/>
          </a:p>
        </p:txBody>
      </p:sp>
      <p:pic>
        <p:nvPicPr>
          <p:cNvPr id="4" name="Image 0" descr="Production pipeline: pending 2 at ₹330, in production 0, printed 0, fulfilled 11 at ₹3,020, cancelled 2 at ₹290. What people buy: ready-made poster 7 at ₹1,800, custom poster or Polaroid 5 at ₹1,300, custom plus digital memory 1 at ₹250"/>
          <p:cNvPicPr>
            <a:picLocks noChangeAspect="1"/>
          </p:cNvPicPr>
          <p:nvPr/>
        </p:nvPicPr>
        <p:blipFill>
          <a:blip r:embed="rId3"/>
          <a:srcRect l="-1694" r="-1694"/>
          <a:stretch/>
        </p:blipFill>
        <p:spPr>
          <a:xfrm>
            <a:off x="1016000" y="1886427"/>
            <a:ext cx="10160000" cy="2990453"/>
          </a:xfrm>
          <a:prstGeom prst="rect">
            <a:avLst/>
          </a:prstGeom>
        </p:spPr>
      </p:pic>
      <p:sp>
        <p:nvSpPr>
          <p:cNvPr id="5" name="Text 2"/>
          <p:cNvSpPr/>
          <p:nvPr/>
        </p:nvSpPr>
        <p:spPr>
          <a:xfrm>
            <a:off x="1016000" y="5067381"/>
            <a:ext cx="10464800" cy="800021"/>
          </a:xfrm>
          <a:prstGeom prst="rect">
            <a:avLst/>
          </a:prstGeom>
          <a:noFill/>
          <a:ln/>
        </p:spPr>
        <p:txBody>
          <a:bodyPr wrap="square" lIns="0" tIns="0" rIns="0" bIns="0" rtlCol="0" anchor="t">
            <a:normAutofit/>
          </a:bodyPr>
          <a:lstStyle/>
          <a:p>
            <a:pPr marL="0" indent="0" algn="l">
              <a:lnSpc>
                <a:spcPts val="2037"/>
              </a:lnSpc>
              <a:buNone/>
            </a:pPr>
            <a:r>
              <a:rPr lang="en-US" sz="1405" dirty="0">
                <a:solidFill>
                  <a:srgbClr val="D6E6E4"/>
                </a:solidFill>
                <a:latin typeface="Poppins" pitchFamily="34" charset="0"/>
                <a:ea typeface="Poppins" pitchFamily="34" charset="-122"/>
                <a:cs typeface="Poppins" pitchFamily="34" charset="-120"/>
              </a:rPr>
              <a:t>Pending → In production → Printed → Fulfilled, with cancellations recorded rather than deleted. Eleven of thirteen orders are fulfilled and ₹3,020 has been dispatched; the ₹290 cancelled sits in the ledger and out of the revenue figure.</a:t>
            </a:r>
            <a:endParaRPr lang="en-US" sz="1405" dirty="0"/>
          </a:p>
        </p:txBody>
      </p:sp>
      <p:pic>
        <p:nvPicPr>
          <p:cNvPr id="6" name="Image 1" descr="Postr logo"/>
          <p:cNvPicPr>
            <a:picLocks noChangeAspect="1"/>
          </p:cNvPicPr>
          <p:nvPr/>
        </p:nvPicPr>
        <p:blipFill>
          <a:blip r:embed="rId4"/>
          <a:srcRect/>
          <a:stretch/>
        </p:blipFill>
        <p:spPr>
          <a:xfrm>
            <a:off x="812800" y="6228079"/>
            <a:ext cx="165100" cy="215900"/>
          </a:xfrm>
          <a:prstGeom prst="rect">
            <a:avLst/>
          </a:prstGeom>
        </p:spPr>
      </p:pic>
      <p:sp>
        <p:nvSpPr>
          <p:cNvPr id="7" name="Text 3"/>
          <p:cNvSpPr/>
          <p:nvPr/>
        </p:nvSpPr>
        <p:spPr>
          <a:xfrm>
            <a:off x="1066800" y="6220464"/>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AF6F0"/>
                </a:solidFill>
                <a:latin typeface="Playfair Display" pitchFamily="34" charset="0"/>
                <a:ea typeface="Playfair Display" pitchFamily="34" charset="-122"/>
                <a:cs typeface="Playfair Display" pitchFamily="34" charset="-120"/>
              </a:rPr>
              <a:t>Postr.</a:t>
            </a:r>
            <a:endParaRPr lang="en-US" sz="1300" dirty="0"/>
          </a:p>
        </p:txBody>
      </p:sp>
      <p:sp>
        <p:nvSpPr>
          <p:cNvPr id="8" name="Text 4"/>
          <p:cNvSpPr/>
          <p:nvPr/>
        </p:nvSpPr>
        <p:spPr>
          <a:xfrm>
            <a:off x="8763000" y="6238242"/>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A8C3C2"/>
                </a:solidFill>
                <a:latin typeface="Poppins" pitchFamily="34" charset="0"/>
                <a:ea typeface="Poppins" pitchFamily="34" charset="-122"/>
                <a:cs typeface="Poppins" pitchFamily="34" charset="-120"/>
              </a:rPr>
              <a:t>09 / 25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B14F36"/>
                </a:solidFill>
                <a:latin typeface="Poppins" pitchFamily="34" charset="0"/>
                <a:ea typeface="Poppins" pitchFamily="34" charset="-122"/>
                <a:cs typeface="Poppins" pitchFamily="34" charset="-120"/>
              </a:rPr>
              <a:t>01 · TECHNOLOGY INTEGRATION · DATA</a:t>
            </a:r>
            <a:endParaRPr lang="en-US" sz="1200" dirty="0"/>
          </a:p>
        </p:txBody>
      </p:sp>
      <p:sp>
        <p:nvSpPr>
          <p:cNvPr id="3" name="Text 1"/>
          <p:cNvSpPr/>
          <p:nvPr/>
        </p:nvSpPr>
        <p:spPr>
          <a:xfrm>
            <a:off x="812800" y="12420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2454B"/>
                </a:solidFill>
                <a:latin typeface="Playfair Display" pitchFamily="34" charset="0"/>
                <a:ea typeface="Playfair Display" pitchFamily="34" charset="-122"/>
                <a:cs typeface="Playfair Display" pitchFamily="34" charset="-120"/>
              </a:rPr>
              <a:t>The digital vault, and keeping it shut</a:t>
            </a:r>
            <a:endParaRPr lang="en-US" sz="3600" dirty="0"/>
          </a:p>
        </p:txBody>
      </p:sp>
      <p:sp>
        <p:nvSpPr>
          <p:cNvPr id="4" name="Shape 2"/>
          <p:cNvSpPr/>
          <p:nvPr/>
        </p:nvSpPr>
        <p:spPr>
          <a:xfrm>
            <a:off x="812800" y="1960879"/>
            <a:ext cx="5181600" cy="3234690"/>
          </a:xfrm>
          <a:prstGeom prst="roundRect">
            <a:avLst>
              <a:gd name="adj" fmla="val 3141"/>
            </a:avLst>
          </a:prstGeom>
          <a:solidFill>
            <a:srgbClr val="F1EAE0"/>
          </a:solidFill>
          <a:ln/>
        </p:spPr>
        <p:txBody>
          <a:bodyPr/>
          <a:lstStyle/>
          <a:p>
            <a:endParaRPr lang="en-IN"/>
          </a:p>
        </p:txBody>
      </p:sp>
      <p:sp>
        <p:nvSpPr>
          <p:cNvPr id="5" name="Text 3"/>
          <p:cNvSpPr/>
          <p:nvPr/>
        </p:nvSpPr>
        <p:spPr>
          <a:xfrm>
            <a:off x="1066800" y="2214879"/>
            <a:ext cx="481380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454B"/>
                </a:solidFill>
                <a:latin typeface="Poppins" pitchFamily="34" charset="0"/>
                <a:ea typeface="Poppins" pitchFamily="34" charset="-122"/>
                <a:cs typeface="Poppins" pitchFamily="34" charset="-120"/>
              </a:rPr>
              <a:t>How a memory gets on a wall</a:t>
            </a:r>
            <a:endParaRPr lang="en-US" sz="1600" dirty="0"/>
          </a:p>
        </p:txBody>
      </p:sp>
      <p:sp>
        <p:nvSpPr>
          <p:cNvPr id="6" name="Text 4"/>
          <p:cNvSpPr/>
          <p:nvPr/>
        </p:nvSpPr>
        <p:spPr>
          <a:xfrm>
            <a:off x="1066800" y="2560321"/>
            <a:ext cx="4813808" cy="2168525"/>
          </a:xfrm>
          <a:prstGeom prst="rect">
            <a:avLst/>
          </a:prstGeom>
          <a:noFill/>
          <a:ln/>
        </p:spPr>
        <p:txBody>
          <a:bodyPr wrap="square" lIns="0" tIns="0" rIns="0" bIns="0" rtlCol="0" anchor="t">
            <a:normAutofit/>
          </a:bodyPr>
          <a:lstStyle/>
          <a:p>
            <a:pPr marL="342900" indent="-342900" algn="l">
              <a:lnSpc>
                <a:spcPts val="1875"/>
              </a:lnSpc>
              <a:buSzPct val="100000"/>
              <a:buChar char="•"/>
            </a:pPr>
            <a:r>
              <a:rPr lang="en-US" sz="1250" dirty="0">
                <a:solidFill>
                  <a:srgbClr val="4A5A5C"/>
                </a:solidFill>
                <a:latin typeface="Poppins" pitchFamily="34" charset="0"/>
                <a:ea typeface="Poppins" pitchFamily="34" charset="-122"/>
                <a:cs typeface="Poppins" pitchFamily="34" charset="-120"/>
              </a:rPr>
              <a:t>Each order gets a random QR id, such as A7K92XP</a:t>
            </a:r>
            <a:endParaRPr lang="en-US" sz="1250" dirty="0"/>
          </a:p>
          <a:p>
            <a:pPr marL="342900" indent="-342900" algn="l">
              <a:lnSpc>
                <a:spcPts val="1875"/>
              </a:lnSpc>
              <a:buSzPct val="100000"/>
              <a:buChar char="•"/>
            </a:pPr>
            <a:r>
              <a:rPr lang="en-US" sz="1250" dirty="0">
                <a:solidFill>
                  <a:srgbClr val="4A5A5C"/>
                </a:solidFill>
                <a:latin typeface="Poppins" pitchFamily="34" charset="0"/>
                <a:ea typeface="Poppins" pitchFamily="34" charset="-122"/>
                <a:cs typeface="Poppins" pitchFamily="34" charset="-120"/>
              </a:rPr>
              <a:t>Photos and videos go to Cloudflare R2 under memories/QR_ID/</a:t>
            </a:r>
            <a:endParaRPr lang="en-US" sz="1250" dirty="0"/>
          </a:p>
          <a:p>
            <a:pPr marL="342900" indent="-342900" algn="l">
              <a:lnSpc>
                <a:spcPts val="1875"/>
              </a:lnSpc>
              <a:buSzPct val="100000"/>
              <a:buChar char="•"/>
            </a:pPr>
            <a:r>
              <a:rPr lang="en-US" sz="1250" dirty="0">
                <a:solidFill>
                  <a:srgbClr val="4A5A5C"/>
                </a:solidFill>
                <a:latin typeface="Poppins" pitchFamily="34" charset="0"/>
                <a:ea typeface="Poppins" pitchFamily="34" charset="-122"/>
                <a:cs typeface="Poppins" pitchFamily="34" charset="-120"/>
              </a:rPr>
              <a:t>Admin upload checks the quota: used plus new must fit the plan</a:t>
            </a:r>
            <a:endParaRPr lang="en-US" sz="1250" dirty="0"/>
          </a:p>
          <a:p>
            <a:pPr marL="342900" indent="-342900" algn="l">
              <a:lnSpc>
                <a:spcPts val="1875"/>
              </a:lnSpc>
              <a:buSzPct val="100000"/>
              <a:buChar char="•"/>
            </a:pPr>
            <a:r>
              <a:rPr lang="en-US" sz="1250" dirty="0">
                <a:solidFill>
                  <a:srgbClr val="4A5A5C"/>
                </a:solidFill>
                <a:latin typeface="Poppins" pitchFamily="34" charset="0"/>
                <a:ea typeface="Poppins" pitchFamily="34" charset="-122"/>
                <a:cs typeface="Poppins" pitchFamily="34" charset="-120"/>
              </a:rPr>
              <a:t>Scanning the QR opens the gallery, fetched from that folder only</a:t>
            </a:r>
            <a:endParaRPr lang="en-US" sz="1250" dirty="0"/>
          </a:p>
          <a:p>
            <a:pPr marL="342900" indent="-342900" algn="l">
              <a:lnSpc>
                <a:spcPts val="1875"/>
              </a:lnSpc>
              <a:buSzPct val="100000"/>
              <a:buChar char="•"/>
            </a:pPr>
            <a:r>
              <a:rPr lang="en-US" sz="1250" dirty="0">
                <a:solidFill>
                  <a:srgbClr val="4A5A5C"/>
                </a:solidFill>
                <a:latin typeface="Poppins" pitchFamily="34" charset="0"/>
                <a:ea typeface="Poppins" pitchFamily="34" charset="-122"/>
                <a:cs typeface="Poppins" pitchFamily="34" charset="-120"/>
              </a:rPr>
              <a:t>One live vault today, tracked on the dashboard as a Digital Memory</a:t>
            </a:r>
            <a:endParaRPr lang="en-US" sz="1250" dirty="0"/>
          </a:p>
        </p:txBody>
      </p:sp>
      <p:sp>
        <p:nvSpPr>
          <p:cNvPr id="7" name="Shape 5"/>
          <p:cNvSpPr/>
          <p:nvPr/>
        </p:nvSpPr>
        <p:spPr>
          <a:xfrm>
            <a:off x="6197600" y="1960879"/>
            <a:ext cx="5181600" cy="3234690"/>
          </a:xfrm>
          <a:prstGeom prst="roundRect">
            <a:avLst>
              <a:gd name="adj" fmla="val 3141"/>
            </a:avLst>
          </a:prstGeom>
          <a:solidFill>
            <a:srgbClr val="12454B"/>
          </a:solidFill>
          <a:ln/>
        </p:spPr>
        <p:txBody>
          <a:bodyPr/>
          <a:lstStyle/>
          <a:p>
            <a:endParaRPr lang="en-IN"/>
          </a:p>
        </p:txBody>
      </p:sp>
      <p:sp>
        <p:nvSpPr>
          <p:cNvPr id="8" name="Text 6"/>
          <p:cNvSpPr/>
          <p:nvPr/>
        </p:nvSpPr>
        <p:spPr>
          <a:xfrm>
            <a:off x="6451600" y="2214879"/>
            <a:ext cx="481380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AF6F0"/>
                </a:solidFill>
                <a:latin typeface="Poppins" pitchFamily="34" charset="0"/>
                <a:ea typeface="Poppins" pitchFamily="34" charset="-122"/>
                <a:cs typeface="Poppins" pitchFamily="34" charset="-120"/>
              </a:rPr>
              <a:t>What protects it</a:t>
            </a:r>
            <a:endParaRPr lang="en-US" sz="1600" dirty="0"/>
          </a:p>
        </p:txBody>
      </p:sp>
      <p:sp>
        <p:nvSpPr>
          <p:cNvPr id="9" name="Text 7"/>
          <p:cNvSpPr/>
          <p:nvPr/>
        </p:nvSpPr>
        <p:spPr>
          <a:xfrm>
            <a:off x="6451600" y="2560321"/>
            <a:ext cx="4813808" cy="2406650"/>
          </a:xfrm>
          <a:prstGeom prst="rect">
            <a:avLst/>
          </a:prstGeom>
          <a:noFill/>
          <a:ln/>
        </p:spPr>
        <p:txBody>
          <a:bodyPr wrap="square" lIns="0" tIns="0" rIns="0" bIns="0" rtlCol="0" anchor="t">
            <a:normAutofit/>
          </a:bodyPr>
          <a:lstStyle/>
          <a:p>
            <a:pPr marL="342900" indent="-342900" algn="l">
              <a:lnSpc>
                <a:spcPts val="1875"/>
              </a:lnSpc>
              <a:buSzPct val="100000"/>
              <a:buChar char="•"/>
            </a:pPr>
            <a:r>
              <a:rPr lang="en-US" sz="1250" dirty="0">
                <a:solidFill>
                  <a:srgbClr val="D6E6E4"/>
                </a:solidFill>
                <a:latin typeface="Poppins" pitchFamily="34" charset="0"/>
                <a:ea typeface="Poppins" pitchFamily="34" charset="-122"/>
                <a:cs typeface="Poppins" pitchFamily="34" charset="-120"/>
              </a:rPr>
              <a:t>Random QR id, never the order number — vaults cannot be guessed</a:t>
            </a:r>
            <a:endParaRPr lang="en-US" sz="1250" dirty="0"/>
          </a:p>
          <a:p>
            <a:pPr marL="342900" indent="-342900" algn="l">
              <a:lnSpc>
                <a:spcPts val="1875"/>
              </a:lnSpc>
              <a:buSzPct val="100000"/>
              <a:buChar char="•"/>
            </a:pPr>
            <a:r>
              <a:rPr lang="en-US" sz="1250" dirty="0">
                <a:solidFill>
                  <a:srgbClr val="D6E6E4"/>
                </a:solidFill>
                <a:latin typeface="Poppins" pitchFamily="34" charset="0"/>
                <a:ea typeface="Poppins" pitchFamily="34" charset="-122"/>
                <a:cs typeface="Poppins" pitchFamily="34" charset="-120"/>
              </a:rPr>
              <a:t>Admin area behind login, with a separate Change Password screen</a:t>
            </a:r>
            <a:endParaRPr lang="en-US" sz="1250" dirty="0"/>
          </a:p>
          <a:p>
            <a:pPr marL="342900" indent="-342900" algn="l">
              <a:lnSpc>
                <a:spcPts val="1875"/>
              </a:lnSpc>
              <a:buSzPct val="100000"/>
              <a:buChar char="•"/>
            </a:pPr>
            <a:r>
              <a:rPr lang="en-US" sz="1250" dirty="0">
                <a:solidFill>
                  <a:srgbClr val="D6E6E4"/>
                </a:solidFill>
                <a:latin typeface="Poppins" pitchFamily="34" charset="0"/>
                <a:ea typeface="Poppins" pitchFamily="34" charset="-122"/>
                <a:cs typeface="Poppins" pitchFamily="34" charset="-120"/>
              </a:rPr>
              <a:t>Activity Logs record every admin action against an order</a:t>
            </a:r>
            <a:endParaRPr lang="en-US" sz="1250" dirty="0"/>
          </a:p>
          <a:p>
            <a:pPr marL="342900" indent="-342900" algn="l">
              <a:lnSpc>
                <a:spcPts val="1875"/>
              </a:lnSpc>
              <a:buSzPct val="100000"/>
              <a:buChar char="•"/>
            </a:pPr>
            <a:r>
              <a:rPr lang="en-US" sz="1250" dirty="0">
                <a:solidFill>
                  <a:srgbClr val="D6E6E4"/>
                </a:solidFill>
                <a:latin typeface="Poppins" pitchFamily="34" charset="0"/>
                <a:ea typeface="Poppins" pitchFamily="34" charset="-122"/>
                <a:cs typeface="Poppins" pitchFamily="34" charset="-120"/>
              </a:rPr>
              <a:t>Storage quota per product stops uploads that would exceed it</a:t>
            </a:r>
            <a:endParaRPr lang="en-US" sz="1250" dirty="0"/>
          </a:p>
          <a:p>
            <a:pPr marL="342900" indent="-342900" algn="l">
              <a:lnSpc>
                <a:spcPts val="1875"/>
              </a:lnSpc>
              <a:buSzPct val="100000"/>
              <a:buChar char="•"/>
            </a:pPr>
            <a:r>
              <a:rPr lang="en-US" sz="1250" dirty="0">
                <a:solidFill>
                  <a:srgbClr val="D6E6E4"/>
                </a:solidFill>
                <a:latin typeface="Poppins" pitchFamily="34" charset="0"/>
                <a:ea typeface="Poppins" pitchFamily="34" charset="-122"/>
                <a:cs typeface="Poppins" pitchFamily="34" charset="-120"/>
              </a:rPr>
              <a:t>Retention warnings fire before anything expires — one open today</a:t>
            </a:r>
            <a:endParaRPr lang="en-US" sz="1250" dirty="0"/>
          </a:p>
        </p:txBody>
      </p:sp>
      <p:pic>
        <p:nvPicPr>
          <p:cNvPr id="10" name="Image 0" descr="Postr logo"/>
          <p:cNvPicPr>
            <a:picLocks noChangeAspect="1"/>
          </p:cNvPicPr>
          <p:nvPr/>
        </p:nvPicPr>
        <p:blipFill>
          <a:blip r:embed="rId3"/>
          <a:srcRect/>
          <a:stretch/>
        </p:blipFill>
        <p:spPr>
          <a:xfrm>
            <a:off x="812800" y="6228079"/>
            <a:ext cx="165100" cy="215900"/>
          </a:xfrm>
          <a:prstGeom prst="rect">
            <a:avLst/>
          </a:prstGeom>
        </p:spPr>
      </p:pic>
      <p:sp>
        <p:nvSpPr>
          <p:cNvPr id="11" name="Text 8"/>
          <p:cNvSpPr/>
          <p:nvPr/>
        </p:nvSpPr>
        <p:spPr>
          <a:xfrm>
            <a:off x="1066800" y="6220464"/>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454B"/>
                </a:solidFill>
                <a:latin typeface="Playfair Display" pitchFamily="34" charset="0"/>
                <a:ea typeface="Playfair Display" pitchFamily="34" charset="-122"/>
                <a:cs typeface="Playfair Display" pitchFamily="34" charset="-120"/>
              </a:rPr>
              <a:t>Postr.</a:t>
            </a:r>
            <a:endParaRPr lang="en-US" sz="1300" dirty="0"/>
          </a:p>
        </p:txBody>
      </p:sp>
      <p:sp>
        <p:nvSpPr>
          <p:cNvPr id="12" name="Text 9"/>
          <p:cNvSpPr/>
          <p:nvPr/>
        </p:nvSpPr>
        <p:spPr>
          <a:xfrm>
            <a:off x="8763000" y="6238242"/>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5E7175"/>
                </a:solidFill>
                <a:latin typeface="Poppins" pitchFamily="34" charset="0"/>
                <a:ea typeface="Poppins" pitchFamily="34" charset="-122"/>
                <a:cs typeface="Poppins" pitchFamily="34" charset="-120"/>
              </a:rPr>
              <a:t>10 / 25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B14F36"/>
                </a:solidFill>
                <a:latin typeface="Poppins" pitchFamily="34" charset="0"/>
                <a:ea typeface="Poppins" pitchFamily="34" charset="-122"/>
                <a:cs typeface="Poppins" pitchFamily="34" charset="-120"/>
              </a:rPr>
              <a:t>01 · TECHNOLOGY INTEGRATION · NEXT BUILD</a:t>
            </a:r>
            <a:endParaRPr lang="en-US" sz="1200" dirty="0"/>
          </a:p>
        </p:txBody>
      </p:sp>
      <p:sp>
        <p:nvSpPr>
          <p:cNvPr id="3" name="Text 1"/>
          <p:cNvSpPr/>
          <p:nvPr/>
        </p:nvSpPr>
        <p:spPr>
          <a:xfrm>
            <a:off x="812800" y="12420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2454B"/>
                </a:solidFill>
                <a:latin typeface="Playfair Display" pitchFamily="34" charset="0"/>
                <a:ea typeface="Playfair Display" pitchFamily="34" charset="-122"/>
                <a:cs typeface="Playfair Display" pitchFamily="34" charset="-120"/>
              </a:rPr>
              <a:t>Two systems we have specified, not shipped</a:t>
            </a:r>
            <a:endParaRPr lang="en-US" sz="3600" dirty="0"/>
          </a:p>
        </p:txBody>
      </p:sp>
      <p:sp>
        <p:nvSpPr>
          <p:cNvPr id="4" name="Shape 2"/>
          <p:cNvSpPr/>
          <p:nvPr/>
        </p:nvSpPr>
        <p:spPr>
          <a:xfrm>
            <a:off x="815975" y="1964054"/>
            <a:ext cx="5175250" cy="3713798"/>
          </a:xfrm>
          <a:prstGeom prst="roundRect">
            <a:avLst>
              <a:gd name="adj" fmla="val 2650"/>
            </a:avLst>
          </a:prstGeom>
          <a:solidFill>
            <a:srgbClr val="F1EAE0"/>
          </a:solidFill>
          <a:ln w="6350">
            <a:solidFill>
              <a:srgbClr val="D0684F"/>
            </a:solidFill>
            <a:prstDash val="dash"/>
          </a:ln>
        </p:spPr>
        <p:txBody>
          <a:bodyPr/>
          <a:lstStyle/>
          <a:p>
            <a:endParaRPr lang="en-IN"/>
          </a:p>
        </p:txBody>
      </p:sp>
      <p:sp>
        <p:nvSpPr>
          <p:cNvPr id="5" name="Text 3"/>
          <p:cNvSpPr/>
          <p:nvPr/>
        </p:nvSpPr>
        <p:spPr>
          <a:xfrm>
            <a:off x="1071880" y="2219964"/>
            <a:ext cx="480334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2454B"/>
                </a:solidFill>
                <a:latin typeface="Poppins" pitchFamily="34" charset="0"/>
                <a:ea typeface="Poppins" pitchFamily="34" charset="-122"/>
                <a:cs typeface="Poppins" pitchFamily="34" charset="-120"/>
              </a:rPr>
              <a:t>AI poster recommendations</a:t>
            </a:r>
            <a:endParaRPr lang="en-US" sz="1700" dirty="0"/>
          </a:p>
        </p:txBody>
      </p:sp>
      <p:sp>
        <p:nvSpPr>
          <p:cNvPr id="6" name="Text 4"/>
          <p:cNvSpPr/>
          <p:nvPr/>
        </p:nvSpPr>
        <p:spPr>
          <a:xfrm>
            <a:off x="1071880" y="2567942"/>
            <a:ext cx="4803343" cy="715963"/>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4A5A5C"/>
                </a:solidFill>
                <a:latin typeface="Poppins" pitchFamily="34" charset="0"/>
                <a:ea typeface="Poppins" pitchFamily="34" charset="-122"/>
                <a:cs typeface="Poppins" pitchFamily="34" charset="-120"/>
              </a:rPr>
              <a:t>Fifty-two designs is already too many to scroll on a phone. The model we have scoped ranks the catalogue per visitor instead of showing it alphabetically.</a:t>
            </a:r>
            <a:endParaRPr lang="en-US" sz="1250" dirty="0"/>
          </a:p>
        </p:txBody>
      </p:sp>
      <p:sp>
        <p:nvSpPr>
          <p:cNvPr id="7" name="Text 5"/>
          <p:cNvSpPr/>
          <p:nvPr/>
        </p:nvSpPr>
        <p:spPr>
          <a:xfrm>
            <a:off x="1071880" y="3347405"/>
            <a:ext cx="480334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14F36"/>
                </a:solidFill>
                <a:latin typeface="Poppins" pitchFamily="34" charset="0"/>
                <a:ea typeface="Poppins" pitchFamily="34" charset="-122"/>
                <a:cs typeface="Poppins" pitchFamily="34" charset="-120"/>
              </a:rPr>
              <a:t>SIGNALS IT USES</a:t>
            </a:r>
            <a:endParaRPr lang="en-US" sz="1200" dirty="0"/>
          </a:p>
        </p:txBody>
      </p:sp>
      <p:sp>
        <p:nvSpPr>
          <p:cNvPr id="8" name="Text 6"/>
          <p:cNvSpPr/>
          <p:nvPr/>
        </p:nvSpPr>
        <p:spPr>
          <a:xfrm>
            <a:off x="1071880" y="3649663"/>
            <a:ext cx="4803343" cy="715963"/>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4A5A5C"/>
                </a:solidFill>
                <a:latin typeface="Poppins" pitchFamily="34" charset="0"/>
                <a:ea typeface="Poppins" pitchFamily="34" charset="-122"/>
                <a:cs typeface="Poppins" pitchFamily="34" charset="-120"/>
              </a:rPr>
              <a:t>Collection viewed, SKUs added to cart, size chosen, and the mood of past orders — a Desi Dil buyer is shown lyric prints, not Formula One.</a:t>
            </a:r>
            <a:endParaRPr lang="en-US" sz="1250" dirty="0"/>
          </a:p>
        </p:txBody>
      </p:sp>
      <p:sp>
        <p:nvSpPr>
          <p:cNvPr id="9" name="Text 7"/>
          <p:cNvSpPr/>
          <p:nvPr/>
        </p:nvSpPr>
        <p:spPr>
          <a:xfrm>
            <a:off x="1071880" y="4429125"/>
            <a:ext cx="480334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14F36"/>
                </a:solidFill>
                <a:latin typeface="Poppins" pitchFamily="34" charset="0"/>
                <a:ea typeface="Poppins" pitchFamily="34" charset="-122"/>
                <a:cs typeface="Poppins" pitchFamily="34" charset="-120"/>
              </a:rPr>
              <a:t>WHY IT MATTERS HERE</a:t>
            </a:r>
            <a:endParaRPr lang="en-US" sz="1200" dirty="0"/>
          </a:p>
        </p:txBody>
      </p:sp>
      <p:sp>
        <p:nvSpPr>
          <p:cNvPr id="10" name="Text 8"/>
          <p:cNvSpPr/>
          <p:nvPr/>
        </p:nvSpPr>
        <p:spPr>
          <a:xfrm>
            <a:off x="1071880" y="4731389"/>
            <a:ext cx="4803343" cy="715963"/>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4A5A5C"/>
                </a:solidFill>
                <a:latin typeface="Poppins" pitchFamily="34" charset="0"/>
                <a:ea typeface="Poppins" pitchFamily="34" charset="-122"/>
                <a:cs typeface="Poppins" pitchFamily="34" charset="-120"/>
              </a:rPr>
              <a:t>Our bundle discount needs three items in a cart. Recommendations are how the second and third get there.</a:t>
            </a:r>
            <a:endParaRPr lang="en-US" sz="1250" dirty="0"/>
          </a:p>
        </p:txBody>
      </p:sp>
      <p:sp>
        <p:nvSpPr>
          <p:cNvPr id="11" name="Shape 9"/>
          <p:cNvSpPr/>
          <p:nvPr/>
        </p:nvSpPr>
        <p:spPr>
          <a:xfrm>
            <a:off x="6200775" y="1964054"/>
            <a:ext cx="5175250" cy="3713798"/>
          </a:xfrm>
          <a:prstGeom prst="roundRect">
            <a:avLst>
              <a:gd name="adj" fmla="val 2650"/>
            </a:avLst>
          </a:prstGeom>
          <a:solidFill>
            <a:srgbClr val="F1EAE0"/>
          </a:solidFill>
          <a:ln w="6350">
            <a:solidFill>
              <a:srgbClr val="D0684F"/>
            </a:solidFill>
            <a:prstDash val="dash"/>
          </a:ln>
        </p:spPr>
        <p:txBody>
          <a:bodyPr/>
          <a:lstStyle/>
          <a:p>
            <a:endParaRPr lang="en-IN"/>
          </a:p>
        </p:txBody>
      </p:sp>
      <p:sp>
        <p:nvSpPr>
          <p:cNvPr id="12" name="Text 10"/>
          <p:cNvSpPr/>
          <p:nvPr/>
        </p:nvSpPr>
        <p:spPr>
          <a:xfrm>
            <a:off x="6456680" y="2219964"/>
            <a:ext cx="480334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2454B"/>
                </a:solidFill>
                <a:latin typeface="Poppins" pitchFamily="34" charset="0"/>
                <a:ea typeface="Poppins" pitchFamily="34" charset="-122"/>
                <a:cs typeface="Poppins" pitchFamily="34" charset="-120"/>
              </a:rPr>
              <a:t>Support chatbot</a:t>
            </a:r>
            <a:endParaRPr lang="en-US" sz="1700" dirty="0"/>
          </a:p>
        </p:txBody>
      </p:sp>
      <p:sp>
        <p:nvSpPr>
          <p:cNvPr id="13" name="Text 11"/>
          <p:cNvSpPr/>
          <p:nvPr/>
        </p:nvSpPr>
        <p:spPr>
          <a:xfrm>
            <a:off x="6456680" y="2567942"/>
            <a:ext cx="4803343" cy="715963"/>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4A5A5C"/>
                </a:solidFill>
                <a:latin typeface="Poppins" pitchFamily="34" charset="0"/>
                <a:ea typeface="Poppins" pitchFamily="34" charset="-122"/>
                <a:cs typeface="Poppins" pitchFamily="34" charset="-120"/>
              </a:rPr>
              <a:t>Most incoming messages are three questions: where is my order, which size fits my wall, and do you have this film. All three are answerable from data we already hold.</a:t>
            </a:r>
            <a:endParaRPr lang="en-US" sz="1250" dirty="0"/>
          </a:p>
        </p:txBody>
      </p:sp>
      <p:sp>
        <p:nvSpPr>
          <p:cNvPr id="14" name="Text 12"/>
          <p:cNvSpPr/>
          <p:nvPr/>
        </p:nvSpPr>
        <p:spPr>
          <a:xfrm>
            <a:off x="6456680" y="3347405"/>
            <a:ext cx="480334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14F36"/>
                </a:solidFill>
                <a:latin typeface="Poppins" pitchFamily="34" charset="0"/>
                <a:ea typeface="Poppins" pitchFamily="34" charset="-122"/>
                <a:cs typeface="Poppins" pitchFamily="34" charset="-120"/>
              </a:rPr>
              <a:t>WHAT IT ANSWERS</a:t>
            </a:r>
            <a:endParaRPr lang="en-US" sz="1200" dirty="0"/>
          </a:p>
        </p:txBody>
      </p:sp>
      <p:sp>
        <p:nvSpPr>
          <p:cNvPr id="15" name="Text 13"/>
          <p:cNvSpPr/>
          <p:nvPr/>
        </p:nvSpPr>
        <p:spPr>
          <a:xfrm>
            <a:off x="6456680" y="3649663"/>
            <a:ext cx="4803343" cy="715963"/>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4A5A5C"/>
                </a:solidFill>
                <a:latin typeface="Poppins" pitchFamily="34" charset="0"/>
                <a:ea typeface="Poppins" pitchFamily="34" charset="-122"/>
                <a:cs typeface="Poppins" pitchFamily="34" charset="-120"/>
              </a:rPr>
              <a:t>Order status straight from the pipeline, size guidance from wall dimensions, and SKU search across all fifty-two designs.</a:t>
            </a:r>
            <a:endParaRPr lang="en-US" sz="1250" dirty="0"/>
          </a:p>
        </p:txBody>
      </p:sp>
      <p:sp>
        <p:nvSpPr>
          <p:cNvPr id="16" name="Text 14"/>
          <p:cNvSpPr/>
          <p:nvPr/>
        </p:nvSpPr>
        <p:spPr>
          <a:xfrm>
            <a:off x="6456680" y="4429125"/>
            <a:ext cx="480334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14F36"/>
                </a:solidFill>
                <a:latin typeface="Poppins" pitchFamily="34" charset="0"/>
                <a:ea typeface="Poppins" pitchFamily="34" charset="-122"/>
                <a:cs typeface="Poppins" pitchFamily="34" charset="-120"/>
              </a:rPr>
              <a:t>WHERE IT HANDS OVER</a:t>
            </a:r>
            <a:endParaRPr lang="en-US" sz="1200" dirty="0"/>
          </a:p>
        </p:txBody>
      </p:sp>
      <p:sp>
        <p:nvSpPr>
          <p:cNvPr id="17" name="Text 15"/>
          <p:cNvSpPr/>
          <p:nvPr/>
        </p:nvSpPr>
        <p:spPr>
          <a:xfrm>
            <a:off x="6456680" y="4731389"/>
            <a:ext cx="4803343" cy="485775"/>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4A5A5C"/>
                </a:solidFill>
                <a:latin typeface="Poppins" pitchFamily="34" charset="0"/>
                <a:ea typeface="Poppins" pitchFamily="34" charset="-122"/>
                <a:cs typeface="Poppins" pitchFamily="34" charset="-120"/>
              </a:rPr>
              <a:t>Anything custom goes to a human on WhatsApp, because a brief with a photo still needs judgement.</a:t>
            </a:r>
            <a:endParaRPr lang="en-US" sz="1250" dirty="0"/>
          </a:p>
        </p:txBody>
      </p:sp>
      <p:pic>
        <p:nvPicPr>
          <p:cNvPr id="18" name="Image 0" descr="Postr logo"/>
          <p:cNvPicPr>
            <a:picLocks noChangeAspect="1"/>
          </p:cNvPicPr>
          <p:nvPr/>
        </p:nvPicPr>
        <p:blipFill>
          <a:blip r:embed="rId3"/>
          <a:srcRect/>
          <a:stretch/>
        </p:blipFill>
        <p:spPr>
          <a:xfrm>
            <a:off x="812800" y="6228079"/>
            <a:ext cx="165100" cy="215900"/>
          </a:xfrm>
          <a:prstGeom prst="rect">
            <a:avLst/>
          </a:prstGeom>
        </p:spPr>
      </p:pic>
      <p:sp>
        <p:nvSpPr>
          <p:cNvPr id="19" name="Text 16"/>
          <p:cNvSpPr/>
          <p:nvPr/>
        </p:nvSpPr>
        <p:spPr>
          <a:xfrm>
            <a:off x="1066800" y="6220464"/>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454B"/>
                </a:solidFill>
                <a:latin typeface="Playfair Display" pitchFamily="34" charset="0"/>
                <a:ea typeface="Playfair Display" pitchFamily="34" charset="-122"/>
                <a:cs typeface="Playfair Display" pitchFamily="34" charset="-120"/>
              </a:rPr>
              <a:t>Postr.</a:t>
            </a:r>
            <a:endParaRPr lang="en-US" sz="1300" dirty="0"/>
          </a:p>
        </p:txBody>
      </p:sp>
      <p:sp>
        <p:nvSpPr>
          <p:cNvPr id="20" name="Text 17"/>
          <p:cNvSpPr/>
          <p:nvPr/>
        </p:nvSpPr>
        <p:spPr>
          <a:xfrm>
            <a:off x="8763000" y="6238242"/>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5E7175"/>
                </a:solidFill>
                <a:latin typeface="Poppins" pitchFamily="34" charset="0"/>
                <a:ea typeface="Poppins" pitchFamily="34" charset="-122"/>
                <a:cs typeface="Poppins" pitchFamily="34" charset="-120"/>
              </a:rPr>
              <a:t>11 / 25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5506"/>
          </a:xfrm>
          <a:prstGeom prst="rect">
            <a:avLst/>
          </a:prstGeom>
          <a:noFill/>
          <a:ln/>
        </p:spPr>
        <p:txBody>
          <a:bodyPr wrap="square" lIns="0" tIns="0" rIns="0" bIns="0" rtlCol="0" anchor="t">
            <a:normAutofit/>
          </a:bodyPr>
          <a:lstStyle/>
          <a:p>
            <a:pPr marL="0" indent="0" algn="l">
              <a:lnSpc>
                <a:spcPts val="1675"/>
              </a:lnSpc>
              <a:buNone/>
            </a:pPr>
            <a:r>
              <a:rPr lang="en-US" sz="1196" kern="0" spc="200" dirty="0">
                <a:solidFill>
                  <a:srgbClr val="B14F36"/>
                </a:solidFill>
                <a:latin typeface="Poppins" pitchFamily="34" charset="0"/>
                <a:ea typeface="Poppins" pitchFamily="34" charset="-122"/>
                <a:cs typeface="Poppins" pitchFamily="34" charset="-120"/>
              </a:rPr>
              <a:t>02 · DIGITAL MARKETING &amp; CUSTOMER ACQUISITION</a:t>
            </a:r>
            <a:endParaRPr lang="en-US" sz="1196" dirty="0"/>
          </a:p>
        </p:txBody>
      </p:sp>
      <p:sp>
        <p:nvSpPr>
          <p:cNvPr id="3" name="Text 1"/>
          <p:cNvSpPr/>
          <p:nvPr/>
        </p:nvSpPr>
        <p:spPr>
          <a:xfrm>
            <a:off x="812800" y="1238808"/>
            <a:ext cx="10883392" cy="520541"/>
          </a:xfrm>
          <a:prstGeom prst="rect">
            <a:avLst/>
          </a:prstGeom>
          <a:noFill/>
          <a:ln/>
        </p:spPr>
        <p:txBody>
          <a:bodyPr wrap="square" lIns="0" tIns="0" rIns="0" bIns="0" rtlCol="0" anchor="t">
            <a:normAutofit/>
          </a:bodyPr>
          <a:lstStyle/>
          <a:p>
            <a:pPr marL="0" indent="0" algn="l">
              <a:lnSpc>
                <a:spcPts val="3923"/>
              </a:lnSpc>
              <a:buNone/>
            </a:pPr>
            <a:r>
              <a:rPr lang="en-US" sz="3566" dirty="0">
                <a:solidFill>
                  <a:srgbClr val="12454B"/>
                </a:solidFill>
                <a:latin typeface="Playfair Display" pitchFamily="34" charset="0"/>
                <a:ea typeface="Playfair Display" pitchFamily="34" charset="-122"/>
                <a:cs typeface="Playfair Display" pitchFamily="34" charset="-120"/>
              </a:rPr>
              <a:t>One channel, worked hard</a:t>
            </a:r>
            <a:endParaRPr lang="en-US" sz="3566" dirty="0"/>
          </a:p>
        </p:txBody>
      </p:sp>
      <p:sp>
        <p:nvSpPr>
          <p:cNvPr id="4" name="Shape 2"/>
          <p:cNvSpPr/>
          <p:nvPr/>
        </p:nvSpPr>
        <p:spPr>
          <a:xfrm>
            <a:off x="812800" y="1949847"/>
            <a:ext cx="5194300" cy="1857137"/>
          </a:xfrm>
          <a:prstGeom prst="roundRect">
            <a:avLst>
              <a:gd name="adj" fmla="val 5471"/>
            </a:avLst>
          </a:prstGeom>
          <a:solidFill>
            <a:srgbClr val="F1EAE0"/>
          </a:solidFill>
          <a:ln/>
        </p:spPr>
        <p:txBody>
          <a:bodyPr/>
          <a:lstStyle/>
          <a:p>
            <a:endParaRPr lang="en-IN"/>
          </a:p>
        </p:txBody>
      </p:sp>
      <p:sp>
        <p:nvSpPr>
          <p:cNvPr id="5" name="Text 3"/>
          <p:cNvSpPr/>
          <p:nvPr/>
        </p:nvSpPr>
        <p:spPr>
          <a:xfrm>
            <a:off x="1028700" y="2165747"/>
            <a:ext cx="4905375" cy="248999"/>
          </a:xfrm>
          <a:prstGeom prst="rect">
            <a:avLst/>
          </a:prstGeom>
          <a:noFill/>
          <a:ln/>
        </p:spPr>
        <p:txBody>
          <a:bodyPr wrap="square" lIns="0" tIns="0" rIns="0" bIns="0" rtlCol="0" anchor="t">
            <a:normAutofit/>
          </a:bodyPr>
          <a:lstStyle/>
          <a:p>
            <a:pPr marL="0" indent="0" algn="l">
              <a:lnSpc>
                <a:spcPts val="1772"/>
              </a:lnSpc>
              <a:buNone/>
            </a:pPr>
            <a:r>
              <a:rPr lang="en-US" sz="1477" b="1" dirty="0">
                <a:solidFill>
                  <a:srgbClr val="12454B"/>
                </a:solidFill>
                <a:latin typeface="Poppins" pitchFamily="34" charset="0"/>
                <a:ea typeface="Poppins" pitchFamily="34" charset="-122"/>
                <a:cs typeface="Poppins" pitchFamily="34" charset="-120"/>
              </a:rPr>
              <a:t>Channel strategy</a:t>
            </a:r>
            <a:endParaRPr lang="en-US" sz="1477" dirty="0"/>
          </a:p>
        </p:txBody>
      </p:sp>
      <p:sp>
        <p:nvSpPr>
          <p:cNvPr id="6" name="Text 4"/>
          <p:cNvSpPr/>
          <p:nvPr/>
        </p:nvSpPr>
        <p:spPr>
          <a:xfrm>
            <a:off x="1028700" y="2465549"/>
            <a:ext cx="4905375" cy="1150938"/>
          </a:xfrm>
          <a:prstGeom prst="rect">
            <a:avLst/>
          </a:prstGeom>
          <a:noFill/>
          <a:ln/>
        </p:spPr>
        <p:txBody>
          <a:bodyPr wrap="square" lIns="0" tIns="0" rIns="0" bIns="0" rtlCol="0" anchor="t">
            <a:normAutofit/>
          </a:bodyPr>
          <a:lstStyle/>
          <a:p>
            <a:pPr marL="0" indent="0" algn="l">
              <a:lnSpc>
                <a:spcPts val="1773"/>
              </a:lnSpc>
              <a:buNone/>
            </a:pPr>
            <a:r>
              <a:rPr lang="en-US" sz="1223" dirty="0">
                <a:solidFill>
                  <a:srgbClr val="4A5A5C"/>
                </a:solidFill>
                <a:latin typeface="Poppins" pitchFamily="34" charset="0"/>
                <a:ea typeface="Poppins" pitchFamily="34" charset="-122"/>
                <a:cs typeface="Poppins" pitchFamily="34" charset="-120"/>
              </a:rPr>
              <a:t>Instagram @postr.4 is the front door; the bio link is the only route to the store, so every tap is measurable. WhatsApp handles custom briefs, where a photo and a conversation are needed. No paid spend — the ₹800 software budget went to hosting, not ads.</a:t>
            </a:r>
            <a:endParaRPr lang="en-US" sz="1223" dirty="0"/>
          </a:p>
        </p:txBody>
      </p:sp>
      <p:sp>
        <p:nvSpPr>
          <p:cNvPr id="7" name="Shape 5"/>
          <p:cNvSpPr/>
          <p:nvPr/>
        </p:nvSpPr>
        <p:spPr>
          <a:xfrm>
            <a:off x="6184900" y="1949847"/>
            <a:ext cx="5194300" cy="1857137"/>
          </a:xfrm>
          <a:prstGeom prst="roundRect">
            <a:avLst>
              <a:gd name="adj" fmla="val 5471"/>
            </a:avLst>
          </a:prstGeom>
          <a:solidFill>
            <a:srgbClr val="F1EAE0"/>
          </a:solidFill>
          <a:ln/>
        </p:spPr>
        <p:txBody>
          <a:bodyPr/>
          <a:lstStyle/>
          <a:p>
            <a:endParaRPr lang="en-IN"/>
          </a:p>
        </p:txBody>
      </p:sp>
      <p:sp>
        <p:nvSpPr>
          <p:cNvPr id="8" name="Text 6"/>
          <p:cNvSpPr/>
          <p:nvPr/>
        </p:nvSpPr>
        <p:spPr>
          <a:xfrm>
            <a:off x="6400800" y="2165747"/>
            <a:ext cx="490537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2454B"/>
                </a:solidFill>
                <a:latin typeface="Poppins" pitchFamily="34" charset="0"/>
                <a:ea typeface="Poppins" pitchFamily="34" charset="-122"/>
                <a:cs typeface="Poppins" pitchFamily="34" charset="-120"/>
              </a:rPr>
              <a:t>Content pillars</a:t>
            </a:r>
            <a:endParaRPr lang="en-US" sz="1500" dirty="0"/>
          </a:p>
        </p:txBody>
      </p:sp>
      <p:sp>
        <p:nvSpPr>
          <p:cNvPr id="9" name="Text 7"/>
          <p:cNvSpPr/>
          <p:nvPr/>
        </p:nvSpPr>
        <p:spPr>
          <a:xfrm>
            <a:off x="6400800" y="2470547"/>
            <a:ext cx="4905375" cy="946150"/>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4A5A5C"/>
                </a:solidFill>
                <a:latin typeface="Poppins" pitchFamily="34" charset="0"/>
                <a:ea typeface="Poppins" pitchFamily="34" charset="-122"/>
                <a:cs typeface="Poppins" pitchFamily="34" charset="-120"/>
              </a:rPr>
              <a:t>Four repeating formats: room styling shots that show scale, poster reveals against a wall, film and lyric nostalgia that earns shares, and behind-the-print clips from the vendor. Stories carry reach, posts carry the link.</a:t>
            </a:r>
            <a:endParaRPr lang="en-US" sz="1250" dirty="0"/>
          </a:p>
        </p:txBody>
      </p:sp>
      <p:sp>
        <p:nvSpPr>
          <p:cNvPr id="10" name="Shape 8"/>
          <p:cNvSpPr/>
          <p:nvPr/>
        </p:nvSpPr>
        <p:spPr>
          <a:xfrm>
            <a:off x="812800" y="3984786"/>
            <a:ext cx="5194300" cy="1857216"/>
          </a:xfrm>
          <a:prstGeom prst="roundRect">
            <a:avLst>
              <a:gd name="adj" fmla="val 5471"/>
            </a:avLst>
          </a:prstGeom>
          <a:solidFill>
            <a:srgbClr val="F1EAE0"/>
          </a:solidFill>
          <a:ln/>
        </p:spPr>
        <p:txBody>
          <a:bodyPr/>
          <a:lstStyle/>
          <a:p>
            <a:endParaRPr lang="en-IN"/>
          </a:p>
        </p:txBody>
      </p:sp>
      <p:sp>
        <p:nvSpPr>
          <p:cNvPr id="11" name="Text 9"/>
          <p:cNvSpPr/>
          <p:nvPr/>
        </p:nvSpPr>
        <p:spPr>
          <a:xfrm>
            <a:off x="1028700" y="4200686"/>
            <a:ext cx="4905375" cy="248999"/>
          </a:xfrm>
          <a:prstGeom prst="rect">
            <a:avLst/>
          </a:prstGeom>
          <a:noFill/>
          <a:ln/>
        </p:spPr>
        <p:txBody>
          <a:bodyPr wrap="square" lIns="0" tIns="0" rIns="0" bIns="0" rtlCol="0" anchor="t">
            <a:normAutofit/>
          </a:bodyPr>
          <a:lstStyle/>
          <a:p>
            <a:pPr marL="0" indent="0" algn="l">
              <a:lnSpc>
                <a:spcPts val="1772"/>
              </a:lnSpc>
              <a:buNone/>
            </a:pPr>
            <a:r>
              <a:rPr lang="en-US" sz="1477" b="1" dirty="0">
                <a:solidFill>
                  <a:srgbClr val="12454B"/>
                </a:solidFill>
                <a:latin typeface="Poppins" pitchFamily="34" charset="0"/>
                <a:ea typeface="Poppins" pitchFamily="34" charset="-122"/>
                <a:cs typeface="Poppins" pitchFamily="34" charset="-120"/>
              </a:rPr>
              <a:t>SEO &amp; discoverability</a:t>
            </a:r>
            <a:endParaRPr lang="en-US" sz="1477" dirty="0"/>
          </a:p>
        </p:txBody>
      </p:sp>
      <p:sp>
        <p:nvSpPr>
          <p:cNvPr id="12" name="Text 10"/>
          <p:cNvSpPr/>
          <p:nvPr/>
        </p:nvSpPr>
        <p:spPr>
          <a:xfrm>
            <a:off x="1028700" y="4500482"/>
            <a:ext cx="4905375" cy="1151017"/>
          </a:xfrm>
          <a:prstGeom prst="rect">
            <a:avLst/>
          </a:prstGeom>
          <a:noFill/>
          <a:ln/>
        </p:spPr>
        <p:txBody>
          <a:bodyPr wrap="square" lIns="0" tIns="0" rIns="0" bIns="0" rtlCol="0" anchor="t">
            <a:normAutofit/>
          </a:bodyPr>
          <a:lstStyle/>
          <a:p>
            <a:pPr marL="0" indent="0" algn="l">
              <a:lnSpc>
                <a:spcPts val="1801"/>
              </a:lnSpc>
              <a:buNone/>
            </a:pPr>
            <a:r>
              <a:rPr lang="en-US" sz="1242" dirty="0">
                <a:solidFill>
                  <a:srgbClr val="4A5A5C"/>
                </a:solidFill>
                <a:latin typeface="Poppins" pitchFamily="34" charset="0"/>
                <a:ea typeface="Poppins" pitchFamily="34" charset="-122"/>
                <a:cs typeface="Poppins" pitchFamily="34" charset="-120"/>
              </a:rPr>
              <a:t>Captions and hashtags written around what people actually search — #WallPosters, #AestheticRoom, film and artist names. Design titles double as search terms, and every SKU page carries its own title and description on the store.</a:t>
            </a:r>
            <a:endParaRPr lang="en-US" sz="1242" dirty="0"/>
          </a:p>
        </p:txBody>
      </p:sp>
      <p:sp>
        <p:nvSpPr>
          <p:cNvPr id="13" name="Shape 11"/>
          <p:cNvSpPr/>
          <p:nvPr/>
        </p:nvSpPr>
        <p:spPr>
          <a:xfrm>
            <a:off x="6184900" y="3984786"/>
            <a:ext cx="5194300" cy="1857216"/>
          </a:xfrm>
          <a:prstGeom prst="roundRect">
            <a:avLst>
              <a:gd name="adj" fmla="val 5471"/>
            </a:avLst>
          </a:prstGeom>
          <a:solidFill>
            <a:srgbClr val="F1EAE0"/>
          </a:solidFill>
          <a:ln/>
        </p:spPr>
        <p:txBody>
          <a:bodyPr/>
          <a:lstStyle/>
          <a:p>
            <a:endParaRPr lang="en-IN"/>
          </a:p>
        </p:txBody>
      </p:sp>
      <p:sp>
        <p:nvSpPr>
          <p:cNvPr id="14" name="Text 12"/>
          <p:cNvSpPr/>
          <p:nvPr/>
        </p:nvSpPr>
        <p:spPr>
          <a:xfrm>
            <a:off x="6400800" y="4200686"/>
            <a:ext cx="4905375" cy="248999"/>
          </a:xfrm>
          <a:prstGeom prst="rect">
            <a:avLst/>
          </a:prstGeom>
          <a:noFill/>
          <a:ln/>
        </p:spPr>
        <p:txBody>
          <a:bodyPr wrap="square" lIns="0" tIns="0" rIns="0" bIns="0" rtlCol="0" anchor="t">
            <a:normAutofit/>
          </a:bodyPr>
          <a:lstStyle/>
          <a:p>
            <a:pPr marL="0" indent="0" algn="l">
              <a:lnSpc>
                <a:spcPts val="1772"/>
              </a:lnSpc>
              <a:buNone/>
            </a:pPr>
            <a:r>
              <a:rPr lang="en-US" sz="1477" b="1" dirty="0">
                <a:solidFill>
                  <a:srgbClr val="12454B"/>
                </a:solidFill>
                <a:latin typeface="Poppins" pitchFamily="34" charset="0"/>
                <a:ea typeface="Poppins" pitchFamily="34" charset="-122"/>
                <a:cs typeface="Poppins" pitchFamily="34" charset="-120"/>
              </a:rPr>
              <a:t>Campaigns &amp; targeting</a:t>
            </a:r>
            <a:endParaRPr lang="en-US" sz="1477" dirty="0"/>
          </a:p>
        </p:txBody>
      </p:sp>
      <p:sp>
        <p:nvSpPr>
          <p:cNvPr id="15" name="Text 13"/>
          <p:cNvSpPr/>
          <p:nvPr/>
        </p:nvSpPr>
        <p:spPr>
          <a:xfrm>
            <a:off x="6400800" y="4500482"/>
            <a:ext cx="4905375" cy="1151017"/>
          </a:xfrm>
          <a:prstGeom prst="rect">
            <a:avLst/>
          </a:prstGeom>
          <a:noFill/>
          <a:ln/>
        </p:spPr>
        <p:txBody>
          <a:bodyPr wrap="square" lIns="0" tIns="0" rIns="0" bIns="0" rtlCol="0" anchor="t">
            <a:normAutofit/>
          </a:bodyPr>
          <a:lstStyle/>
          <a:p>
            <a:pPr marL="0" indent="0" algn="l">
              <a:lnSpc>
                <a:spcPts val="1773"/>
              </a:lnSpc>
              <a:buNone/>
            </a:pPr>
            <a:r>
              <a:rPr lang="en-US" sz="1223" dirty="0">
                <a:solidFill>
                  <a:srgbClr val="4A5A5C"/>
                </a:solidFill>
                <a:latin typeface="Poppins" pitchFamily="34" charset="0"/>
                <a:ea typeface="Poppins" pitchFamily="34" charset="-122"/>
                <a:cs typeface="Poppins" pitchFamily="34" charset="-120"/>
              </a:rPr>
              <a:t>Campus-first: hostel rooms, gifting in threes, group trips. Festival drops timed to the calendar, including a Chaturthi 2026 poster. The bio link is UTM-tagged — utm_source=ig, utm_medium=social, utm_content=link_in_bio — so store traffic is attributable.</a:t>
            </a:r>
            <a:endParaRPr lang="en-US" sz="1223" dirty="0"/>
          </a:p>
        </p:txBody>
      </p:sp>
      <p:pic>
        <p:nvPicPr>
          <p:cNvPr id="16" name="Image 0" descr="Postr logo"/>
          <p:cNvPicPr>
            <a:picLocks noChangeAspect="1"/>
          </p:cNvPicPr>
          <p:nvPr/>
        </p:nvPicPr>
        <p:blipFill>
          <a:blip r:embed="rId3"/>
          <a:srcRect/>
          <a:stretch/>
        </p:blipFill>
        <p:spPr>
          <a:xfrm>
            <a:off x="812800" y="6228079"/>
            <a:ext cx="165100" cy="215900"/>
          </a:xfrm>
          <a:prstGeom prst="rect">
            <a:avLst/>
          </a:prstGeom>
        </p:spPr>
      </p:pic>
      <p:sp>
        <p:nvSpPr>
          <p:cNvPr id="17" name="Text 14"/>
          <p:cNvSpPr/>
          <p:nvPr/>
        </p:nvSpPr>
        <p:spPr>
          <a:xfrm>
            <a:off x="1066800" y="6220464"/>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454B"/>
                </a:solidFill>
                <a:latin typeface="Playfair Display" pitchFamily="34" charset="0"/>
                <a:ea typeface="Playfair Display" pitchFamily="34" charset="-122"/>
                <a:cs typeface="Playfair Display" pitchFamily="34" charset="-120"/>
              </a:rPr>
              <a:t>Postr.</a:t>
            </a:r>
            <a:endParaRPr lang="en-US" sz="1300" dirty="0"/>
          </a:p>
        </p:txBody>
      </p:sp>
      <p:sp>
        <p:nvSpPr>
          <p:cNvPr id="18" name="Text 15"/>
          <p:cNvSpPr/>
          <p:nvPr/>
        </p:nvSpPr>
        <p:spPr>
          <a:xfrm>
            <a:off x="8763000" y="6238242"/>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5E7175"/>
                </a:solidFill>
                <a:latin typeface="Poppins" pitchFamily="34" charset="0"/>
                <a:ea typeface="Poppins" pitchFamily="34" charset="-122"/>
                <a:cs typeface="Poppins" pitchFamily="34" charset="-120"/>
              </a:rPr>
              <a:t>12 / 25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323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E8A48F"/>
                </a:solidFill>
                <a:latin typeface="Poppins" pitchFamily="34" charset="0"/>
                <a:ea typeface="Poppins" pitchFamily="34" charset="-122"/>
                <a:cs typeface="Poppins" pitchFamily="34" charset="-120"/>
              </a:rPr>
              <a:t>02 · DIGITAL MARKETING · 30-DAY SNAPSHOT, 21 AUG – 19 SEP 2026</a:t>
            </a:r>
            <a:endParaRPr lang="en-US" sz="1200" dirty="0"/>
          </a:p>
        </p:txBody>
      </p:sp>
      <p:sp>
        <p:nvSpPr>
          <p:cNvPr id="3" name="Text 1"/>
          <p:cNvSpPr/>
          <p:nvPr/>
        </p:nvSpPr>
        <p:spPr>
          <a:xfrm>
            <a:off x="812800" y="12674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FAF6F0"/>
                </a:solidFill>
                <a:latin typeface="Playfair Display" pitchFamily="34" charset="0"/>
                <a:ea typeface="Playfair Display" pitchFamily="34" charset="-122"/>
                <a:cs typeface="Playfair Display" pitchFamily="34" charset="-120"/>
              </a:rPr>
              <a:t>Reach is running ahead of the follower count</a:t>
            </a:r>
            <a:endParaRPr lang="en-US" sz="3600" dirty="0"/>
          </a:p>
        </p:txBody>
      </p:sp>
      <p:sp>
        <p:nvSpPr>
          <p:cNvPr id="4" name="Shape 2"/>
          <p:cNvSpPr/>
          <p:nvPr/>
        </p:nvSpPr>
        <p:spPr>
          <a:xfrm>
            <a:off x="812800" y="2011679"/>
            <a:ext cx="1991360" cy="1201420"/>
          </a:xfrm>
          <a:prstGeom prst="roundRect">
            <a:avLst>
              <a:gd name="adj" fmla="val 8457"/>
            </a:avLst>
          </a:prstGeom>
          <a:solidFill>
            <a:srgbClr val="12454B"/>
          </a:solidFill>
          <a:ln/>
        </p:spPr>
        <p:txBody>
          <a:bodyPr/>
          <a:lstStyle/>
          <a:p>
            <a:endParaRPr lang="en-IN"/>
          </a:p>
        </p:txBody>
      </p:sp>
      <p:sp>
        <p:nvSpPr>
          <p:cNvPr id="5" name="Text 3"/>
          <p:cNvSpPr/>
          <p:nvPr/>
        </p:nvSpPr>
        <p:spPr>
          <a:xfrm>
            <a:off x="1003300" y="2202179"/>
            <a:ext cx="1661160" cy="589280"/>
          </a:xfrm>
          <a:prstGeom prst="rect">
            <a:avLst/>
          </a:prstGeom>
          <a:noFill/>
          <a:ln/>
        </p:spPr>
        <p:txBody>
          <a:bodyPr wrap="square" lIns="0" tIns="0" rIns="0" bIns="0" rtlCol="0" anchor="t">
            <a:normAutofit/>
          </a:bodyPr>
          <a:lstStyle/>
          <a:p>
            <a:pPr marL="0" indent="0" algn="l">
              <a:lnSpc>
                <a:spcPts val="4440"/>
              </a:lnSpc>
              <a:buNone/>
            </a:pPr>
            <a:r>
              <a:rPr lang="en-US" sz="3700" b="1" dirty="0">
                <a:solidFill>
                  <a:srgbClr val="FAF6F0"/>
                </a:solidFill>
                <a:latin typeface="Playfair Display" pitchFamily="34" charset="0"/>
                <a:ea typeface="Playfair Display" pitchFamily="34" charset="-122"/>
                <a:cs typeface="Playfair Display" pitchFamily="34" charset="-120"/>
              </a:rPr>
              <a:t>1,796</a:t>
            </a:r>
            <a:endParaRPr lang="en-US" sz="3700" dirty="0"/>
          </a:p>
        </p:txBody>
      </p:sp>
      <p:sp>
        <p:nvSpPr>
          <p:cNvPr id="6" name="Text 4"/>
          <p:cNvSpPr/>
          <p:nvPr/>
        </p:nvSpPr>
        <p:spPr>
          <a:xfrm>
            <a:off x="1003300" y="2816864"/>
            <a:ext cx="166116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A8C3C2"/>
                </a:solidFill>
                <a:latin typeface="Poppins" pitchFamily="34" charset="0"/>
                <a:ea typeface="Poppins" pitchFamily="34" charset="-122"/>
                <a:cs typeface="Poppins" pitchFamily="34" charset="-120"/>
              </a:rPr>
              <a:t>Total views</a:t>
            </a:r>
            <a:endParaRPr lang="en-US" sz="1200" dirty="0"/>
          </a:p>
        </p:txBody>
      </p:sp>
      <p:sp>
        <p:nvSpPr>
          <p:cNvPr id="7" name="Shape 5"/>
          <p:cNvSpPr/>
          <p:nvPr/>
        </p:nvSpPr>
        <p:spPr>
          <a:xfrm>
            <a:off x="2956560" y="2011679"/>
            <a:ext cx="1991360" cy="1201420"/>
          </a:xfrm>
          <a:prstGeom prst="roundRect">
            <a:avLst>
              <a:gd name="adj" fmla="val 8457"/>
            </a:avLst>
          </a:prstGeom>
          <a:solidFill>
            <a:srgbClr val="12454B"/>
          </a:solidFill>
          <a:ln/>
        </p:spPr>
        <p:txBody>
          <a:bodyPr/>
          <a:lstStyle/>
          <a:p>
            <a:endParaRPr lang="en-IN"/>
          </a:p>
        </p:txBody>
      </p:sp>
      <p:sp>
        <p:nvSpPr>
          <p:cNvPr id="8" name="Text 6"/>
          <p:cNvSpPr/>
          <p:nvPr/>
        </p:nvSpPr>
        <p:spPr>
          <a:xfrm>
            <a:off x="3147060" y="2202179"/>
            <a:ext cx="1661160" cy="589280"/>
          </a:xfrm>
          <a:prstGeom prst="rect">
            <a:avLst/>
          </a:prstGeom>
          <a:noFill/>
          <a:ln/>
        </p:spPr>
        <p:txBody>
          <a:bodyPr wrap="square" lIns="0" tIns="0" rIns="0" bIns="0" rtlCol="0" anchor="t">
            <a:normAutofit/>
          </a:bodyPr>
          <a:lstStyle/>
          <a:p>
            <a:pPr marL="0" indent="0" algn="l">
              <a:lnSpc>
                <a:spcPts val="4440"/>
              </a:lnSpc>
              <a:buNone/>
            </a:pPr>
            <a:r>
              <a:rPr lang="en-US" sz="3700" b="1" dirty="0">
                <a:solidFill>
                  <a:srgbClr val="FAF6F0"/>
                </a:solidFill>
                <a:latin typeface="Playfair Display" pitchFamily="34" charset="0"/>
                <a:ea typeface="Playfair Display" pitchFamily="34" charset="-122"/>
                <a:cs typeface="Playfair Display" pitchFamily="34" charset="-120"/>
              </a:rPr>
              <a:t>314</a:t>
            </a:r>
            <a:endParaRPr lang="en-US" sz="3700" dirty="0"/>
          </a:p>
        </p:txBody>
      </p:sp>
      <p:sp>
        <p:nvSpPr>
          <p:cNvPr id="9" name="Text 7"/>
          <p:cNvSpPr/>
          <p:nvPr/>
        </p:nvSpPr>
        <p:spPr>
          <a:xfrm>
            <a:off x="3147060" y="2816864"/>
            <a:ext cx="166116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A8C3C2"/>
                </a:solidFill>
                <a:latin typeface="Poppins" pitchFamily="34" charset="0"/>
                <a:ea typeface="Poppins" pitchFamily="34" charset="-122"/>
                <a:cs typeface="Poppins" pitchFamily="34" charset="-120"/>
              </a:rPr>
              <a:t>Profile visits</a:t>
            </a:r>
            <a:endParaRPr lang="en-US" sz="1200" dirty="0"/>
          </a:p>
        </p:txBody>
      </p:sp>
      <p:sp>
        <p:nvSpPr>
          <p:cNvPr id="10" name="Shape 8"/>
          <p:cNvSpPr/>
          <p:nvPr/>
        </p:nvSpPr>
        <p:spPr>
          <a:xfrm>
            <a:off x="5100320" y="2011679"/>
            <a:ext cx="1991360" cy="1201420"/>
          </a:xfrm>
          <a:prstGeom prst="roundRect">
            <a:avLst>
              <a:gd name="adj" fmla="val 8457"/>
            </a:avLst>
          </a:prstGeom>
          <a:solidFill>
            <a:srgbClr val="12454B"/>
          </a:solidFill>
          <a:ln/>
        </p:spPr>
        <p:txBody>
          <a:bodyPr/>
          <a:lstStyle/>
          <a:p>
            <a:endParaRPr lang="en-IN"/>
          </a:p>
        </p:txBody>
      </p:sp>
      <p:sp>
        <p:nvSpPr>
          <p:cNvPr id="11" name="Text 9"/>
          <p:cNvSpPr/>
          <p:nvPr/>
        </p:nvSpPr>
        <p:spPr>
          <a:xfrm>
            <a:off x="5290820" y="2202179"/>
            <a:ext cx="1661160" cy="589280"/>
          </a:xfrm>
          <a:prstGeom prst="rect">
            <a:avLst/>
          </a:prstGeom>
          <a:noFill/>
          <a:ln/>
        </p:spPr>
        <p:txBody>
          <a:bodyPr wrap="square" lIns="0" tIns="0" rIns="0" bIns="0" rtlCol="0" anchor="t">
            <a:normAutofit/>
          </a:bodyPr>
          <a:lstStyle/>
          <a:p>
            <a:pPr marL="0" indent="0" algn="l">
              <a:lnSpc>
                <a:spcPts val="4440"/>
              </a:lnSpc>
              <a:buNone/>
            </a:pPr>
            <a:r>
              <a:rPr lang="en-US" sz="3700" b="1" dirty="0">
                <a:solidFill>
                  <a:srgbClr val="E8A48F"/>
                </a:solidFill>
                <a:latin typeface="Playfair Display" pitchFamily="34" charset="0"/>
                <a:ea typeface="Playfair Display" pitchFamily="34" charset="-122"/>
                <a:cs typeface="Playfair Display" pitchFamily="34" charset="-120"/>
              </a:rPr>
              <a:t>34</a:t>
            </a:r>
            <a:endParaRPr lang="en-US" sz="3700" dirty="0"/>
          </a:p>
        </p:txBody>
      </p:sp>
      <p:sp>
        <p:nvSpPr>
          <p:cNvPr id="12" name="Text 10"/>
          <p:cNvSpPr/>
          <p:nvPr/>
        </p:nvSpPr>
        <p:spPr>
          <a:xfrm>
            <a:off x="5290820" y="2816864"/>
            <a:ext cx="166116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A8C3C2"/>
                </a:solidFill>
                <a:latin typeface="Poppins" pitchFamily="34" charset="0"/>
                <a:ea typeface="Poppins" pitchFamily="34" charset="-122"/>
                <a:cs typeface="Poppins" pitchFamily="34" charset="-120"/>
              </a:rPr>
              <a:t>Bio link taps</a:t>
            </a:r>
            <a:endParaRPr lang="en-US" sz="1200" dirty="0"/>
          </a:p>
        </p:txBody>
      </p:sp>
      <p:sp>
        <p:nvSpPr>
          <p:cNvPr id="13" name="Shape 11"/>
          <p:cNvSpPr/>
          <p:nvPr/>
        </p:nvSpPr>
        <p:spPr>
          <a:xfrm>
            <a:off x="7244080" y="2011679"/>
            <a:ext cx="1991360" cy="1201420"/>
          </a:xfrm>
          <a:prstGeom prst="roundRect">
            <a:avLst>
              <a:gd name="adj" fmla="val 8457"/>
            </a:avLst>
          </a:prstGeom>
          <a:solidFill>
            <a:srgbClr val="12454B"/>
          </a:solidFill>
          <a:ln/>
        </p:spPr>
        <p:txBody>
          <a:bodyPr/>
          <a:lstStyle/>
          <a:p>
            <a:endParaRPr lang="en-IN"/>
          </a:p>
        </p:txBody>
      </p:sp>
      <p:sp>
        <p:nvSpPr>
          <p:cNvPr id="14" name="Text 12"/>
          <p:cNvSpPr/>
          <p:nvPr/>
        </p:nvSpPr>
        <p:spPr>
          <a:xfrm>
            <a:off x="7434580" y="2202179"/>
            <a:ext cx="1661160" cy="589280"/>
          </a:xfrm>
          <a:prstGeom prst="rect">
            <a:avLst/>
          </a:prstGeom>
          <a:noFill/>
          <a:ln/>
        </p:spPr>
        <p:txBody>
          <a:bodyPr wrap="square" lIns="0" tIns="0" rIns="0" bIns="0" rtlCol="0" anchor="t">
            <a:normAutofit/>
          </a:bodyPr>
          <a:lstStyle/>
          <a:p>
            <a:pPr marL="0" indent="0" algn="l">
              <a:lnSpc>
                <a:spcPts val="4440"/>
              </a:lnSpc>
              <a:buNone/>
            </a:pPr>
            <a:r>
              <a:rPr lang="en-US" sz="3700" b="1" dirty="0">
                <a:solidFill>
                  <a:srgbClr val="FAF6F0"/>
                </a:solidFill>
                <a:latin typeface="Playfair Display" pitchFamily="34" charset="0"/>
                <a:ea typeface="Playfair Display" pitchFamily="34" charset="-122"/>
                <a:cs typeface="Playfair Display" pitchFamily="34" charset="-120"/>
              </a:rPr>
              <a:t>53</a:t>
            </a:r>
            <a:endParaRPr lang="en-US" sz="3700" dirty="0"/>
          </a:p>
        </p:txBody>
      </p:sp>
      <p:sp>
        <p:nvSpPr>
          <p:cNvPr id="15" name="Text 13"/>
          <p:cNvSpPr/>
          <p:nvPr/>
        </p:nvSpPr>
        <p:spPr>
          <a:xfrm>
            <a:off x="7434580" y="2816864"/>
            <a:ext cx="166116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A8C3C2"/>
                </a:solidFill>
                <a:latin typeface="Poppins" pitchFamily="34" charset="0"/>
                <a:ea typeface="Poppins" pitchFamily="34" charset="-122"/>
                <a:cs typeface="Poppins" pitchFamily="34" charset="-120"/>
              </a:rPr>
              <a:t>Interactions</a:t>
            </a:r>
            <a:endParaRPr lang="en-US" sz="1200" dirty="0"/>
          </a:p>
        </p:txBody>
      </p:sp>
      <p:sp>
        <p:nvSpPr>
          <p:cNvPr id="16" name="Shape 14"/>
          <p:cNvSpPr/>
          <p:nvPr/>
        </p:nvSpPr>
        <p:spPr>
          <a:xfrm>
            <a:off x="9387840" y="2011679"/>
            <a:ext cx="1991360" cy="1201420"/>
          </a:xfrm>
          <a:prstGeom prst="roundRect">
            <a:avLst>
              <a:gd name="adj" fmla="val 8457"/>
            </a:avLst>
          </a:prstGeom>
          <a:solidFill>
            <a:srgbClr val="12454B"/>
          </a:solidFill>
          <a:ln/>
        </p:spPr>
        <p:txBody>
          <a:bodyPr/>
          <a:lstStyle/>
          <a:p>
            <a:endParaRPr lang="en-IN"/>
          </a:p>
        </p:txBody>
      </p:sp>
      <p:sp>
        <p:nvSpPr>
          <p:cNvPr id="17" name="Text 15"/>
          <p:cNvSpPr/>
          <p:nvPr/>
        </p:nvSpPr>
        <p:spPr>
          <a:xfrm>
            <a:off x="9578340" y="2202179"/>
            <a:ext cx="1661160" cy="589280"/>
          </a:xfrm>
          <a:prstGeom prst="rect">
            <a:avLst/>
          </a:prstGeom>
          <a:noFill/>
          <a:ln/>
        </p:spPr>
        <p:txBody>
          <a:bodyPr wrap="square" lIns="0" tIns="0" rIns="0" bIns="0" rtlCol="0" anchor="t">
            <a:normAutofit/>
          </a:bodyPr>
          <a:lstStyle/>
          <a:p>
            <a:pPr marL="0" indent="0" algn="l">
              <a:lnSpc>
                <a:spcPts val="4440"/>
              </a:lnSpc>
              <a:buNone/>
            </a:pPr>
            <a:r>
              <a:rPr lang="en-US" sz="3700" b="1" dirty="0">
                <a:solidFill>
                  <a:srgbClr val="FAF6F0"/>
                </a:solidFill>
                <a:latin typeface="Playfair Display" pitchFamily="34" charset="0"/>
                <a:ea typeface="Playfair Display" pitchFamily="34" charset="-122"/>
                <a:cs typeface="Playfair Display" pitchFamily="34" charset="-120"/>
              </a:rPr>
              <a:t>27</a:t>
            </a:r>
            <a:endParaRPr lang="en-US" sz="3700" dirty="0"/>
          </a:p>
        </p:txBody>
      </p:sp>
      <p:sp>
        <p:nvSpPr>
          <p:cNvPr id="18" name="Text 16"/>
          <p:cNvSpPr/>
          <p:nvPr/>
        </p:nvSpPr>
        <p:spPr>
          <a:xfrm>
            <a:off x="9578340" y="2816864"/>
            <a:ext cx="166116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A8C3C2"/>
                </a:solidFill>
                <a:latin typeface="Poppins" pitchFamily="34" charset="0"/>
                <a:ea typeface="Poppins" pitchFamily="34" charset="-122"/>
                <a:cs typeface="Poppins" pitchFamily="34" charset="-120"/>
              </a:rPr>
              <a:t>New followers</a:t>
            </a:r>
            <a:endParaRPr lang="en-US" sz="1200" dirty="0"/>
          </a:p>
        </p:txBody>
      </p:sp>
      <p:sp>
        <p:nvSpPr>
          <p:cNvPr id="19" name="Text 17"/>
          <p:cNvSpPr/>
          <p:nvPr/>
        </p:nvSpPr>
        <p:spPr>
          <a:xfrm>
            <a:off x="812800" y="3454400"/>
            <a:ext cx="10883392" cy="26543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A8C3C2"/>
                </a:solidFill>
                <a:latin typeface="Poppins" pitchFamily="34" charset="0"/>
                <a:ea typeface="Poppins" pitchFamily="34" charset="-122"/>
                <a:cs typeface="Poppins" pitchFamily="34" charset="-120"/>
              </a:rPr>
              <a:t>65.5% of all views came from people who do not follow us — discovery is doing more work than the audience we have built.</a:t>
            </a:r>
            <a:endParaRPr lang="en-US" sz="1350" dirty="0"/>
          </a:p>
        </p:txBody>
      </p:sp>
      <p:sp>
        <p:nvSpPr>
          <p:cNvPr id="20" name="Text 18"/>
          <p:cNvSpPr/>
          <p:nvPr/>
        </p:nvSpPr>
        <p:spPr>
          <a:xfrm>
            <a:off x="812800" y="3783329"/>
            <a:ext cx="10883392" cy="26543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A8C3C2"/>
                </a:solidFill>
                <a:latin typeface="Poppins" pitchFamily="34" charset="0"/>
                <a:ea typeface="Poppins" pitchFamily="34" charset="-122"/>
                <a:cs typeface="Poppins" pitchFamily="34" charset="-120"/>
              </a:rPr>
              <a:t>314 profile visits produced 27 follows. The profile page, not the feed, is the weakest step in the journey.</a:t>
            </a:r>
            <a:endParaRPr lang="en-US" sz="1350" dirty="0"/>
          </a:p>
        </p:txBody>
      </p:sp>
      <p:sp>
        <p:nvSpPr>
          <p:cNvPr id="21" name="Text 19"/>
          <p:cNvSpPr/>
          <p:nvPr/>
        </p:nvSpPr>
        <p:spPr>
          <a:xfrm>
            <a:off x="812800" y="4112264"/>
            <a:ext cx="10883392" cy="26543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A8C3C2"/>
                </a:solidFill>
                <a:latin typeface="Poppins" pitchFamily="34" charset="0"/>
                <a:ea typeface="Poppins" pitchFamily="34" charset="-122"/>
                <a:cs typeface="Poppins" pitchFamily="34" charset="-120"/>
              </a:rPr>
              <a:t>34 bio link taps are the real pool of intent. Every conversion on the next slides is drawn from them.</a:t>
            </a:r>
            <a:endParaRPr lang="en-US" sz="1350" dirty="0"/>
          </a:p>
        </p:txBody>
      </p:sp>
      <p:pic>
        <p:nvPicPr>
          <p:cNvPr id="22" name="Image 0" descr="Postr logo"/>
          <p:cNvPicPr>
            <a:picLocks noChangeAspect="1"/>
          </p:cNvPicPr>
          <p:nvPr/>
        </p:nvPicPr>
        <p:blipFill>
          <a:blip r:embed="rId3"/>
          <a:srcRect/>
          <a:stretch/>
        </p:blipFill>
        <p:spPr>
          <a:xfrm>
            <a:off x="812800" y="6228079"/>
            <a:ext cx="165100" cy="215900"/>
          </a:xfrm>
          <a:prstGeom prst="rect">
            <a:avLst/>
          </a:prstGeom>
        </p:spPr>
      </p:pic>
      <p:sp>
        <p:nvSpPr>
          <p:cNvPr id="23" name="Text 20"/>
          <p:cNvSpPr/>
          <p:nvPr/>
        </p:nvSpPr>
        <p:spPr>
          <a:xfrm>
            <a:off x="1066800" y="6220464"/>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AF6F0"/>
                </a:solidFill>
                <a:latin typeface="Playfair Display" pitchFamily="34" charset="0"/>
                <a:ea typeface="Playfair Display" pitchFamily="34" charset="-122"/>
                <a:cs typeface="Playfair Display" pitchFamily="34" charset="-120"/>
              </a:rPr>
              <a:t>Postr.</a:t>
            </a:r>
            <a:endParaRPr lang="en-US" sz="1300" dirty="0"/>
          </a:p>
        </p:txBody>
      </p:sp>
      <p:sp>
        <p:nvSpPr>
          <p:cNvPr id="24" name="Text 21"/>
          <p:cNvSpPr/>
          <p:nvPr/>
        </p:nvSpPr>
        <p:spPr>
          <a:xfrm>
            <a:off x="8763000" y="6238242"/>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A8C3C2"/>
                </a:solidFill>
                <a:latin typeface="Poppins" pitchFamily="34" charset="0"/>
                <a:ea typeface="Poppins" pitchFamily="34" charset="-122"/>
                <a:cs typeface="Poppins" pitchFamily="34" charset="-120"/>
              </a:rPr>
              <a:t>13 / 25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323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E8A48F"/>
                </a:solidFill>
                <a:latin typeface="Poppins" pitchFamily="34" charset="0"/>
                <a:ea typeface="Poppins" pitchFamily="34" charset="-122"/>
                <a:cs typeface="Poppins" pitchFamily="34" charset="-120"/>
              </a:rPr>
              <a:t>02 · DIGITAL MARKETING · CONTENT PERFORMANCE</a:t>
            </a:r>
            <a:endParaRPr lang="en-US" sz="1200" dirty="0"/>
          </a:p>
        </p:txBody>
      </p:sp>
      <p:sp>
        <p:nvSpPr>
          <p:cNvPr id="3" name="Text 1"/>
          <p:cNvSpPr/>
          <p:nvPr/>
        </p:nvSpPr>
        <p:spPr>
          <a:xfrm>
            <a:off x="812800" y="12293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FAF6F0"/>
                </a:solidFill>
                <a:latin typeface="Playfair Display" pitchFamily="34" charset="0"/>
                <a:ea typeface="Playfair Display" pitchFamily="34" charset="-122"/>
                <a:cs typeface="Playfair Display" pitchFamily="34" charset="-120"/>
              </a:rPr>
              <a:t>Stories carry reach, posts carry intent</a:t>
            </a:r>
            <a:endParaRPr lang="en-US" sz="3600" dirty="0"/>
          </a:p>
        </p:txBody>
      </p:sp>
      <p:pic>
        <p:nvPicPr>
          <p:cNvPr id="4" name="Image 0" descr="Instagram Insights content list: top posts by views — 238, 202, 158, 153, 148, 144, 127, 121 and 108 views"/>
          <p:cNvPicPr>
            <a:picLocks noChangeAspect="1"/>
          </p:cNvPicPr>
          <p:nvPr/>
        </p:nvPicPr>
        <p:blipFill>
          <a:blip r:embed="rId3"/>
          <a:srcRect l="-38" r="-38"/>
          <a:stretch/>
        </p:blipFill>
        <p:spPr>
          <a:xfrm>
            <a:off x="812800" y="1935479"/>
            <a:ext cx="1701800" cy="3683000"/>
          </a:xfrm>
          <a:prstGeom prst="rect">
            <a:avLst/>
          </a:prstGeom>
        </p:spPr>
      </p:pic>
      <p:pic>
        <p:nvPicPr>
          <p:cNvPr id="5" name="Image 1" descr="Instagram Insights: interactions by content type — posts 26, stories 17, reels 10 — and profile activity showing 314 profile visits and 34 bio link taps"/>
          <p:cNvPicPr>
            <a:picLocks noChangeAspect="1"/>
          </p:cNvPicPr>
          <p:nvPr/>
        </p:nvPicPr>
        <p:blipFill>
          <a:blip r:embed="rId4"/>
          <a:srcRect l="-38" r="-38"/>
          <a:stretch/>
        </p:blipFill>
        <p:spPr>
          <a:xfrm>
            <a:off x="2730500" y="1935479"/>
            <a:ext cx="1701800" cy="3683000"/>
          </a:xfrm>
          <a:prstGeom prst="rect">
            <a:avLst/>
          </a:prstGeom>
        </p:spPr>
      </p:pic>
      <p:sp>
        <p:nvSpPr>
          <p:cNvPr id="6" name="Shape 2"/>
          <p:cNvSpPr/>
          <p:nvPr/>
        </p:nvSpPr>
        <p:spPr>
          <a:xfrm>
            <a:off x="4648200" y="1935479"/>
            <a:ext cx="2159000" cy="952500"/>
          </a:xfrm>
          <a:prstGeom prst="roundRect">
            <a:avLst>
              <a:gd name="adj" fmla="val 9333"/>
            </a:avLst>
          </a:prstGeom>
          <a:solidFill>
            <a:srgbClr val="12454B"/>
          </a:solidFill>
          <a:ln/>
        </p:spPr>
        <p:txBody>
          <a:bodyPr/>
          <a:lstStyle/>
          <a:p>
            <a:endParaRPr lang="en-IN"/>
          </a:p>
        </p:txBody>
      </p:sp>
      <p:sp>
        <p:nvSpPr>
          <p:cNvPr id="7" name="Text 3"/>
          <p:cNvSpPr/>
          <p:nvPr/>
        </p:nvSpPr>
        <p:spPr>
          <a:xfrm>
            <a:off x="4800600" y="2087879"/>
            <a:ext cx="1909826" cy="421640"/>
          </a:xfrm>
          <a:prstGeom prst="rect">
            <a:avLst/>
          </a:prstGeom>
          <a:noFill/>
          <a:ln/>
        </p:spPr>
        <p:txBody>
          <a:bodyPr wrap="square" lIns="0" tIns="0" rIns="0" bIns="0" rtlCol="0" anchor="t">
            <a:normAutofit/>
          </a:bodyPr>
          <a:lstStyle/>
          <a:p>
            <a:pPr marL="0" indent="0" algn="l">
              <a:lnSpc>
                <a:spcPts val="3120"/>
              </a:lnSpc>
              <a:buNone/>
            </a:pPr>
            <a:r>
              <a:rPr lang="en-US" sz="2600" b="1" dirty="0">
                <a:solidFill>
                  <a:srgbClr val="FAF6F0"/>
                </a:solidFill>
                <a:latin typeface="Playfair Display" pitchFamily="34" charset="0"/>
                <a:ea typeface="Playfair Display" pitchFamily="34" charset="-122"/>
                <a:cs typeface="Playfair Display" pitchFamily="34" charset="-120"/>
              </a:rPr>
              <a:t>900</a:t>
            </a:r>
            <a:endParaRPr lang="en-US" sz="2600" dirty="0"/>
          </a:p>
        </p:txBody>
      </p:sp>
      <p:sp>
        <p:nvSpPr>
          <p:cNvPr id="8" name="Text 4"/>
          <p:cNvSpPr/>
          <p:nvPr/>
        </p:nvSpPr>
        <p:spPr>
          <a:xfrm>
            <a:off x="4800600" y="2522221"/>
            <a:ext cx="190982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C3C2"/>
                </a:solidFill>
                <a:latin typeface="Poppins" pitchFamily="34" charset="0"/>
                <a:ea typeface="Poppins" pitchFamily="34" charset="-122"/>
                <a:cs typeface="Poppins" pitchFamily="34" charset="-120"/>
              </a:rPr>
              <a:t>Story views</a:t>
            </a:r>
            <a:endParaRPr lang="en-US" sz="1200" dirty="0"/>
          </a:p>
        </p:txBody>
      </p:sp>
      <p:sp>
        <p:nvSpPr>
          <p:cNvPr id="9" name="Shape 5"/>
          <p:cNvSpPr/>
          <p:nvPr/>
        </p:nvSpPr>
        <p:spPr>
          <a:xfrm>
            <a:off x="6934200" y="1935479"/>
            <a:ext cx="2159000" cy="952500"/>
          </a:xfrm>
          <a:prstGeom prst="roundRect">
            <a:avLst>
              <a:gd name="adj" fmla="val 9333"/>
            </a:avLst>
          </a:prstGeom>
          <a:solidFill>
            <a:srgbClr val="12454B"/>
          </a:solidFill>
          <a:ln/>
        </p:spPr>
        <p:txBody>
          <a:bodyPr/>
          <a:lstStyle/>
          <a:p>
            <a:endParaRPr lang="en-IN"/>
          </a:p>
        </p:txBody>
      </p:sp>
      <p:sp>
        <p:nvSpPr>
          <p:cNvPr id="10" name="Text 6"/>
          <p:cNvSpPr/>
          <p:nvPr/>
        </p:nvSpPr>
        <p:spPr>
          <a:xfrm>
            <a:off x="7086600" y="2087879"/>
            <a:ext cx="1909826" cy="421640"/>
          </a:xfrm>
          <a:prstGeom prst="rect">
            <a:avLst/>
          </a:prstGeom>
          <a:noFill/>
          <a:ln/>
        </p:spPr>
        <p:txBody>
          <a:bodyPr wrap="square" lIns="0" tIns="0" rIns="0" bIns="0" rtlCol="0" anchor="t">
            <a:normAutofit/>
          </a:bodyPr>
          <a:lstStyle/>
          <a:p>
            <a:pPr marL="0" indent="0" algn="l">
              <a:lnSpc>
                <a:spcPts val="3120"/>
              </a:lnSpc>
              <a:buNone/>
            </a:pPr>
            <a:r>
              <a:rPr lang="en-US" sz="2600" b="1" dirty="0">
                <a:solidFill>
                  <a:srgbClr val="FAF6F0"/>
                </a:solidFill>
                <a:latin typeface="Playfair Display" pitchFamily="34" charset="0"/>
                <a:ea typeface="Playfair Display" pitchFamily="34" charset="-122"/>
                <a:cs typeface="Playfair Display" pitchFamily="34" charset="-120"/>
              </a:rPr>
              <a:t>475</a:t>
            </a:r>
            <a:endParaRPr lang="en-US" sz="2600" dirty="0"/>
          </a:p>
        </p:txBody>
      </p:sp>
      <p:sp>
        <p:nvSpPr>
          <p:cNvPr id="11" name="Text 7"/>
          <p:cNvSpPr/>
          <p:nvPr/>
        </p:nvSpPr>
        <p:spPr>
          <a:xfrm>
            <a:off x="7086600" y="2522221"/>
            <a:ext cx="190982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C3C2"/>
                </a:solidFill>
                <a:latin typeface="Poppins" pitchFamily="34" charset="0"/>
                <a:ea typeface="Poppins" pitchFamily="34" charset="-122"/>
                <a:cs typeface="Poppins" pitchFamily="34" charset="-120"/>
              </a:rPr>
              <a:t>Post views</a:t>
            </a:r>
            <a:endParaRPr lang="en-US" sz="1200" dirty="0"/>
          </a:p>
        </p:txBody>
      </p:sp>
      <p:sp>
        <p:nvSpPr>
          <p:cNvPr id="12" name="Shape 8"/>
          <p:cNvSpPr/>
          <p:nvPr/>
        </p:nvSpPr>
        <p:spPr>
          <a:xfrm>
            <a:off x="9220200" y="1935479"/>
            <a:ext cx="2159000" cy="952500"/>
          </a:xfrm>
          <a:prstGeom prst="roundRect">
            <a:avLst>
              <a:gd name="adj" fmla="val 9333"/>
            </a:avLst>
          </a:prstGeom>
          <a:solidFill>
            <a:srgbClr val="12454B"/>
          </a:solidFill>
          <a:ln/>
        </p:spPr>
        <p:txBody>
          <a:bodyPr/>
          <a:lstStyle/>
          <a:p>
            <a:endParaRPr lang="en-IN"/>
          </a:p>
        </p:txBody>
      </p:sp>
      <p:sp>
        <p:nvSpPr>
          <p:cNvPr id="13" name="Text 9"/>
          <p:cNvSpPr/>
          <p:nvPr/>
        </p:nvSpPr>
        <p:spPr>
          <a:xfrm>
            <a:off x="9372600" y="2087879"/>
            <a:ext cx="1909826" cy="421640"/>
          </a:xfrm>
          <a:prstGeom prst="rect">
            <a:avLst/>
          </a:prstGeom>
          <a:noFill/>
          <a:ln/>
        </p:spPr>
        <p:txBody>
          <a:bodyPr wrap="square" lIns="0" tIns="0" rIns="0" bIns="0" rtlCol="0" anchor="t">
            <a:normAutofit/>
          </a:bodyPr>
          <a:lstStyle/>
          <a:p>
            <a:pPr marL="0" indent="0" algn="l">
              <a:lnSpc>
                <a:spcPts val="3120"/>
              </a:lnSpc>
              <a:buNone/>
            </a:pPr>
            <a:r>
              <a:rPr lang="en-US" sz="2600" b="1" dirty="0">
                <a:solidFill>
                  <a:srgbClr val="FAF6F0"/>
                </a:solidFill>
                <a:latin typeface="Playfair Display" pitchFamily="34" charset="0"/>
                <a:ea typeface="Playfair Display" pitchFamily="34" charset="-122"/>
                <a:cs typeface="Playfair Display" pitchFamily="34" charset="-120"/>
              </a:rPr>
              <a:t>413</a:t>
            </a:r>
            <a:endParaRPr lang="en-US" sz="2600" dirty="0"/>
          </a:p>
        </p:txBody>
      </p:sp>
      <p:sp>
        <p:nvSpPr>
          <p:cNvPr id="14" name="Text 10"/>
          <p:cNvSpPr/>
          <p:nvPr/>
        </p:nvSpPr>
        <p:spPr>
          <a:xfrm>
            <a:off x="9372600" y="2522221"/>
            <a:ext cx="190982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8C3C2"/>
                </a:solidFill>
                <a:latin typeface="Poppins" pitchFamily="34" charset="0"/>
                <a:ea typeface="Poppins" pitchFamily="34" charset="-122"/>
                <a:cs typeface="Poppins" pitchFamily="34" charset="-120"/>
              </a:rPr>
              <a:t>Reel views</a:t>
            </a:r>
            <a:endParaRPr lang="en-US" sz="1200" dirty="0"/>
          </a:p>
        </p:txBody>
      </p:sp>
      <p:sp>
        <p:nvSpPr>
          <p:cNvPr id="15" name="Text 11"/>
          <p:cNvSpPr/>
          <p:nvPr/>
        </p:nvSpPr>
        <p:spPr>
          <a:xfrm>
            <a:off x="4648200" y="3027679"/>
            <a:ext cx="6932930"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A8C3C2"/>
                </a:solidFill>
                <a:latin typeface="Poppins" pitchFamily="34" charset="0"/>
                <a:ea typeface="Poppins" pitchFamily="34" charset="-122"/>
                <a:cs typeface="Poppins" pitchFamily="34" charset="-120"/>
              </a:rPr>
              <a:t>Stories took half of all reach, but posts produced 26 of the 53 interactions from barely a quarter of the views. Reels drew 413 views and only 10 interactions.</a:t>
            </a:r>
            <a:endParaRPr lang="en-US" sz="1300" dirty="0"/>
          </a:p>
        </p:txBody>
      </p:sp>
      <p:sp>
        <p:nvSpPr>
          <p:cNvPr id="16" name="Text 12"/>
          <p:cNvSpPr/>
          <p:nvPr/>
        </p:nvSpPr>
        <p:spPr>
          <a:xfrm>
            <a:off x="4648200" y="3646171"/>
            <a:ext cx="6932930"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A8C3C2"/>
                </a:solidFill>
                <a:latin typeface="Poppins" pitchFamily="34" charset="0"/>
                <a:ea typeface="Poppins" pitchFamily="34" charset="-122"/>
                <a:cs typeface="Poppins" pitchFamily="34" charset="-120"/>
              </a:rPr>
              <a:t>Top piece: </a:t>
            </a:r>
            <a:r>
              <a:rPr lang="en-US" sz="1300" b="1" dirty="0">
                <a:solidFill>
                  <a:srgbClr val="A8C3C2"/>
                </a:solidFill>
                <a:latin typeface="Poppins" pitchFamily="34" charset="0"/>
                <a:ea typeface="Poppins" pitchFamily="34" charset="-122"/>
                <a:cs typeface="Poppins" pitchFamily="34" charset="-120"/>
              </a:rPr>
              <a:t>"Don't just scroll… come visit"</a:t>
            </a:r>
            <a:r>
              <a:rPr lang="en-US" sz="1300" dirty="0">
                <a:solidFill>
                  <a:srgbClr val="A8C3C2"/>
                </a:solidFill>
                <a:latin typeface="Poppins" pitchFamily="34" charset="0"/>
                <a:ea typeface="Poppins" pitchFamily="34" charset="-122"/>
                <a:cs typeface="Poppins" pitchFamily="34" charset="-120"/>
              </a:rPr>
              <a:t> at 238 views, about 18% ahead of the next best. A direct invitation beat every product-first caption we ran.</a:t>
            </a:r>
            <a:endParaRPr lang="en-US" sz="1300" dirty="0"/>
          </a:p>
        </p:txBody>
      </p:sp>
      <p:sp>
        <p:nvSpPr>
          <p:cNvPr id="17" name="Text 13"/>
          <p:cNvSpPr/>
          <p:nvPr/>
        </p:nvSpPr>
        <p:spPr>
          <a:xfrm>
            <a:off x="4648200" y="4264664"/>
            <a:ext cx="6932930"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A8C3C2"/>
                </a:solidFill>
                <a:latin typeface="Poppins" pitchFamily="34" charset="0"/>
                <a:ea typeface="Poppins" pitchFamily="34" charset="-122"/>
                <a:cs typeface="Poppins" pitchFamily="34" charset="-120"/>
              </a:rPr>
              <a:t>Every post near the top of the list carries the store link or a Shop-at tag. Reach without a route to the store does not convert.</a:t>
            </a:r>
            <a:endParaRPr lang="en-US" sz="1300" dirty="0"/>
          </a:p>
        </p:txBody>
      </p:sp>
      <p:pic>
        <p:nvPicPr>
          <p:cNvPr id="18" name="Image 2" descr="Postr logo"/>
          <p:cNvPicPr>
            <a:picLocks noChangeAspect="1"/>
          </p:cNvPicPr>
          <p:nvPr/>
        </p:nvPicPr>
        <p:blipFill>
          <a:blip r:embed="rId5"/>
          <a:srcRect/>
          <a:stretch/>
        </p:blipFill>
        <p:spPr>
          <a:xfrm>
            <a:off x="812800" y="6228079"/>
            <a:ext cx="165100" cy="215900"/>
          </a:xfrm>
          <a:prstGeom prst="rect">
            <a:avLst/>
          </a:prstGeom>
        </p:spPr>
      </p:pic>
      <p:sp>
        <p:nvSpPr>
          <p:cNvPr id="19" name="Text 14"/>
          <p:cNvSpPr/>
          <p:nvPr/>
        </p:nvSpPr>
        <p:spPr>
          <a:xfrm>
            <a:off x="1066800" y="6220464"/>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AF6F0"/>
                </a:solidFill>
                <a:latin typeface="Playfair Display" pitchFamily="34" charset="0"/>
                <a:ea typeface="Playfair Display" pitchFamily="34" charset="-122"/>
                <a:cs typeface="Playfair Display" pitchFamily="34" charset="-120"/>
              </a:rPr>
              <a:t>Postr.</a:t>
            </a:r>
            <a:endParaRPr lang="en-US" sz="1300" dirty="0"/>
          </a:p>
        </p:txBody>
      </p:sp>
      <p:sp>
        <p:nvSpPr>
          <p:cNvPr id="20" name="Text 15"/>
          <p:cNvSpPr/>
          <p:nvPr/>
        </p:nvSpPr>
        <p:spPr>
          <a:xfrm>
            <a:off x="8763000" y="6238242"/>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A8C3C2"/>
                </a:solidFill>
                <a:latin typeface="Poppins" pitchFamily="34" charset="0"/>
                <a:ea typeface="Poppins" pitchFamily="34" charset="-122"/>
                <a:cs typeface="Poppins" pitchFamily="34" charset="-120"/>
              </a:rPr>
              <a:t>14 / 25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17567"/>
          </a:xfrm>
          <a:prstGeom prst="rect">
            <a:avLst/>
          </a:prstGeom>
          <a:noFill/>
          <a:ln/>
        </p:spPr>
        <p:txBody>
          <a:bodyPr wrap="square" lIns="0" tIns="0" rIns="0" bIns="0" rtlCol="0" anchor="t">
            <a:normAutofit/>
          </a:bodyPr>
          <a:lstStyle/>
          <a:p>
            <a:pPr marL="0" indent="0" algn="l">
              <a:lnSpc>
                <a:spcPts val="1523"/>
              </a:lnSpc>
              <a:buNone/>
            </a:pPr>
            <a:r>
              <a:rPr lang="en-US" sz="1088" kern="0" spc="200" dirty="0">
                <a:solidFill>
                  <a:srgbClr val="B14F36"/>
                </a:solidFill>
                <a:latin typeface="Poppins" pitchFamily="34" charset="0"/>
                <a:ea typeface="Poppins" pitchFamily="34" charset="-122"/>
                <a:cs typeface="Poppins" pitchFamily="34" charset="-120"/>
              </a:rPr>
              <a:t>02 · DIGITAL MARKETING · EXPERIMENTATION</a:t>
            </a:r>
            <a:endParaRPr lang="en-US" sz="1088" dirty="0"/>
          </a:p>
        </p:txBody>
      </p:sp>
      <p:sp>
        <p:nvSpPr>
          <p:cNvPr id="3" name="Text 1"/>
          <p:cNvSpPr/>
          <p:nvPr/>
        </p:nvSpPr>
        <p:spPr>
          <a:xfrm>
            <a:off x="812800" y="1233568"/>
            <a:ext cx="10883392" cy="478393"/>
          </a:xfrm>
          <a:prstGeom prst="rect">
            <a:avLst/>
          </a:prstGeom>
          <a:noFill/>
          <a:ln/>
        </p:spPr>
        <p:txBody>
          <a:bodyPr wrap="square" lIns="0" tIns="0" rIns="0" bIns="0" rtlCol="0" anchor="t">
            <a:normAutofit/>
          </a:bodyPr>
          <a:lstStyle/>
          <a:p>
            <a:pPr marL="0" indent="0" algn="l">
              <a:lnSpc>
                <a:spcPts val="3564"/>
              </a:lnSpc>
              <a:buNone/>
            </a:pPr>
            <a:r>
              <a:rPr lang="en-US" sz="3240" dirty="0">
                <a:solidFill>
                  <a:srgbClr val="12454B"/>
                </a:solidFill>
                <a:latin typeface="Playfair Display" pitchFamily="34" charset="0"/>
                <a:ea typeface="Playfair Display" pitchFamily="34" charset="-122"/>
                <a:cs typeface="Playfair Display" pitchFamily="34" charset="-120"/>
              </a:rPr>
              <a:t>What we tested, and what it told us</a:t>
            </a:r>
            <a:endParaRPr lang="en-US" sz="324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915164"/>
          <a:ext cx="10566400" cy="3235167"/>
        </p:xfrm>
        <a:graphic>
          <a:graphicData uri="http://schemas.openxmlformats.org/drawingml/2006/table">
            <a:tbl>
              <a:tblPr/>
              <a:tblGrid>
                <a:gridCol w="2113280">
                  <a:extLst>
                    <a:ext uri="{9D8B030D-6E8A-4147-A177-3AD203B41FA5}">
                      <a16:colId xmlns:a16="http://schemas.microsoft.com/office/drawing/2014/main" val="20000"/>
                    </a:ext>
                  </a:extLst>
                </a:gridCol>
                <a:gridCol w="4015232">
                  <a:extLst>
                    <a:ext uri="{9D8B030D-6E8A-4147-A177-3AD203B41FA5}">
                      <a16:colId xmlns:a16="http://schemas.microsoft.com/office/drawing/2014/main" val="20001"/>
                    </a:ext>
                  </a:extLst>
                </a:gridCol>
                <a:gridCol w="4437888">
                  <a:extLst>
                    <a:ext uri="{9D8B030D-6E8A-4147-A177-3AD203B41FA5}">
                      <a16:colId xmlns:a16="http://schemas.microsoft.com/office/drawing/2014/main" val="20002"/>
                    </a:ext>
                  </a:extLst>
                </a:gridCol>
              </a:tblGrid>
              <a:tr h="430768">
                <a:tc>
                  <a:txBody>
                    <a:bodyPr/>
                    <a:lstStyle/>
                    <a:p>
                      <a:pPr marL="0" indent="0">
                        <a:lnSpc>
                          <a:spcPts val="1712"/>
                        </a:lnSpc>
                        <a:buNone/>
                      </a:pPr>
                      <a:r>
                        <a:rPr lang="en-US" sz="1223" b="1" dirty="0">
                          <a:solidFill>
                            <a:srgbClr val="FAF6F0"/>
                          </a:solidFill>
                          <a:latin typeface="Poppins" pitchFamily="34" charset="0"/>
                          <a:ea typeface="Poppins" pitchFamily="34" charset="-122"/>
                          <a:cs typeface="Poppins" pitchFamily="34" charset="-120"/>
                        </a:rPr>
                        <a:t>Test</a:t>
                      </a:r>
                      <a:endParaRPr lang="en-US" sz="1223" dirty="0">
                        <a:latin typeface="Poppins" charset="0"/>
                        <a:ea typeface="Poppins" charset="0"/>
                        <a:cs typeface="Poppins" charset="0"/>
                      </a:endParaRPr>
                    </a:p>
                  </a:txBody>
                  <a:tcPr marL="127000" marR="1270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12454B"/>
                    </a:solidFill>
                  </a:tcPr>
                </a:tc>
                <a:tc>
                  <a:txBody>
                    <a:bodyPr/>
                    <a:lstStyle/>
                    <a:p>
                      <a:pPr marL="0" indent="0">
                        <a:lnSpc>
                          <a:spcPts val="1712"/>
                        </a:lnSpc>
                        <a:buNone/>
                      </a:pPr>
                      <a:r>
                        <a:rPr lang="en-US" sz="1223" b="1" dirty="0">
                          <a:solidFill>
                            <a:srgbClr val="FAF6F0"/>
                          </a:solidFill>
                          <a:latin typeface="Poppins" pitchFamily="34" charset="0"/>
                          <a:ea typeface="Poppins" pitchFamily="34" charset="-122"/>
                          <a:cs typeface="Poppins" pitchFamily="34" charset="-120"/>
                        </a:rPr>
                        <a:t>What we changed</a:t>
                      </a:r>
                      <a:endParaRPr lang="en-US" sz="1223" dirty="0">
                        <a:latin typeface="Poppins" charset="0"/>
                        <a:ea typeface="Poppins" charset="0"/>
                        <a:cs typeface="Poppins" charset="0"/>
                      </a:endParaRPr>
                    </a:p>
                  </a:txBody>
                  <a:tcPr marL="127000" marR="1270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12454B"/>
                    </a:solidFill>
                  </a:tcPr>
                </a:tc>
                <a:tc>
                  <a:txBody>
                    <a:bodyPr/>
                    <a:lstStyle/>
                    <a:p>
                      <a:pPr marL="0" indent="0">
                        <a:lnSpc>
                          <a:spcPts val="1712"/>
                        </a:lnSpc>
                        <a:buNone/>
                      </a:pPr>
                      <a:r>
                        <a:rPr lang="en-US" sz="1223" b="1" dirty="0">
                          <a:solidFill>
                            <a:srgbClr val="FAF6F0"/>
                          </a:solidFill>
                          <a:latin typeface="Poppins" pitchFamily="34" charset="0"/>
                          <a:ea typeface="Poppins" pitchFamily="34" charset="-122"/>
                          <a:cs typeface="Poppins" pitchFamily="34" charset="-120"/>
                        </a:rPr>
                        <a:t>What came back</a:t>
                      </a:r>
                      <a:endParaRPr lang="en-US" sz="1223" dirty="0">
                        <a:latin typeface="Poppins" charset="0"/>
                        <a:ea typeface="Poppins" charset="0"/>
                        <a:cs typeface="Poppins" charset="0"/>
                      </a:endParaRPr>
                    </a:p>
                  </a:txBody>
                  <a:tcPr marL="127000" marR="1270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12454B"/>
                    </a:solidFill>
                  </a:tcPr>
                </a:tc>
                <a:extLst>
                  <a:ext uri="{0D108BD9-81ED-4DB2-BD59-A6C34878D82A}">
                    <a16:rowId xmlns:a16="http://schemas.microsoft.com/office/drawing/2014/main" val="10000"/>
                  </a:ext>
                </a:extLst>
              </a:tr>
              <a:tr h="647621">
                <a:tc>
                  <a:txBody>
                    <a:bodyPr/>
                    <a:lstStyle/>
                    <a:p>
                      <a:pPr marL="0" indent="0">
                        <a:lnSpc>
                          <a:spcPts val="1712"/>
                        </a:lnSpc>
                        <a:buNone/>
                      </a:pPr>
                      <a:r>
                        <a:rPr lang="en-US" sz="1223" dirty="0">
                          <a:solidFill>
                            <a:srgbClr val="4A5A5C"/>
                          </a:solidFill>
                          <a:latin typeface="Poppins" pitchFamily="34" charset="0"/>
                          <a:ea typeface="Poppins" pitchFamily="34" charset="-122"/>
                          <a:cs typeface="Poppins" pitchFamily="34" charset="-120"/>
                        </a:rPr>
                        <a:t>Format mix</a:t>
                      </a:r>
                      <a:endParaRPr lang="en-US" sz="1223" dirty="0">
                        <a:latin typeface="Poppins" charset="0"/>
                        <a:ea typeface="Poppins" charset="0"/>
                        <a:cs typeface="Poppins" charset="0"/>
                      </a:endParaRPr>
                    </a:p>
                  </a:txBody>
                  <a:tcPr marL="127000" marR="1270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tc>
                  <a:txBody>
                    <a:bodyPr/>
                    <a:lstStyle/>
                    <a:p>
                      <a:pPr marL="0" indent="0">
                        <a:lnSpc>
                          <a:spcPts val="1712"/>
                        </a:lnSpc>
                        <a:buNone/>
                      </a:pPr>
                      <a:r>
                        <a:rPr lang="en-US" sz="1223" dirty="0">
                          <a:solidFill>
                            <a:srgbClr val="4A5A5C"/>
                          </a:solidFill>
                          <a:latin typeface="Poppins" pitchFamily="34" charset="0"/>
                          <a:ea typeface="Poppins" pitchFamily="34" charset="-122"/>
                          <a:cs typeface="Poppins" pitchFamily="34" charset="-120"/>
                        </a:rPr>
                        <a:t>Stories against posts against reels</a:t>
                      </a:r>
                      <a:endParaRPr lang="en-US" sz="1223" dirty="0">
                        <a:latin typeface="Poppins" charset="0"/>
                        <a:ea typeface="Poppins" charset="0"/>
                        <a:cs typeface="Poppins" charset="0"/>
                      </a:endParaRPr>
                    </a:p>
                  </a:txBody>
                  <a:tcPr marL="127000" marR="1270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tc>
                  <a:txBody>
                    <a:bodyPr/>
                    <a:lstStyle/>
                    <a:p>
                      <a:pPr marL="0" indent="0">
                        <a:lnSpc>
                          <a:spcPts val="1712"/>
                        </a:lnSpc>
                        <a:buNone/>
                      </a:pPr>
                      <a:r>
                        <a:rPr lang="en-US" sz="1223" dirty="0">
                          <a:solidFill>
                            <a:srgbClr val="4A5A5C"/>
                          </a:solidFill>
                          <a:latin typeface="Poppins" pitchFamily="34" charset="0"/>
                          <a:ea typeface="Poppins" pitchFamily="34" charset="-122"/>
                          <a:cs typeface="Poppins" pitchFamily="34" charset="-120"/>
                        </a:rPr>
                        <a:t>Stories took 900 views, half of all reach; posts took 26 of 53 interactions</a:t>
                      </a:r>
                      <a:endParaRPr lang="en-US" sz="1223" dirty="0">
                        <a:latin typeface="Poppins" charset="0"/>
                        <a:ea typeface="Poppins" charset="0"/>
                        <a:cs typeface="Poppins" charset="0"/>
                      </a:endParaRPr>
                    </a:p>
                  </a:txBody>
                  <a:tcPr marL="127000" marR="1270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extLst>
                  <a:ext uri="{0D108BD9-81ED-4DB2-BD59-A6C34878D82A}">
                    <a16:rowId xmlns:a16="http://schemas.microsoft.com/office/drawing/2014/main" val="10001"/>
                  </a:ext>
                </a:extLst>
              </a:tr>
              <a:tr h="430768">
                <a:tc>
                  <a:txBody>
                    <a:bodyPr/>
                    <a:lstStyle/>
                    <a:p>
                      <a:pPr marL="0" indent="0">
                        <a:lnSpc>
                          <a:spcPts val="1712"/>
                        </a:lnSpc>
                        <a:buNone/>
                      </a:pPr>
                      <a:r>
                        <a:rPr lang="en-US" sz="1223" dirty="0">
                          <a:solidFill>
                            <a:srgbClr val="4A5A5C"/>
                          </a:solidFill>
                          <a:latin typeface="Poppins" pitchFamily="34" charset="0"/>
                          <a:ea typeface="Poppins" pitchFamily="34" charset="-122"/>
                          <a:cs typeface="Poppins" pitchFamily="34" charset="-120"/>
                        </a:rPr>
                        <a:t>Caption hook</a:t>
                      </a:r>
                      <a:endParaRPr lang="en-US" sz="1223" dirty="0">
                        <a:latin typeface="Poppins" charset="0"/>
                        <a:ea typeface="Poppins" charset="0"/>
                        <a:cs typeface="Poppins" charset="0"/>
                      </a:endParaRPr>
                    </a:p>
                  </a:txBody>
                  <a:tcPr marL="127000" marR="1270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F1EAE0"/>
                    </a:solidFill>
                  </a:tcPr>
                </a:tc>
                <a:tc>
                  <a:txBody>
                    <a:bodyPr/>
                    <a:lstStyle/>
                    <a:p>
                      <a:pPr marL="0" indent="0">
                        <a:lnSpc>
                          <a:spcPts val="1712"/>
                        </a:lnSpc>
                        <a:buNone/>
                      </a:pPr>
                      <a:r>
                        <a:rPr lang="en-US" sz="1223" dirty="0">
                          <a:solidFill>
                            <a:srgbClr val="4A5A5C"/>
                          </a:solidFill>
                          <a:latin typeface="Poppins" pitchFamily="34" charset="0"/>
                          <a:ea typeface="Poppins" pitchFamily="34" charset="-122"/>
                          <a:cs typeface="Poppins" pitchFamily="34" charset="-120"/>
                        </a:rPr>
                        <a:t>A direct invitation against a product-first line</a:t>
                      </a:r>
                      <a:endParaRPr lang="en-US" sz="1223" dirty="0">
                        <a:latin typeface="Poppins" charset="0"/>
                        <a:ea typeface="Poppins" charset="0"/>
                        <a:cs typeface="Poppins" charset="0"/>
                      </a:endParaRPr>
                    </a:p>
                  </a:txBody>
                  <a:tcPr marL="127000" marR="1270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F1EAE0"/>
                    </a:solidFill>
                  </a:tcPr>
                </a:tc>
                <a:tc>
                  <a:txBody>
                    <a:bodyPr/>
                    <a:lstStyle/>
                    <a:p>
                      <a:pPr marL="0" indent="0">
                        <a:lnSpc>
                          <a:spcPts val="1712"/>
                        </a:lnSpc>
                        <a:buNone/>
                      </a:pPr>
                      <a:r>
                        <a:rPr lang="en-US" sz="1223" dirty="0">
                          <a:solidFill>
                            <a:srgbClr val="4A5A5C"/>
                          </a:solidFill>
                          <a:latin typeface="Poppins" pitchFamily="34" charset="0"/>
                          <a:ea typeface="Poppins" pitchFamily="34" charset="-122"/>
                          <a:cs typeface="Poppins" pitchFamily="34" charset="-120"/>
                        </a:rPr>
                        <a:t>"Don't just scroll… come visit" led at 238 views</a:t>
                      </a:r>
                      <a:endParaRPr lang="en-US" sz="1223" dirty="0">
                        <a:latin typeface="Poppins" charset="0"/>
                        <a:ea typeface="Poppins" charset="0"/>
                        <a:cs typeface="Poppins" charset="0"/>
                      </a:endParaRPr>
                    </a:p>
                  </a:txBody>
                  <a:tcPr marL="127000" marR="1270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F1EAE0"/>
                    </a:solidFill>
                  </a:tcPr>
                </a:tc>
                <a:extLst>
                  <a:ext uri="{0D108BD9-81ED-4DB2-BD59-A6C34878D82A}">
                    <a16:rowId xmlns:a16="http://schemas.microsoft.com/office/drawing/2014/main" val="10002"/>
                  </a:ext>
                </a:extLst>
              </a:tr>
              <a:tr h="430768">
                <a:tc>
                  <a:txBody>
                    <a:bodyPr/>
                    <a:lstStyle/>
                    <a:p>
                      <a:pPr marL="0" indent="0">
                        <a:lnSpc>
                          <a:spcPts val="1712"/>
                        </a:lnSpc>
                        <a:buNone/>
                      </a:pPr>
                      <a:r>
                        <a:rPr lang="en-US" sz="1223" dirty="0">
                          <a:solidFill>
                            <a:srgbClr val="4A5A5C"/>
                          </a:solidFill>
                          <a:latin typeface="Poppins" pitchFamily="34" charset="0"/>
                          <a:ea typeface="Poppins" pitchFamily="34" charset="-122"/>
                          <a:cs typeface="Poppins" pitchFamily="34" charset="-120"/>
                        </a:rPr>
                        <a:t>Link placement</a:t>
                      </a:r>
                      <a:endParaRPr lang="en-US" sz="1223" dirty="0">
                        <a:latin typeface="Poppins" charset="0"/>
                        <a:ea typeface="Poppins" charset="0"/>
                        <a:cs typeface="Poppins" charset="0"/>
                      </a:endParaRPr>
                    </a:p>
                  </a:txBody>
                  <a:tcPr marL="127000" marR="1270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tc>
                  <a:txBody>
                    <a:bodyPr/>
                    <a:lstStyle/>
                    <a:p>
                      <a:pPr marL="0" indent="0">
                        <a:lnSpc>
                          <a:spcPts val="1712"/>
                        </a:lnSpc>
                        <a:buNone/>
                      </a:pPr>
                      <a:r>
                        <a:rPr lang="en-US" sz="1223" dirty="0">
                          <a:solidFill>
                            <a:srgbClr val="4A5A5C"/>
                          </a:solidFill>
                          <a:latin typeface="Poppins" pitchFamily="34" charset="0"/>
                          <a:ea typeface="Poppins" pitchFamily="34" charset="-122"/>
                          <a:cs typeface="Poppins" pitchFamily="34" charset="-120"/>
                        </a:rPr>
                        <a:t>Bio link, in-caption URL and a Shop-at tag</a:t>
                      </a:r>
                      <a:endParaRPr lang="en-US" sz="1223" dirty="0">
                        <a:latin typeface="Poppins" charset="0"/>
                        <a:ea typeface="Poppins" charset="0"/>
                        <a:cs typeface="Poppins" charset="0"/>
                      </a:endParaRPr>
                    </a:p>
                  </a:txBody>
                  <a:tcPr marL="127000" marR="1270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tc>
                  <a:txBody>
                    <a:bodyPr/>
                    <a:lstStyle/>
                    <a:p>
                      <a:pPr marL="0" indent="0">
                        <a:lnSpc>
                          <a:spcPts val="1712"/>
                        </a:lnSpc>
                        <a:buNone/>
                      </a:pPr>
                      <a:r>
                        <a:rPr lang="en-US" sz="1223" dirty="0">
                          <a:solidFill>
                            <a:srgbClr val="4A5A5C"/>
                          </a:solidFill>
                          <a:latin typeface="Poppins" pitchFamily="34" charset="0"/>
                          <a:ea typeface="Poppins" pitchFamily="34" charset="-122"/>
                          <a:cs typeface="Poppins" pitchFamily="34" charset="-120"/>
                        </a:rPr>
                        <a:t>34 bio taps; link-bearing posts filled the top of the list</a:t>
                      </a:r>
                      <a:endParaRPr lang="en-US" sz="1223" dirty="0">
                        <a:latin typeface="Poppins" charset="0"/>
                        <a:ea typeface="Poppins" charset="0"/>
                        <a:cs typeface="Poppins" charset="0"/>
                      </a:endParaRPr>
                    </a:p>
                  </a:txBody>
                  <a:tcPr marL="127000" marR="1270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extLst>
                  <a:ext uri="{0D108BD9-81ED-4DB2-BD59-A6C34878D82A}">
                    <a16:rowId xmlns:a16="http://schemas.microsoft.com/office/drawing/2014/main" val="10003"/>
                  </a:ext>
                </a:extLst>
              </a:tr>
              <a:tr h="647621">
                <a:tc>
                  <a:txBody>
                    <a:bodyPr/>
                    <a:lstStyle/>
                    <a:p>
                      <a:pPr marL="0" indent="0">
                        <a:lnSpc>
                          <a:spcPts val="1712"/>
                        </a:lnSpc>
                        <a:buNone/>
                      </a:pPr>
                      <a:r>
                        <a:rPr lang="en-US" sz="1223" dirty="0">
                          <a:solidFill>
                            <a:srgbClr val="4A5A5C"/>
                          </a:solidFill>
                          <a:latin typeface="Poppins" pitchFamily="34" charset="0"/>
                          <a:ea typeface="Poppins" pitchFamily="34" charset="-122"/>
                          <a:cs typeface="Poppins" pitchFamily="34" charset="-120"/>
                        </a:rPr>
                        <a:t>Follow-up email</a:t>
                      </a:r>
                      <a:endParaRPr lang="en-US" sz="1223" dirty="0">
                        <a:latin typeface="Poppins" charset="0"/>
                        <a:ea typeface="Poppins" charset="0"/>
                        <a:cs typeface="Poppins" charset="0"/>
                      </a:endParaRPr>
                    </a:p>
                  </a:txBody>
                  <a:tcPr marL="127000" marR="1270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F1EAE0"/>
                    </a:solidFill>
                  </a:tcPr>
                </a:tc>
                <a:tc>
                  <a:txBody>
                    <a:bodyPr/>
                    <a:lstStyle/>
                    <a:p>
                      <a:pPr marL="0" indent="0">
                        <a:lnSpc>
                          <a:spcPts val="1712"/>
                        </a:lnSpc>
                        <a:buNone/>
                      </a:pPr>
                      <a:r>
                        <a:rPr lang="en-US" sz="1223" dirty="0">
                          <a:solidFill>
                            <a:srgbClr val="4A5A5C"/>
                          </a:solidFill>
                          <a:latin typeface="Poppins" pitchFamily="34" charset="0"/>
                          <a:ea typeface="Poppins" pitchFamily="34" charset="-122"/>
                          <a:cs typeface="Poppins" pitchFamily="34" charset="-120"/>
                        </a:rPr>
                        <a:t>Re-contacting leads who had already engaged</a:t>
                      </a:r>
                      <a:endParaRPr lang="en-US" sz="1223" dirty="0">
                        <a:latin typeface="Poppins" charset="0"/>
                        <a:ea typeface="Poppins" charset="0"/>
                        <a:cs typeface="Poppins" charset="0"/>
                      </a:endParaRPr>
                    </a:p>
                  </a:txBody>
                  <a:tcPr marL="127000" marR="1270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F1EAE0"/>
                    </a:solidFill>
                  </a:tcPr>
                </a:tc>
                <a:tc>
                  <a:txBody>
                    <a:bodyPr/>
                    <a:lstStyle/>
                    <a:p>
                      <a:pPr marL="0" indent="0">
                        <a:lnSpc>
                          <a:spcPts val="1712"/>
                        </a:lnSpc>
                        <a:buNone/>
                      </a:pPr>
                      <a:r>
                        <a:rPr lang="en-US" sz="1223" dirty="0">
                          <a:solidFill>
                            <a:srgbClr val="4A5A5C"/>
                          </a:solidFill>
                          <a:latin typeface="Poppins" pitchFamily="34" charset="0"/>
                          <a:ea typeface="Poppins" pitchFamily="34" charset="-122"/>
                          <a:cs typeface="Poppins" pitchFamily="34" charset="-120"/>
                        </a:rPr>
                        <a:t>3 more paying customers from an audience we already had</a:t>
                      </a:r>
                      <a:endParaRPr lang="en-US" sz="1223" dirty="0">
                        <a:latin typeface="Poppins" charset="0"/>
                        <a:ea typeface="Poppins" charset="0"/>
                        <a:cs typeface="Poppins" charset="0"/>
                      </a:endParaRPr>
                    </a:p>
                  </a:txBody>
                  <a:tcPr marL="127000" marR="1270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F1EAE0"/>
                    </a:solidFill>
                  </a:tcPr>
                </a:tc>
                <a:extLst>
                  <a:ext uri="{0D108BD9-81ED-4DB2-BD59-A6C34878D82A}">
                    <a16:rowId xmlns:a16="http://schemas.microsoft.com/office/drawing/2014/main" val="10004"/>
                  </a:ext>
                </a:extLst>
              </a:tr>
              <a:tr h="647621">
                <a:tc>
                  <a:txBody>
                    <a:bodyPr/>
                    <a:lstStyle/>
                    <a:p>
                      <a:pPr marL="0" indent="0">
                        <a:lnSpc>
                          <a:spcPts val="1712"/>
                        </a:lnSpc>
                        <a:buNone/>
                      </a:pPr>
                      <a:r>
                        <a:rPr lang="en-US" sz="1223" dirty="0">
                          <a:solidFill>
                            <a:srgbClr val="4A5A5C"/>
                          </a:solidFill>
                          <a:latin typeface="Poppins" pitchFamily="34" charset="0"/>
                          <a:ea typeface="Poppins" pitchFamily="34" charset="-122"/>
                          <a:cs typeface="Poppins" pitchFamily="34" charset="-120"/>
                        </a:rPr>
                        <a:t>Festival timing</a:t>
                      </a:r>
                      <a:endParaRPr lang="en-US" sz="1223" dirty="0">
                        <a:latin typeface="Poppins" charset="0"/>
                        <a:ea typeface="Poppins" charset="0"/>
                        <a:cs typeface="Poppins" charset="0"/>
                      </a:endParaRPr>
                    </a:p>
                  </a:txBody>
                  <a:tcPr marL="127000" marR="1270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tc>
                  <a:txBody>
                    <a:bodyPr/>
                    <a:lstStyle/>
                    <a:p>
                      <a:pPr marL="0" indent="0">
                        <a:lnSpc>
                          <a:spcPts val="1712"/>
                        </a:lnSpc>
                        <a:buNone/>
                      </a:pPr>
                      <a:r>
                        <a:rPr lang="en-US" sz="1223" dirty="0">
                          <a:solidFill>
                            <a:srgbClr val="4A5A5C"/>
                          </a:solidFill>
                          <a:latin typeface="Poppins" pitchFamily="34" charset="0"/>
                          <a:ea typeface="Poppins" pitchFamily="34" charset="-122"/>
                          <a:cs typeface="Poppins" pitchFamily="34" charset="-120"/>
                        </a:rPr>
                        <a:t>A Chaturthi 2026 drop against evergreen designs</a:t>
                      </a:r>
                      <a:endParaRPr lang="en-US" sz="1223" dirty="0">
                        <a:latin typeface="Poppins" charset="0"/>
                        <a:ea typeface="Poppins" charset="0"/>
                        <a:cs typeface="Poppins" charset="0"/>
                      </a:endParaRPr>
                    </a:p>
                  </a:txBody>
                  <a:tcPr marL="127000" marR="1270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tc>
                  <a:txBody>
                    <a:bodyPr/>
                    <a:lstStyle/>
                    <a:p>
                      <a:pPr marL="0" indent="0">
                        <a:lnSpc>
                          <a:spcPts val="1712"/>
                        </a:lnSpc>
                        <a:buNone/>
                      </a:pPr>
                      <a:r>
                        <a:rPr lang="en-US" sz="1223" dirty="0">
                          <a:solidFill>
                            <a:srgbClr val="4A5A5C"/>
                          </a:solidFill>
                          <a:latin typeface="Poppins" pitchFamily="34" charset="0"/>
                          <a:ea typeface="Poppins" pitchFamily="34" charset="-122"/>
                          <a:cs typeface="Poppins" pitchFamily="34" charset="-120"/>
                        </a:rPr>
                        <a:t>108 views in the six days after posting</a:t>
                      </a:r>
                      <a:endParaRPr lang="en-US" sz="1223" dirty="0">
                        <a:latin typeface="Poppins" charset="0"/>
                        <a:ea typeface="Poppins" charset="0"/>
                        <a:cs typeface="Poppins" charset="0"/>
                      </a:endParaRPr>
                    </a:p>
                  </a:txBody>
                  <a:tcPr marL="127000" marR="127000" marT="101600" marB="10160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5394170"/>
            <a:ext cx="10203180" cy="473234"/>
          </a:xfrm>
          <a:prstGeom prst="rect">
            <a:avLst/>
          </a:prstGeom>
          <a:noFill/>
          <a:ln/>
        </p:spPr>
        <p:txBody>
          <a:bodyPr wrap="square" lIns="0" tIns="0" rIns="0" bIns="0" rtlCol="0" anchor="t">
            <a:normAutofit/>
          </a:bodyPr>
          <a:lstStyle/>
          <a:p>
            <a:pPr marL="0" indent="0" algn="l">
              <a:lnSpc>
                <a:spcPts val="1786"/>
              </a:lnSpc>
              <a:buNone/>
            </a:pPr>
            <a:r>
              <a:rPr lang="en-US" sz="1232" dirty="0">
                <a:solidFill>
                  <a:srgbClr val="4A5A5C"/>
                </a:solidFill>
                <a:latin typeface="Poppins" pitchFamily="34" charset="0"/>
                <a:ea typeface="Poppins" pitchFamily="34" charset="-122"/>
                <a:cs typeface="Poppins" pitchFamily="34" charset="-120"/>
              </a:rPr>
              <a:t>The pattern across all five: reach was never the constraint. The constraint was giving a viewer somewhere to go in the same breath.</a:t>
            </a:r>
            <a:endParaRPr lang="en-US" sz="1232" dirty="0"/>
          </a:p>
        </p:txBody>
      </p:sp>
      <p:pic>
        <p:nvPicPr>
          <p:cNvPr id="6" name="Image 0" descr="Postr logo"/>
          <p:cNvPicPr>
            <a:picLocks noChangeAspect="1"/>
          </p:cNvPicPr>
          <p:nvPr/>
        </p:nvPicPr>
        <p:blipFill>
          <a:blip r:embed="rId3"/>
          <a:srcRect/>
          <a:stretch/>
        </p:blipFill>
        <p:spPr>
          <a:xfrm>
            <a:off x="812800" y="6228079"/>
            <a:ext cx="165100" cy="215900"/>
          </a:xfrm>
          <a:prstGeom prst="rect">
            <a:avLst/>
          </a:prstGeom>
        </p:spPr>
      </p:pic>
      <p:sp>
        <p:nvSpPr>
          <p:cNvPr id="7" name="Text 3"/>
          <p:cNvSpPr/>
          <p:nvPr/>
        </p:nvSpPr>
        <p:spPr>
          <a:xfrm>
            <a:off x="1066800" y="6220464"/>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454B"/>
                </a:solidFill>
                <a:latin typeface="Playfair Display" pitchFamily="34" charset="0"/>
                <a:ea typeface="Playfair Display" pitchFamily="34" charset="-122"/>
                <a:cs typeface="Playfair Display" pitchFamily="34" charset="-120"/>
              </a:rPr>
              <a:t>Postr.</a:t>
            </a:r>
            <a:endParaRPr lang="en-US" sz="1300" dirty="0"/>
          </a:p>
        </p:txBody>
      </p:sp>
      <p:sp>
        <p:nvSpPr>
          <p:cNvPr id="8" name="Text 4"/>
          <p:cNvSpPr/>
          <p:nvPr/>
        </p:nvSpPr>
        <p:spPr>
          <a:xfrm>
            <a:off x="8763000" y="6238242"/>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5E7175"/>
                </a:solidFill>
                <a:latin typeface="Poppins" pitchFamily="34" charset="0"/>
                <a:ea typeface="Poppins" pitchFamily="34" charset="-122"/>
                <a:cs typeface="Poppins" pitchFamily="34" charset="-120"/>
              </a:rPr>
              <a:t>15 / 25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454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E8A48F"/>
                </a:solidFill>
                <a:latin typeface="Poppins" pitchFamily="34" charset="0"/>
                <a:ea typeface="Poppins" pitchFamily="34" charset="-122"/>
                <a:cs typeface="Poppins" pitchFamily="34" charset="-120"/>
              </a:rPr>
              <a:t>03 · SALES &amp; CUSTOMER CONVERSION</a:t>
            </a:r>
            <a:endParaRPr lang="en-US" sz="1200" dirty="0"/>
          </a:p>
        </p:txBody>
      </p:sp>
      <p:sp>
        <p:nvSpPr>
          <p:cNvPr id="3" name="Text 1"/>
          <p:cNvSpPr/>
          <p:nvPr/>
        </p:nvSpPr>
        <p:spPr>
          <a:xfrm>
            <a:off x="812800" y="12674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FAF6F0"/>
                </a:solidFill>
                <a:latin typeface="Playfair Display" pitchFamily="34" charset="0"/>
                <a:ea typeface="Playfair Display" pitchFamily="34" charset="-122"/>
                <a:cs typeface="Playfair Display" pitchFamily="34" charset="-120"/>
              </a:rPr>
              <a:t>From a scroll to an order</a:t>
            </a:r>
            <a:endParaRPr lang="en-US" sz="3600" dirty="0"/>
          </a:p>
        </p:txBody>
      </p:sp>
      <p:sp>
        <p:nvSpPr>
          <p:cNvPr id="4" name="Shape 2"/>
          <p:cNvSpPr/>
          <p:nvPr/>
        </p:nvSpPr>
        <p:spPr>
          <a:xfrm>
            <a:off x="812800" y="2011685"/>
            <a:ext cx="2001520" cy="1585595"/>
          </a:xfrm>
          <a:prstGeom prst="roundRect">
            <a:avLst>
              <a:gd name="adj" fmla="val 6408"/>
            </a:avLst>
          </a:prstGeom>
          <a:solidFill>
            <a:srgbClr val="1A555C"/>
          </a:solidFill>
          <a:ln/>
        </p:spPr>
        <p:txBody>
          <a:bodyPr/>
          <a:lstStyle/>
          <a:p>
            <a:endParaRPr lang="en-IN"/>
          </a:p>
        </p:txBody>
      </p:sp>
      <p:sp>
        <p:nvSpPr>
          <p:cNvPr id="5" name="Text 3"/>
          <p:cNvSpPr/>
          <p:nvPr/>
        </p:nvSpPr>
        <p:spPr>
          <a:xfrm>
            <a:off x="1003300" y="2202185"/>
            <a:ext cx="1671320" cy="528320"/>
          </a:xfrm>
          <a:prstGeom prst="rect">
            <a:avLst/>
          </a:prstGeom>
          <a:noFill/>
          <a:ln/>
        </p:spPr>
        <p:txBody>
          <a:bodyPr wrap="square" lIns="0" tIns="0" rIns="0" bIns="0" rtlCol="0" anchor="t">
            <a:normAutofit/>
          </a:bodyPr>
          <a:lstStyle/>
          <a:p>
            <a:pPr marL="0" indent="0" algn="l">
              <a:lnSpc>
                <a:spcPts val="3960"/>
              </a:lnSpc>
              <a:buNone/>
            </a:pPr>
            <a:r>
              <a:rPr lang="en-US" sz="3300" b="1" dirty="0">
                <a:solidFill>
                  <a:srgbClr val="FAF6F0"/>
                </a:solidFill>
                <a:latin typeface="Playfair Display" pitchFamily="34" charset="0"/>
                <a:ea typeface="Playfair Display" pitchFamily="34" charset="-122"/>
                <a:cs typeface="Playfair Display" pitchFamily="34" charset="-120"/>
              </a:rPr>
              <a:t>1,796</a:t>
            </a:r>
            <a:endParaRPr lang="en-US" sz="3300" dirty="0"/>
          </a:p>
        </p:txBody>
      </p:sp>
      <p:sp>
        <p:nvSpPr>
          <p:cNvPr id="6" name="Text 4"/>
          <p:cNvSpPr/>
          <p:nvPr/>
        </p:nvSpPr>
        <p:spPr>
          <a:xfrm>
            <a:off x="1003300" y="2755900"/>
            <a:ext cx="167132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6E6E4"/>
                </a:solidFill>
                <a:latin typeface="Poppins" pitchFamily="34" charset="0"/>
                <a:ea typeface="Poppins" pitchFamily="34" charset="-122"/>
                <a:cs typeface="Poppins" pitchFamily="34" charset="-120"/>
              </a:rPr>
              <a:t>Views</a:t>
            </a:r>
            <a:endParaRPr lang="en-US" sz="1200" dirty="0"/>
          </a:p>
        </p:txBody>
      </p:sp>
      <p:sp>
        <p:nvSpPr>
          <p:cNvPr id="7" name="Text 5"/>
          <p:cNvSpPr/>
          <p:nvPr/>
        </p:nvSpPr>
        <p:spPr>
          <a:xfrm>
            <a:off x="1003300" y="3012442"/>
            <a:ext cx="1671320" cy="222568"/>
          </a:xfrm>
          <a:prstGeom prst="rect">
            <a:avLst/>
          </a:prstGeom>
          <a:noFill/>
          <a:ln/>
        </p:spPr>
        <p:txBody>
          <a:bodyPr wrap="square" lIns="0" tIns="0" rIns="0" bIns="0" rtlCol="0" anchor="t">
            <a:normAutofit/>
          </a:bodyPr>
          <a:lstStyle/>
          <a:p>
            <a:pPr marL="0" indent="0" algn="l">
              <a:lnSpc>
                <a:spcPts val="1553"/>
              </a:lnSpc>
              <a:buNone/>
            </a:pPr>
            <a:r>
              <a:rPr lang="en-US" sz="1150" dirty="0">
                <a:solidFill>
                  <a:srgbClr val="E8A48F"/>
                </a:solidFill>
                <a:latin typeface="Poppins" pitchFamily="34" charset="0"/>
                <a:ea typeface="Poppins" pitchFamily="34" charset="-122"/>
                <a:cs typeface="Poppins" pitchFamily="34" charset="-120"/>
              </a:rPr>
              <a:t>Top of funnel</a:t>
            </a:r>
            <a:endParaRPr lang="en-US" sz="1150" dirty="0"/>
          </a:p>
        </p:txBody>
      </p:sp>
      <p:sp>
        <p:nvSpPr>
          <p:cNvPr id="8" name="Shape 6"/>
          <p:cNvSpPr/>
          <p:nvPr/>
        </p:nvSpPr>
        <p:spPr>
          <a:xfrm>
            <a:off x="2954020" y="2011685"/>
            <a:ext cx="2001520" cy="1585595"/>
          </a:xfrm>
          <a:prstGeom prst="roundRect">
            <a:avLst>
              <a:gd name="adj" fmla="val 6408"/>
            </a:avLst>
          </a:prstGeom>
          <a:solidFill>
            <a:srgbClr val="1A555C"/>
          </a:solidFill>
          <a:ln/>
        </p:spPr>
        <p:txBody>
          <a:bodyPr/>
          <a:lstStyle/>
          <a:p>
            <a:endParaRPr lang="en-IN"/>
          </a:p>
        </p:txBody>
      </p:sp>
      <p:sp>
        <p:nvSpPr>
          <p:cNvPr id="9" name="Text 7"/>
          <p:cNvSpPr/>
          <p:nvPr/>
        </p:nvSpPr>
        <p:spPr>
          <a:xfrm>
            <a:off x="3144520" y="2202185"/>
            <a:ext cx="1671320" cy="528320"/>
          </a:xfrm>
          <a:prstGeom prst="rect">
            <a:avLst/>
          </a:prstGeom>
          <a:noFill/>
          <a:ln/>
        </p:spPr>
        <p:txBody>
          <a:bodyPr wrap="square" lIns="0" tIns="0" rIns="0" bIns="0" rtlCol="0" anchor="t">
            <a:normAutofit/>
          </a:bodyPr>
          <a:lstStyle/>
          <a:p>
            <a:pPr marL="0" indent="0" algn="l">
              <a:lnSpc>
                <a:spcPts val="3960"/>
              </a:lnSpc>
              <a:buNone/>
            </a:pPr>
            <a:r>
              <a:rPr lang="en-US" sz="3300" b="1" dirty="0">
                <a:solidFill>
                  <a:srgbClr val="FAF6F0"/>
                </a:solidFill>
                <a:latin typeface="Playfair Display" pitchFamily="34" charset="0"/>
                <a:ea typeface="Playfair Display" pitchFamily="34" charset="-122"/>
                <a:cs typeface="Playfair Display" pitchFamily="34" charset="-120"/>
              </a:rPr>
              <a:t>314</a:t>
            </a:r>
            <a:endParaRPr lang="en-US" sz="3300" dirty="0"/>
          </a:p>
        </p:txBody>
      </p:sp>
      <p:sp>
        <p:nvSpPr>
          <p:cNvPr id="10" name="Text 8"/>
          <p:cNvSpPr/>
          <p:nvPr/>
        </p:nvSpPr>
        <p:spPr>
          <a:xfrm>
            <a:off x="3144520" y="2755900"/>
            <a:ext cx="167132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6E6E4"/>
                </a:solidFill>
                <a:latin typeface="Poppins" pitchFamily="34" charset="0"/>
                <a:ea typeface="Poppins" pitchFamily="34" charset="-122"/>
                <a:cs typeface="Poppins" pitchFamily="34" charset="-120"/>
              </a:rPr>
              <a:t>Profile visits</a:t>
            </a:r>
            <a:endParaRPr lang="en-US" sz="1200" dirty="0"/>
          </a:p>
        </p:txBody>
      </p:sp>
      <p:sp>
        <p:nvSpPr>
          <p:cNvPr id="11" name="Text 9"/>
          <p:cNvSpPr/>
          <p:nvPr/>
        </p:nvSpPr>
        <p:spPr>
          <a:xfrm>
            <a:off x="3144520" y="3012442"/>
            <a:ext cx="1671320" cy="222568"/>
          </a:xfrm>
          <a:prstGeom prst="rect">
            <a:avLst/>
          </a:prstGeom>
          <a:noFill/>
          <a:ln/>
        </p:spPr>
        <p:txBody>
          <a:bodyPr wrap="square" lIns="0" tIns="0" rIns="0" bIns="0" rtlCol="0" anchor="t">
            <a:normAutofit/>
          </a:bodyPr>
          <a:lstStyle/>
          <a:p>
            <a:pPr marL="0" indent="0" algn="l">
              <a:lnSpc>
                <a:spcPts val="1553"/>
              </a:lnSpc>
              <a:buNone/>
            </a:pPr>
            <a:r>
              <a:rPr lang="en-US" sz="1150" dirty="0">
                <a:solidFill>
                  <a:srgbClr val="E8A48F"/>
                </a:solidFill>
                <a:latin typeface="Poppins" pitchFamily="34" charset="0"/>
                <a:ea typeface="Poppins" pitchFamily="34" charset="-122"/>
                <a:cs typeface="Poppins" pitchFamily="34" charset="-120"/>
              </a:rPr>
              <a:t>17.5% of views</a:t>
            </a:r>
            <a:endParaRPr lang="en-US" sz="1150" dirty="0"/>
          </a:p>
        </p:txBody>
      </p:sp>
      <p:sp>
        <p:nvSpPr>
          <p:cNvPr id="12" name="Shape 10"/>
          <p:cNvSpPr/>
          <p:nvPr/>
        </p:nvSpPr>
        <p:spPr>
          <a:xfrm>
            <a:off x="5095240" y="2011685"/>
            <a:ext cx="2001520" cy="1585595"/>
          </a:xfrm>
          <a:prstGeom prst="roundRect">
            <a:avLst>
              <a:gd name="adj" fmla="val 6408"/>
            </a:avLst>
          </a:prstGeom>
          <a:solidFill>
            <a:srgbClr val="1A555C"/>
          </a:solidFill>
          <a:ln/>
        </p:spPr>
        <p:txBody>
          <a:bodyPr/>
          <a:lstStyle/>
          <a:p>
            <a:endParaRPr lang="en-IN"/>
          </a:p>
        </p:txBody>
      </p:sp>
      <p:sp>
        <p:nvSpPr>
          <p:cNvPr id="13" name="Text 11"/>
          <p:cNvSpPr/>
          <p:nvPr/>
        </p:nvSpPr>
        <p:spPr>
          <a:xfrm>
            <a:off x="5285740" y="2202185"/>
            <a:ext cx="1671320" cy="528320"/>
          </a:xfrm>
          <a:prstGeom prst="rect">
            <a:avLst/>
          </a:prstGeom>
          <a:noFill/>
          <a:ln/>
        </p:spPr>
        <p:txBody>
          <a:bodyPr wrap="square" lIns="0" tIns="0" rIns="0" bIns="0" rtlCol="0" anchor="t">
            <a:normAutofit/>
          </a:bodyPr>
          <a:lstStyle/>
          <a:p>
            <a:pPr marL="0" indent="0" algn="l">
              <a:lnSpc>
                <a:spcPts val="3960"/>
              </a:lnSpc>
              <a:buNone/>
            </a:pPr>
            <a:r>
              <a:rPr lang="en-US" sz="3300" b="1" dirty="0">
                <a:solidFill>
                  <a:srgbClr val="FAF6F0"/>
                </a:solidFill>
                <a:latin typeface="Playfair Display" pitchFamily="34" charset="0"/>
                <a:ea typeface="Playfair Display" pitchFamily="34" charset="-122"/>
                <a:cs typeface="Playfair Display" pitchFamily="34" charset="-120"/>
              </a:rPr>
              <a:t>34</a:t>
            </a:r>
            <a:endParaRPr lang="en-US" sz="3300" dirty="0"/>
          </a:p>
        </p:txBody>
      </p:sp>
      <p:sp>
        <p:nvSpPr>
          <p:cNvPr id="14" name="Text 12"/>
          <p:cNvSpPr/>
          <p:nvPr/>
        </p:nvSpPr>
        <p:spPr>
          <a:xfrm>
            <a:off x="5285740" y="2755900"/>
            <a:ext cx="167132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6E6E4"/>
                </a:solidFill>
                <a:latin typeface="Poppins" pitchFamily="34" charset="0"/>
                <a:ea typeface="Poppins" pitchFamily="34" charset="-122"/>
                <a:cs typeface="Poppins" pitchFamily="34" charset="-120"/>
              </a:rPr>
              <a:t>Bio link taps</a:t>
            </a:r>
            <a:endParaRPr lang="en-US" sz="1200" dirty="0"/>
          </a:p>
        </p:txBody>
      </p:sp>
      <p:sp>
        <p:nvSpPr>
          <p:cNvPr id="15" name="Text 13"/>
          <p:cNvSpPr/>
          <p:nvPr/>
        </p:nvSpPr>
        <p:spPr>
          <a:xfrm>
            <a:off x="5285740" y="3012442"/>
            <a:ext cx="1671320" cy="222568"/>
          </a:xfrm>
          <a:prstGeom prst="rect">
            <a:avLst/>
          </a:prstGeom>
          <a:noFill/>
          <a:ln/>
        </p:spPr>
        <p:txBody>
          <a:bodyPr wrap="square" lIns="0" tIns="0" rIns="0" bIns="0" rtlCol="0" anchor="t">
            <a:normAutofit/>
          </a:bodyPr>
          <a:lstStyle/>
          <a:p>
            <a:pPr marL="0" indent="0" algn="l">
              <a:lnSpc>
                <a:spcPts val="1553"/>
              </a:lnSpc>
              <a:buNone/>
            </a:pPr>
            <a:r>
              <a:rPr lang="en-US" sz="1150" dirty="0">
                <a:solidFill>
                  <a:srgbClr val="E8A48F"/>
                </a:solidFill>
                <a:latin typeface="Poppins" pitchFamily="34" charset="0"/>
                <a:ea typeface="Poppins" pitchFamily="34" charset="-122"/>
                <a:cs typeface="Poppins" pitchFamily="34" charset="-120"/>
              </a:rPr>
              <a:t>10.8% of visits</a:t>
            </a:r>
            <a:endParaRPr lang="en-US" sz="1150" dirty="0"/>
          </a:p>
        </p:txBody>
      </p:sp>
      <p:sp>
        <p:nvSpPr>
          <p:cNvPr id="16" name="Shape 14"/>
          <p:cNvSpPr/>
          <p:nvPr/>
        </p:nvSpPr>
        <p:spPr>
          <a:xfrm>
            <a:off x="7236460" y="2011685"/>
            <a:ext cx="2001520" cy="1585595"/>
          </a:xfrm>
          <a:prstGeom prst="roundRect">
            <a:avLst>
              <a:gd name="adj" fmla="val 6408"/>
            </a:avLst>
          </a:prstGeom>
          <a:solidFill>
            <a:srgbClr val="1A555C"/>
          </a:solidFill>
          <a:ln/>
        </p:spPr>
        <p:txBody>
          <a:bodyPr/>
          <a:lstStyle/>
          <a:p>
            <a:endParaRPr lang="en-IN"/>
          </a:p>
        </p:txBody>
      </p:sp>
      <p:sp>
        <p:nvSpPr>
          <p:cNvPr id="17" name="Text 15"/>
          <p:cNvSpPr/>
          <p:nvPr/>
        </p:nvSpPr>
        <p:spPr>
          <a:xfrm>
            <a:off x="7426960" y="2202185"/>
            <a:ext cx="1671320" cy="528320"/>
          </a:xfrm>
          <a:prstGeom prst="rect">
            <a:avLst/>
          </a:prstGeom>
          <a:noFill/>
          <a:ln/>
        </p:spPr>
        <p:txBody>
          <a:bodyPr wrap="square" lIns="0" tIns="0" rIns="0" bIns="0" rtlCol="0" anchor="t">
            <a:normAutofit/>
          </a:bodyPr>
          <a:lstStyle/>
          <a:p>
            <a:pPr marL="0" indent="0" algn="l">
              <a:lnSpc>
                <a:spcPts val="3960"/>
              </a:lnSpc>
              <a:buNone/>
            </a:pPr>
            <a:r>
              <a:rPr lang="en-US" sz="3300" b="1" dirty="0">
                <a:solidFill>
                  <a:srgbClr val="FAF6F0"/>
                </a:solidFill>
                <a:latin typeface="Playfair Display" pitchFamily="34" charset="0"/>
                <a:ea typeface="Playfair Display" pitchFamily="34" charset="-122"/>
                <a:cs typeface="Playfair Display" pitchFamily="34" charset="-120"/>
              </a:rPr>
              <a:t>5</a:t>
            </a:r>
            <a:endParaRPr lang="en-US" sz="3300" dirty="0"/>
          </a:p>
        </p:txBody>
      </p:sp>
      <p:sp>
        <p:nvSpPr>
          <p:cNvPr id="18" name="Text 16"/>
          <p:cNvSpPr/>
          <p:nvPr/>
        </p:nvSpPr>
        <p:spPr>
          <a:xfrm>
            <a:off x="7426960" y="2755900"/>
            <a:ext cx="167132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6E6E4"/>
                </a:solidFill>
                <a:latin typeface="Poppins" pitchFamily="34" charset="0"/>
                <a:ea typeface="Poppins" pitchFamily="34" charset="-122"/>
                <a:cs typeface="Poppins" pitchFamily="34" charset="-120"/>
              </a:rPr>
              <a:t>Customers from taps</a:t>
            </a:r>
            <a:endParaRPr lang="en-US" sz="1200" dirty="0"/>
          </a:p>
        </p:txBody>
      </p:sp>
      <p:sp>
        <p:nvSpPr>
          <p:cNvPr id="19" name="Text 17"/>
          <p:cNvSpPr/>
          <p:nvPr/>
        </p:nvSpPr>
        <p:spPr>
          <a:xfrm>
            <a:off x="7426960" y="3012442"/>
            <a:ext cx="1671320" cy="222568"/>
          </a:xfrm>
          <a:prstGeom prst="rect">
            <a:avLst/>
          </a:prstGeom>
          <a:noFill/>
          <a:ln/>
        </p:spPr>
        <p:txBody>
          <a:bodyPr wrap="square" lIns="0" tIns="0" rIns="0" bIns="0" rtlCol="0" anchor="t">
            <a:normAutofit/>
          </a:bodyPr>
          <a:lstStyle/>
          <a:p>
            <a:pPr marL="0" indent="0" algn="l">
              <a:lnSpc>
                <a:spcPts val="1553"/>
              </a:lnSpc>
              <a:buNone/>
            </a:pPr>
            <a:r>
              <a:rPr lang="en-US" sz="1150" dirty="0">
                <a:solidFill>
                  <a:srgbClr val="E8A48F"/>
                </a:solidFill>
                <a:latin typeface="Poppins" pitchFamily="34" charset="0"/>
                <a:ea typeface="Poppins" pitchFamily="34" charset="-122"/>
                <a:cs typeface="Poppins" pitchFamily="34" charset="-120"/>
              </a:rPr>
              <a:t>14.7% of taps</a:t>
            </a:r>
            <a:endParaRPr lang="en-US" sz="1150" dirty="0"/>
          </a:p>
        </p:txBody>
      </p:sp>
      <p:sp>
        <p:nvSpPr>
          <p:cNvPr id="20" name="Shape 18"/>
          <p:cNvSpPr/>
          <p:nvPr/>
        </p:nvSpPr>
        <p:spPr>
          <a:xfrm>
            <a:off x="9377680" y="2011685"/>
            <a:ext cx="2001520" cy="1585595"/>
          </a:xfrm>
          <a:prstGeom prst="roundRect">
            <a:avLst>
              <a:gd name="adj" fmla="val 6408"/>
            </a:avLst>
          </a:prstGeom>
          <a:solidFill>
            <a:srgbClr val="D0684F"/>
          </a:solidFill>
          <a:ln/>
        </p:spPr>
        <p:txBody>
          <a:bodyPr/>
          <a:lstStyle/>
          <a:p>
            <a:endParaRPr lang="en-IN"/>
          </a:p>
        </p:txBody>
      </p:sp>
      <p:sp>
        <p:nvSpPr>
          <p:cNvPr id="21" name="Text 19"/>
          <p:cNvSpPr/>
          <p:nvPr/>
        </p:nvSpPr>
        <p:spPr>
          <a:xfrm>
            <a:off x="9568180" y="2202185"/>
            <a:ext cx="1671320" cy="528320"/>
          </a:xfrm>
          <a:prstGeom prst="rect">
            <a:avLst/>
          </a:prstGeom>
          <a:noFill/>
          <a:ln/>
        </p:spPr>
        <p:txBody>
          <a:bodyPr wrap="square" lIns="0" tIns="0" rIns="0" bIns="0" rtlCol="0" anchor="t">
            <a:normAutofit/>
          </a:bodyPr>
          <a:lstStyle/>
          <a:p>
            <a:pPr marL="0" indent="0" algn="l">
              <a:lnSpc>
                <a:spcPts val="3960"/>
              </a:lnSpc>
              <a:buNone/>
            </a:pPr>
            <a:r>
              <a:rPr lang="en-US" sz="3300" b="1" dirty="0">
                <a:solidFill>
                  <a:srgbClr val="2B1410"/>
                </a:solidFill>
                <a:latin typeface="Playfair Display" pitchFamily="34" charset="0"/>
                <a:ea typeface="Playfair Display" pitchFamily="34" charset="-122"/>
                <a:cs typeface="Playfair Display" pitchFamily="34" charset="-120"/>
              </a:rPr>
              <a:t>8</a:t>
            </a:r>
            <a:endParaRPr lang="en-US" sz="3300" dirty="0"/>
          </a:p>
        </p:txBody>
      </p:sp>
      <p:sp>
        <p:nvSpPr>
          <p:cNvPr id="22" name="Text 20"/>
          <p:cNvSpPr/>
          <p:nvPr/>
        </p:nvSpPr>
        <p:spPr>
          <a:xfrm>
            <a:off x="9568180" y="2755900"/>
            <a:ext cx="167132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B1410"/>
                </a:solidFill>
                <a:latin typeface="Poppins" pitchFamily="34" charset="0"/>
                <a:ea typeface="Poppins" pitchFamily="34" charset="-122"/>
                <a:cs typeface="Poppins" pitchFamily="34" charset="-120"/>
              </a:rPr>
              <a:t>Total customers</a:t>
            </a:r>
            <a:endParaRPr lang="en-US" sz="1200" dirty="0"/>
          </a:p>
        </p:txBody>
      </p:sp>
      <p:sp>
        <p:nvSpPr>
          <p:cNvPr id="23" name="Text 21"/>
          <p:cNvSpPr/>
          <p:nvPr/>
        </p:nvSpPr>
        <p:spPr>
          <a:xfrm>
            <a:off x="9568180" y="3012442"/>
            <a:ext cx="1671320" cy="419735"/>
          </a:xfrm>
          <a:prstGeom prst="rect">
            <a:avLst/>
          </a:prstGeom>
          <a:noFill/>
          <a:ln/>
        </p:spPr>
        <p:txBody>
          <a:bodyPr wrap="square" lIns="0" tIns="0" rIns="0" bIns="0" rtlCol="0" anchor="t">
            <a:normAutofit/>
          </a:bodyPr>
          <a:lstStyle/>
          <a:p>
            <a:pPr marL="0" indent="0" algn="l">
              <a:lnSpc>
                <a:spcPts val="1553"/>
              </a:lnSpc>
              <a:buNone/>
            </a:pPr>
            <a:r>
              <a:rPr lang="en-US" sz="1150" dirty="0">
                <a:solidFill>
                  <a:srgbClr val="2B1410"/>
                </a:solidFill>
                <a:latin typeface="Poppins" pitchFamily="34" charset="0"/>
                <a:ea typeface="Poppins" pitchFamily="34" charset="-122"/>
                <a:cs typeface="Poppins" pitchFamily="34" charset="-120"/>
              </a:rPr>
              <a:t>+3 from follow-up email</a:t>
            </a:r>
            <a:endParaRPr lang="en-US" sz="1150" dirty="0"/>
          </a:p>
        </p:txBody>
      </p:sp>
      <p:sp>
        <p:nvSpPr>
          <p:cNvPr id="24" name="Text 22"/>
          <p:cNvSpPr/>
          <p:nvPr/>
        </p:nvSpPr>
        <p:spPr>
          <a:xfrm>
            <a:off x="812800" y="3838575"/>
            <a:ext cx="10464800"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D6E6E4"/>
                </a:solidFill>
                <a:latin typeface="Poppins" pitchFamily="34" charset="0"/>
                <a:ea typeface="Poppins" pitchFamily="34" charset="-122"/>
                <a:cs typeface="Poppins" pitchFamily="34" charset="-120"/>
              </a:rPr>
              <a:t>Thirteen orders were recorded in the admin panel over the same window. Instagram engagement and the follow-up email are the traceable sources behind eight of the customers; end to end, a view converted at roughly 0.28%.</a:t>
            </a:r>
            <a:endParaRPr lang="en-US" sz="1400" dirty="0"/>
          </a:p>
        </p:txBody>
      </p:sp>
      <p:pic>
        <p:nvPicPr>
          <p:cNvPr id="25" name="Image 0" descr="Postr logo"/>
          <p:cNvPicPr>
            <a:picLocks noChangeAspect="1"/>
          </p:cNvPicPr>
          <p:nvPr/>
        </p:nvPicPr>
        <p:blipFill>
          <a:blip r:embed="rId3"/>
          <a:srcRect/>
          <a:stretch/>
        </p:blipFill>
        <p:spPr>
          <a:xfrm>
            <a:off x="812800" y="6228085"/>
            <a:ext cx="165100" cy="215900"/>
          </a:xfrm>
          <a:prstGeom prst="rect">
            <a:avLst/>
          </a:prstGeom>
        </p:spPr>
      </p:pic>
      <p:sp>
        <p:nvSpPr>
          <p:cNvPr id="26" name="Text 23"/>
          <p:cNvSpPr/>
          <p:nvPr/>
        </p:nvSpPr>
        <p:spPr>
          <a:xfrm>
            <a:off x="1066800" y="6220458"/>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AF6F0"/>
                </a:solidFill>
                <a:latin typeface="Playfair Display" pitchFamily="34" charset="0"/>
                <a:ea typeface="Playfair Display" pitchFamily="34" charset="-122"/>
                <a:cs typeface="Playfair Display" pitchFamily="34" charset="-120"/>
              </a:rPr>
              <a:t>Postr.</a:t>
            </a:r>
            <a:endParaRPr lang="en-US" sz="1300" dirty="0"/>
          </a:p>
        </p:txBody>
      </p:sp>
      <p:sp>
        <p:nvSpPr>
          <p:cNvPr id="27" name="Text 24"/>
          <p:cNvSpPr/>
          <p:nvPr/>
        </p:nvSpPr>
        <p:spPr>
          <a:xfrm>
            <a:off x="8763000" y="6238242"/>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A8C3C2"/>
                </a:solidFill>
                <a:latin typeface="Poppins" pitchFamily="34" charset="0"/>
                <a:ea typeface="Poppins" pitchFamily="34" charset="-122"/>
                <a:cs typeface="Poppins" pitchFamily="34" charset="-120"/>
              </a:rPr>
              <a:t>16 / 25</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B14F36"/>
                </a:solidFill>
                <a:latin typeface="Poppins" pitchFamily="34" charset="0"/>
                <a:ea typeface="Poppins" pitchFamily="34" charset="-122"/>
                <a:cs typeface="Poppins" pitchFamily="34" charset="-120"/>
              </a:rPr>
              <a:t>03 · SALES &amp; CUSTOMER CONVERSION</a:t>
            </a:r>
            <a:endParaRPr lang="en-US" sz="1200" dirty="0"/>
          </a:p>
        </p:txBody>
      </p:sp>
      <p:sp>
        <p:nvSpPr>
          <p:cNvPr id="3" name="Text 1"/>
          <p:cNvSpPr/>
          <p:nvPr/>
        </p:nvSpPr>
        <p:spPr>
          <a:xfrm>
            <a:off x="812800" y="12420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2454B"/>
                </a:solidFill>
                <a:latin typeface="Playfair Display" pitchFamily="34" charset="0"/>
                <a:ea typeface="Playfair Display" pitchFamily="34" charset="-122"/>
                <a:cs typeface="Playfair Display" pitchFamily="34" charset="-120"/>
              </a:rPr>
              <a:t>What turned intent into an order</a:t>
            </a:r>
            <a:endParaRPr lang="en-US" sz="3600" dirty="0"/>
          </a:p>
        </p:txBody>
      </p:sp>
      <p:sp>
        <p:nvSpPr>
          <p:cNvPr id="4" name="Shape 2"/>
          <p:cNvSpPr/>
          <p:nvPr/>
        </p:nvSpPr>
        <p:spPr>
          <a:xfrm>
            <a:off x="812800" y="1960885"/>
            <a:ext cx="3412014" cy="1305560"/>
          </a:xfrm>
          <a:prstGeom prst="roundRect">
            <a:avLst>
              <a:gd name="adj" fmla="val 7782"/>
            </a:avLst>
          </a:prstGeom>
          <a:solidFill>
            <a:srgbClr val="F1EAE0"/>
          </a:solidFill>
          <a:ln/>
        </p:spPr>
        <p:txBody>
          <a:bodyPr/>
          <a:lstStyle/>
          <a:p>
            <a:endParaRPr lang="en-IN"/>
          </a:p>
        </p:txBody>
      </p:sp>
      <p:sp>
        <p:nvSpPr>
          <p:cNvPr id="5" name="Text 3"/>
          <p:cNvSpPr/>
          <p:nvPr/>
        </p:nvSpPr>
        <p:spPr>
          <a:xfrm>
            <a:off x="1003300" y="2151385"/>
            <a:ext cx="3121944" cy="246380"/>
          </a:xfrm>
          <a:prstGeom prst="rect">
            <a:avLst/>
          </a:prstGeom>
          <a:noFill/>
          <a:ln/>
        </p:spPr>
        <p:txBody>
          <a:bodyPr wrap="square" lIns="0" tIns="0" rIns="0" bIns="0" rtlCol="0" anchor="t">
            <a:normAutofit/>
          </a:bodyPr>
          <a:lstStyle/>
          <a:p>
            <a:pPr marL="0" indent="0" algn="l">
              <a:lnSpc>
                <a:spcPts val="1740"/>
              </a:lnSpc>
              <a:buNone/>
            </a:pPr>
            <a:r>
              <a:rPr lang="en-US" sz="1450" b="1" dirty="0">
                <a:solidFill>
                  <a:srgbClr val="12454B"/>
                </a:solidFill>
                <a:latin typeface="Poppins" pitchFamily="34" charset="0"/>
                <a:ea typeface="Poppins" pitchFamily="34" charset="-122"/>
                <a:cs typeface="Poppins" pitchFamily="34" charset="-120"/>
              </a:rPr>
              <a:t>One tap to the store</a:t>
            </a:r>
            <a:endParaRPr lang="en-US" sz="1450" dirty="0"/>
          </a:p>
        </p:txBody>
      </p:sp>
      <p:sp>
        <p:nvSpPr>
          <p:cNvPr id="6" name="Text 4"/>
          <p:cNvSpPr/>
          <p:nvPr/>
        </p:nvSpPr>
        <p:spPr>
          <a:xfrm>
            <a:off x="1003300" y="2435858"/>
            <a:ext cx="3121944"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C"/>
                </a:solidFill>
                <a:latin typeface="Poppins" pitchFamily="34" charset="0"/>
                <a:ea typeface="Poppins" pitchFamily="34" charset="-122"/>
                <a:cs typeface="Poppins" pitchFamily="34" charset="-120"/>
              </a:rPr>
              <a:t>The UTM-tagged bio link lands on the catalogue, not a homepage. No menu to hunt through.</a:t>
            </a:r>
            <a:endParaRPr lang="en-US" sz="1200" dirty="0"/>
          </a:p>
        </p:txBody>
      </p:sp>
      <p:sp>
        <p:nvSpPr>
          <p:cNvPr id="7" name="Shape 5"/>
          <p:cNvSpPr/>
          <p:nvPr/>
        </p:nvSpPr>
        <p:spPr>
          <a:xfrm>
            <a:off x="4389914" y="1960885"/>
            <a:ext cx="3412093" cy="1305560"/>
          </a:xfrm>
          <a:prstGeom prst="roundRect">
            <a:avLst>
              <a:gd name="adj" fmla="val 7782"/>
            </a:avLst>
          </a:prstGeom>
          <a:solidFill>
            <a:srgbClr val="F1EAE0"/>
          </a:solidFill>
          <a:ln/>
        </p:spPr>
        <p:txBody>
          <a:bodyPr/>
          <a:lstStyle/>
          <a:p>
            <a:endParaRPr lang="en-IN"/>
          </a:p>
        </p:txBody>
      </p:sp>
      <p:sp>
        <p:nvSpPr>
          <p:cNvPr id="8" name="Text 6"/>
          <p:cNvSpPr/>
          <p:nvPr/>
        </p:nvSpPr>
        <p:spPr>
          <a:xfrm>
            <a:off x="4580414" y="2151385"/>
            <a:ext cx="3122026" cy="246380"/>
          </a:xfrm>
          <a:prstGeom prst="rect">
            <a:avLst/>
          </a:prstGeom>
          <a:noFill/>
          <a:ln/>
        </p:spPr>
        <p:txBody>
          <a:bodyPr wrap="square" lIns="0" tIns="0" rIns="0" bIns="0" rtlCol="0" anchor="t">
            <a:normAutofit/>
          </a:bodyPr>
          <a:lstStyle/>
          <a:p>
            <a:pPr marL="0" indent="0" algn="l">
              <a:lnSpc>
                <a:spcPts val="1740"/>
              </a:lnSpc>
              <a:buNone/>
            </a:pPr>
            <a:r>
              <a:rPr lang="en-US" sz="1450" b="1" dirty="0">
                <a:solidFill>
                  <a:srgbClr val="12454B"/>
                </a:solidFill>
                <a:latin typeface="Poppins" pitchFamily="34" charset="0"/>
                <a:ea typeface="Poppins" pitchFamily="34" charset="-122"/>
                <a:cs typeface="Poppins" pitchFamily="34" charset="-120"/>
              </a:rPr>
              <a:t>SKU shorthand</a:t>
            </a:r>
            <a:endParaRPr lang="en-US" sz="1450" dirty="0"/>
          </a:p>
        </p:txBody>
      </p:sp>
      <p:sp>
        <p:nvSpPr>
          <p:cNvPr id="9" name="Text 7"/>
          <p:cNvSpPr/>
          <p:nvPr/>
        </p:nvSpPr>
        <p:spPr>
          <a:xfrm>
            <a:off x="4580414" y="2435858"/>
            <a:ext cx="3122026"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C"/>
                </a:solidFill>
                <a:latin typeface="Poppins" pitchFamily="34" charset="0"/>
                <a:ea typeface="Poppins" pitchFamily="34" charset="-122"/>
                <a:cs typeface="Poppins" pitchFamily="34" charset="-120"/>
              </a:rPr>
              <a:t>Every design carries a code. A DM saying PSTR-CIN-01, A3 becomes an order in one message.</a:t>
            </a:r>
            <a:endParaRPr lang="en-US" sz="1200" dirty="0"/>
          </a:p>
        </p:txBody>
      </p:sp>
      <p:sp>
        <p:nvSpPr>
          <p:cNvPr id="10" name="Shape 8"/>
          <p:cNvSpPr/>
          <p:nvPr/>
        </p:nvSpPr>
        <p:spPr>
          <a:xfrm>
            <a:off x="7967107" y="1960885"/>
            <a:ext cx="3412093" cy="1305560"/>
          </a:xfrm>
          <a:prstGeom prst="roundRect">
            <a:avLst>
              <a:gd name="adj" fmla="val 7782"/>
            </a:avLst>
          </a:prstGeom>
          <a:solidFill>
            <a:srgbClr val="F1EAE0"/>
          </a:solidFill>
          <a:ln/>
        </p:spPr>
        <p:txBody>
          <a:bodyPr/>
          <a:lstStyle/>
          <a:p>
            <a:endParaRPr lang="en-IN"/>
          </a:p>
        </p:txBody>
      </p:sp>
      <p:sp>
        <p:nvSpPr>
          <p:cNvPr id="11" name="Text 9"/>
          <p:cNvSpPr/>
          <p:nvPr/>
        </p:nvSpPr>
        <p:spPr>
          <a:xfrm>
            <a:off x="8157607" y="2151385"/>
            <a:ext cx="3122026" cy="246380"/>
          </a:xfrm>
          <a:prstGeom prst="rect">
            <a:avLst/>
          </a:prstGeom>
          <a:noFill/>
          <a:ln/>
        </p:spPr>
        <p:txBody>
          <a:bodyPr wrap="square" lIns="0" tIns="0" rIns="0" bIns="0" rtlCol="0" anchor="t">
            <a:normAutofit/>
          </a:bodyPr>
          <a:lstStyle/>
          <a:p>
            <a:pPr marL="0" indent="0" algn="l">
              <a:lnSpc>
                <a:spcPts val="1740"/>
              </a:lnSpc>
              <a:buNone/>
            </a:pPr>
            <a:r>
              <a:rPr lang="en-US" sz="1450" b="1" dirty="0">
                <a:solidFill>
                  <a:srgbClr val="12454B"/>
                </a:solidFill>
                <a:latin typeface="Poppins" pitchFamily="34" charset="0"/>
                <a:ea typeface="Poppins" pitchFamily="34" charset="-122"/>
                <a:cs typeface="Poppins" pitchFamily="34" charset="-120"/>
              </a:rPr>
              <a:t>Bundle nudge</a:t>
            </a:r>
            <a:endParaRPr lang="en-US" sz="1450" dirty="0"/>
          </a:p>
        </p:txBody>
      </p:sp>
      <p:sp>
        <p:nvSpPr>
          <p:cNvPr id="12" name="Text 10"/>
          <p:cNvSpPr/>
          <p:nvPr/>
        </p:nvSpPr>
        <p:spPr>
          <a:xfrm>
            <a:off x="8157607" y="2435858"/>
            <a:ext cx="3122026"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C"/>
                </a:solidFill>
                <a:latin typeface="Poppins" pitchFamily="34" charset="0"/>
                <a:ea typeface="Poppins" pitchFamily="34" charset="-122"/>
                <a:cs typeface="Poppins" pitchFamily="34" charset="-120"/>
              </a:rPr>
              <a:t>Three posters take 15% off automatically. It lifts basket size without a coupon to explain.</a:t>
            </a:r>
            <a:endParaRPr lang="en-US" sz="1200" dirty="0"/>
          </a:p>
        </p:txBody>
      </p:sp>
      <p:sp>
        <p:nvSpPr>
          <p:cNvPr id="13" name="Shape 11"/>
          <p:cNvSpPr/>
          <p:nvPr/>
        </p:nvSpPr>
        <p:spPr>
          <a:xfrm>
            <a:off x="812800" y="3431542"/>
            <a:ext cx="3412014" cy="1305560"/>
          </a:xfrm>
          <a:prstGeom prst="roundRect">
            <a:avLst>
              <a:gd name="adj" fmla="val 7782"/>
            </a:avLst>
          </a:prstGeom>
          <a:solidFill>
            <a:srgbClr val="F1EAE0"/>
          </a:solidFill>
          <a:ln/>
        </p:spPr>
        <p:txBody>
          <a:bodyPr/>
          <a:lstStyle/>
          <a:p>
            <a:endParaRPr lang="en-IN"/>
          </a:p>
        </p:txBody>
      </p:sp>
      <p:sp>
        <p:nvSpPr>
          <p:cNvPr id="14" name="Text 12"/>
          <p:cNvSpPr/>
          <p:nvPr/>
        </p:nvSpPr>
        <p:spPr>
          <a:xfrm>
            <a:off x="1003300" y="3622042"/>
            <a:ext cx="3121944" cy="246380"/>
          </a:xfrm>
          <a:prstGeom prst="rect">
            <a:avLst/>
          </a:prstGeom>
          <a:noFill/>
          <a:ln/>
        </p:spPr>
        <p:txBody>
          <a:bodyPr wrap="square" lIns="0" tIns="0" rIns="0" bIns="0" rtlCol="0" anchor="t">
            <a:normAutofit/>
          </a:bodyPr>
          <a:lstStyle/>
          <a:p>
            <a:pPr marL="0" indent="0" algn="l">
              <a:lnSpc>
                <a:spcPts val="1740"/>
              </a:lnSpc>
              <a:buNone/>
            </a:pPr>
            <a:r>
              <a:rPr lang="en-US" sz="1450" b="1" dirty="0">
                <a:solidFill>
                  <a:srgbClr val="12454B"/>
                </a:solidFill>
                <a:latin typeface="Poppins" pitchFamily="34" charset="0"/>
                <a:ea typeface="Poppins" pitchFamily="34" charset="-122"/>
                <a:cs typeface="Poppins" pitchFamily="34" charset="-120"/>
              </a:rPr>
              <a:t>Payment in two taps</a:t>
            </a:r>
            <a:endParaRPr lang="en-US" sz="1450" dirty="0"/>
          </a:p>
        </p:txBody>
      </p:sp>
      <p:sp>
        <p:nvSpPr>
          <p:cNvPr id="15" name="Text 13"/>
          <p:cNvSpPr/>
          <p:nvPr/>
        </p:nvSpPr>
        <p:spPr>
          <a:xfrm>
            <a:off x="1003300" y="3906527"/>
            <a:ext cx="3121944"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C"/>
                </a:solidFill>
                <a:latin typeface="Poppins" pitchFamily="34" charset="0"/>
                <a:ea typeface="Poppins" pitchFamily="34" charset="-122"/>
                <a:cs typeface="Poppins" pitchFamily="34" charset="-120"/>
              </a:rPr>
              <a:t>UPI through Razorpay. Nobody types a card number on a phone at eleven at night.</a:t>
            </a:r>
            <a:endParaRPr lang="en-US" sz="1200" dirty="0"/>
          </a:p>
        </p:txBody>
      </p:sp>
      <p:sp>
        <p:nvSpPr>
          <p:cNvPr id="16" name="Shape 14"/>
          <p:cNvSpPr/>
          <p:nvPr/>
        </p:nvSpPr>
        <p:spPr>
          <a:xfrm>
            <a:off x="4389914" y="3431542"/>
            <a:ext cx="3412093" cy="1305560"/>
          </a:xfrm>
          <a:prstGeom prst="roundRect">
            <a:avLst>
              <a:gd name="adj" fmla="val 7782"/>
            </a:avLst>
          </a:prstGeom>
          <a:solidFill>
            <a:srgbClr val="F1EAE0"/>
          </a:solidFill>
          <a:ln/>
        </p:spPr>
        <p:txBody>
          <a:bodyPr/>
          <a:lstStyle/>
          <a:p>
            <a:endParaRPr lang="en-IN"/>
          </a:p>
        </p:txBody>
      </p:sp>
      <p:sp>
        <p:nvSpPr>
          <p:cNvPr id="17" name="Text 15"/>
          <p:cNvSpPr/>
          <p:nvPr/>
        </p:nvSpPr>
        <p:spPr>
          <a:xfrm>
            <a:off x="4580414" y="3622042"/>
            <a:ext cx="3122026" cy="246380"/>
          </a:xfrm>
          <a:prstGeom prst="rect">
            <a:avLst/>
          </a:prstGeom>
          <a:noFill/>
          <a:ln/>
        </p:spPr>
        <p:txBody>
          <a:bodyPr wrap="square" lIns="0" tIns="0" rIns="0" bIns="0" rtlCol="0" anchor="t">
            <a:normAutofit/>
          </a:bodyPr>
          <a:lstStyle/>
          <a:p>
            <a:pPr marL="0" indent="0" algn="l">
              <a:lnSpc>
                <a:spcPts val="1740"/>
              </a:lnSpc>
              <a:buNone/>
            </a:pPr>
            <a:r>
              <a:rPr lang="en-US" sz="1450" b="1" dirty="0">
                <a:solidFill>
                  <a:srgbClr val="12454B"/>
                </a:solidFill>
                <a:latin typeface="Poppins" pitchFamily="34" charset="0"/>
                <a:ea typeface="Poppins" pitchFamily="34" charset="-122"/>
                <a:cs typeface="Poppins" pitchFamily="34" charset="-120"/>
              </a:rPr>
              <a:t>Preview before print</a:t>
            </a:r>
            <a:endParaRPr lang="en-US" sz="1450" dirty="0"/>
          </a:p>
        </p:txBody>
      </p:sp>
      <p:sp>
        <p:nvSpPr>
          <p:cNvPr id="18" name="Text 16"/>
          <p:cNvSpPr/>
          <p:nvPr/>
        </p:nvSpPr>
        <p:spPr>
          <a:xfrm>
            <a:off x="4580414" y="3906527"/>
            <a:ext cx="3122026"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C"/>
                </a:solidFill>
                <a:latin typeface="Poppins" pitchFamily="34" charset="0"/>
                <a:ea typeface="Poppins" pitchFamily="34" charset="-122"/>
                <a:cs typeface="Poppins" pitchFamily="34" charset="-120"/>
              </a:rPr>
              <a:t>Custom orders see a mock-up first. It removes the fear of paying for something unseen.</a:t>
            </a:r>
            <a:endParaRPr lang="en-US" sz="1200" dirty="0"/>
          </a:p>
        </p:txBody>
      </p:sp>
      <p:sp>
        <p:nvSpPr>
          <p:cNvPr id="19" name="Shape 17"/>
          <p:cNvSpPr/>
          <p:nvPr/>
        </p:nvSpPr>
        <p:spPr>
          <a:xfrm>
            <a:off x="7967107" y="3431542"/>
            <a:ext cx="3412093" cy="1305560"/>
          </a:xfrm>
          <a:prstGeom prst="roundRect">
            <a:avLst>
              <a:gd name="adj" fmla="val 7782"/>
            </a:avLst>
          </a:prstGeom>
          <a:solidFill>
            <a:srgbClr val="F1EAE0"/>
          </a:solidFill>
          <a:ln/>
        </p:spPr>
        <p:txBody>
          <a:bodyPr/>
          <a:lstStyle/>
          <a:p>
            <a:endParaRPr lang="en-IN"/>
          </a:p>
        </p:txBody>
      </p:sp>
      <p:sp>
        <p:nvSpPr>
          <p:cNvPr id="20" name="Text 18"/>
          <p:cNvSpPr/>
          <p:nvPr/>
        </p:nvSpPr>
        <p:spPr>
          <a:xfrm>
            <a:off x="8157607" y="3622042"/>
            <a:ext cx="3122026" cy="246380"/>
          </a:xfrm>
          <a:prstGeom prst="rect">
            <a:avLst/>
          </a:prstGeom>
          <a:noFill/>
          <a:ln/>
        </p:spPr>
        <p:txBody>
          <a:bodyPr wrap="square" lIns="0" tIns="0" rIns="0" bIns="0" rtlCol="0" anchor="t">
            <a:normAutofit/>
          </a:bodyPr>
          <a:lstStyle/>
          <a:p>
            <a:pPr marL="0" indent="0" algn="l">
              <a:lnSpc>
                <a:spcPts val="1740"/>
              </a:lnSpc>
              <a:buNone/>
            </a:pPr>
            <a:r>
              <a:rPr lang="en-US" sz="1450" b="1" dirty="0">
                <a:solidFill>
                  <a:srgbClr val="12454B"/>
                </a:solidFill>
                <a:latin typeface="Poppins" pitchFamily="34" charset="0"/>
                <a:ea typeface="Poppins" pitchFamily="34" charset="-122"/>
                <a:cs typeface="Poppins" pitchFamily="34" charset="-120"/>
              </a:rPr>
              <a:t>Follow-up that closes</a:t>
            </a:r>
            <a:endParaRPr lang="en-US" sz="1450" dirty="0"/>
          </a:p>
        </p:txBody>
      </p:sp>
      <p:sp>
        <p:nvSpPr>
          <p:cNvPr id="21" name="Text 19"/>
          <p:cNvSpPr/>
          <p:nvPr/>
        </p:nvSpPr>
        <p:spPr>
          <a:xfrm>
            <a:off x="8157607" y="3906527"/>
            <a:ext cx="3122026"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C"/>
                </a:solidFill>
                <a:latin typeface="Poppins" pitchFamily="34" charset="0"/>
                <a:ea typeface="Poppins" pitchFamily="34" charset="-122"/>
                <a:cs typeface="Poppins" pitchFamily="34" charset="-120"/>
              </a:rPr>
              <a:t>An outreach email to warm leads recovered 3 customers who had engaged but not bought.</a:t>
            </a:r>
            <a:endParaRPr lang="en-US" sz="1200" dirty="0"/>
          </a:p>
        </p:txBody>
      </p:sp>
      <p:pic>
        <p:nvPicPr>
          <p:cNvPr id="22" name="Image 0" descr="Postr logo"/>
          <p:cNvPicPr>
            <a:picLocks noChangeAspect="1"/>
          </p:cNvPicPr>
          <p:nvPr/>
        </p:nvPicPr>
        <p:blipFill>
          <a:blip r:embed="rId3"/>
          <a:srcRect/>
          <a:stretch/>
        </p:blipFill>
        <p:spPr>
          <a:xfrm>
            <a:off x="812800" y="6228085"/>
            <a:ext cx="165100" cy="215900"/>
          </a:xfrm>
          <a:prstGeom prst="rect">
            <a:avLst/>
          </a:prstGeom>
        </p:spPr>
      </p:pic>
      <p:sp>
        <p:nvSpPr>
          <p:cNvPr id="23" name="Text 20"/>
          <p:cNvSpPr/>
          <p:nvPr/>
        </p:nvSpPr>
        <p:spPr>
          <a:xfrm>
            <a:off x="1066800" y="6220458"/>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454B"/>
                </a:solidFill>
                <a:latin typeface="Playfair Display" pitchFamily="34" charset="0"/>
                <a:ea typeface="Playfair Display" pitchFamily="34" charset="-122"/>
                <a:cs typeface="Playfair Display" pitchFamily="34" charset="-120"/>
              </a:rPr>
              <a:t>Postr.</a:t>
            </a:r>
            <a:endParaRPr lang="en-US" sz="1300" dirty="0"/>
          </a:p>
        </p:txBody>
      </p:sp>
      <p:sp>
        <p:nvSpPr>
          <p:cNvPr id="24" name="Text 21"/>
          <p:cNvSpPr/>
          <p:nvPr/>
        </p:nvSpPr>
        <p:spPr>
          <a:xfrm>
            <a:off x="8763000" y="6238242"/>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5E7175"/>
                </a:solidFill>
                <a:latin typeface="Poppins" pitchFamily="34" charset="0"/>
                <a:ea typeface="Poppins" pitchFamily="34" charset="-122"/>
                <a:cs typeface="Poppins" pitchFamily="34" charset="-120"/>
              </a:rPr>
              <a:t>17 / 25</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454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3362"/>
          </a:xfrm>
          <a:prstGeom prst="rect">
            <a:avLst/>
          </a:prstGeom>
          <a:noFill/>
          <a:ln/>
        </p:spPr>
        <p:txBody>
          <a:bodyPr wrap="square" lIns="0" tIns="0" rIns="0" bIns="0" rtlCol="0" anchor="t">
            <a:normAutofit/>
          </a:bodyPr>
          <a:lstStyle/>
          <a:p>
            <a:pPr marL="0" indent="0" algn="l">
              <a:lnSpc>
                <a:spcPts val="1675"/>
              </a:lnSpc>
              <a:buNone/>
            </a:pPr>
            <a:r>
              <a:rPr lang="en-US" sz="1196" kern="0" spc="200" dirty="0">
                <a:solidFill>
                  <a:srgbClr val="E8A48F"/>
                </a:solidFill>
                <a:latin typeface="Poppins" pitchFamily="34" charset="0"/>
                <a:ea typeface="Poppins" pitchFamily="34" charset="-122"/>
                <a:cs typeface="Poppins" pitchFamily="34" charset="-120"/>
              </a:rPr>
              <a:t>04 · BUSINESS PERFORMANCE &amp; PROFITABILITY</a:t>
            </a:r>
            <a:endParaRPr lang="en-US" sz="1196" dirty="0"/>
          </a:p>
        </p:txBody>
      </p:sp>
      <p:sp>
        <p:nvSpPr>
          <p:cNvPr id="3" name="Text 1"/>
          <p:cNvSpPr/>
          <p:nvPr/>
        </p:nvSpPr>
        <p:spPr>
          <a:xfrm>
            <a:off x="812800" y="1223963"/>
            <a:ext cx="10883392" cy="515699"/>
          </a:xfrm>
          <a:prstGeom prst="rect">
            <a:avLst/>
          </a:prstGeom>
          <a:noFill/>
          <a:ln/>
        </p:spPr>
        <p:txBody>
          <a:bodyPr wrap="square" lIns="0" tIns="0" rIns="0" bIns="0" rtlCol="0" anchor="t">
            <a:normAutofit/>
          </a:bodyPr>
          <a:lstStyle/>
          <a:p>
            <a:pPr marL="0" indent="0" algn="l">
              <a:lnSpc>
                <a:spcPts val="3873"/>
              </a:lnSpc>
              <a:buNone/>
            </a:pPr>
            <a:r>
              <a:rPr lang="en-US" sz="3521" dirty="0">
                <a:solidFill>
                  <a:srgbClr val="FAF6F0"/>
                </a:solidFill>
                <a:latin typeface="Playfair Display" pitchFamily="34" charset="0"/>
                <a:ea typeface="Playfair Display" pitchFamily="34" charset="-122"/>
                <a:cs typeface="Playfair Display" pitchFamily="34" charset="-120"/>
              </a:rPr>
              <a:t>₹3,350 in, ₹1,355 out</a:t>
            </a:r>
            <a:endParaRPr lang="en-US" sz="3521" dirty="0"/>
          </a:p>
        </p:txBody>
      </p:sp>
      <p:pic>
        <p:nvPicPr>
          <p:cNvPr id="4" name="Image 0" descr="Money in and out over the last 30 days: revenue bars above the line totalling ₹3,350 from 13 orders, cost bars below the line totalling ₹1,355, between 23 August and 21 September"/>
          <p:cNvPicPr>
            <a:picLocks noChangeAspect="1"/>
          </p:cNvPicPr>
          <p:nvPr/>
        </p:nvPicPr>
        <p:blipFill>
          <a:blip r:embed="rId3"/>
          <a:srcRect l="-27" r="-27"/>
          <a:stretch/>
        </p:blipFill>
        <p:spPr>
          <a:xfrm>
            <a:off x="812800" y="1917464"/>
            <a:ext cx="6858000" cy="3581400"/>
          </a:xfrm>
          <a:prstGeom prst="rect">
            <a:avLst/>
          </a:prstGeom>
        </p:spPr>
      </p:pic>
      <p:sp>
        <p:nvSpPr>
          <p:cNvPr id="5" name="Shape 2"/>
          <p:cNvSpPr/>
          <p:nvPr/>
        </p:nvSpPr>
        <p:spPr>
          <a:xfrm>
            <a:off x="7924800" y="1917464"/>
            <a:ext cx="3454400" cy="920750"/>
          </a:xfrm>
          <a:prstGeom prst="roundRect">
            <a:avLst>
              <a:gd name="adj" fmla="val 9655"/>
            </a:avLst>
          </a:prstGeom>
          <a:solidFill>
            <a:srgbClr val="1A555C"/>
          </a:solidFill>
          <a:ln/>
        </p:spPr>
        <p:txBody>
          <a:bodyPr/>
          <a:lstStyle/>
          <a:p>
            <a:endParaRPr lang="en-IN"/>
          </a:p>
        </p:txBody>
      </p:sp>
      <p:sp>
        <p:nvSpPr>
          <p:cNvPr id="6" name="Text 3"/>
          <p:cNvSpPr/>
          <p:nvPr/>
        </p:nvSpPr>
        <p:spPr>
          <a:xfrm>
            <a:off x="8064500" y="2057164"/>
            <a:ext cx="3270250" cy="229870"/>
          </a:xfrm>
          <a:prstGeom prst="rect">
            <a:avLst/>
          </a:prstGeom>
          <a:noFill/>
          <a:ln/>
        </p:spPr>
        <p:txBody>
          <a:bodyPr wrap="square" lIns="0" tIns="0" rIns="0" bIns="0" rtlCol="0" anchor="t">
            <a:normAutofit/>
          </a:bodyPr>
          <a:lstStyle/>
          <a:p>
            <a:pPr marL="0" indent="0" algn="l">
              <a:lnSpc>
                <a:spcPts val="1610"/>
              </a:lnSpc>
              <a:buNone/>
            </a:pPr>
            <a:r>
              <a:rPr lang="en-US" sz="1150" kern="0" spc="100" dirty="0">
                <a:solidFill>
                  <a:srgbClr val="D6E6E4"/>
                </a:solidFill>
                <a:latin typeface="Poppins" pitchFamily="34" charset="0"/>
                <a:ea typeface="Poppins" pitchFamily="34" charset="-122"/>
                <a:cs typeface="Poppins" pitchFamily="34" charset="-120"/>
              </a:rPr>
              <a:t>REVENUE</a:t>
            </a:r>
            <a:endParaRPr lang="en-US" sz="1150" dirty="0"/>
          </a:p>
        </p:txBody>
      </p:sp>
      <p:sp>
        <p:nvSpPr>
          <p:cNvPr id="7" name="Text 4"/>
          <p:cNvSpPr/>
          <p:nvPr/>
        </p:nvSpPr>
        <p:spPr>
          <a:xfrm>
            <a:off x="8064500" y="2287029"/>
            <a:ext cx="3270250" cy="436880"/>
          </a:xfrm>
          <a:prstGeom prst="rect">
            <a:avLst/>
          </a:prstGeom>
          <a:noFill/>
          <a:ln/>
        </p:spPr>
        <p:txBody>
          <a:bodyPr wrap="square" lIns="0" tIns="0" rIns="0" bIns="0" rtlCol="0" anchor="t">
            <a:normAutofit/>
          </a:bodyPr>
          <a:lstStyle/>
          <a:p>
            <a:pPr marL="0" indent="0" algn="l">
              <a:lnSpc>
                <a:spcPts val="3240"/>
              </a:lnSpc>
              <a:buNone/>
            </a:pPr>
            <a:r>
              <a:rPr lang="en-US" sz="2700" b="1" dirty="0">
                <a:solidFill>
                  <a:srgbClr val="FAF6F0"/>
                </a:solidFill>
                <a:latin typeface="Playfair Display" pitchFamily="34" charset="0"/>
                <a:ea typeface="Playfair Display" pitchFamily="34" charset="-122"/>
                <a:cs typeface="Playfair Display" pitchFamily="34" charset="-120"/>
              </a:rPr>
              <a:t>₹3,350</a:t>
            </a:r>
            <a:endParaRPr lang="en-US" sz="2700" dirty="0"/>
          </a:p>
        </p:txBody>
      </p:sp>
      <p:sp>
        <p:nvSpPr>
          <p:cNvPr id="8" name="Shape 5"/>
          <p:cNvSpPr/>
          <p:nvPr/>
        </p:nvSpPr>
        <p:spPr>
          <a:xfrm>
            <a:off x="7924800" y="2952514"/>
            <a:ext cx="3454400" cy="920750"/>
          </a:xfrm>
          <a:prstGeom prst="roundRect">
            <a:avLst>
              <a:gd name="adj" fmla="val 9655"/>
            </a:avLst>
          </a:prstGeom>
          <a:solidFill>
            <a:srgbClr val="1A555C"/>
          </a:solidFill>
          <a:ln/>
        </p:spPr>
        <p:txBody>
          <a:bodyPr/>
          <a:lstStyle/>
          <a:p>
            <a:endParaRPr lang="en-IN"/>
          </a:p>
        </p:txBody>
      </p:sp>
      <p:sp>
        <p:nvSpPr>
          <p:cNvPr id="9" name="Text 6"/>
          <p:cNvSpPr/>
          <p:nvPr/>
        </p:nvSpPr>
        <p:spPr>
          <a:xfrm>
            <a:off x="8064500" y="3092214"/>
            <a:ext cx="3270250" cy="229870"/>
          </a:xfrm>
          <a:prstGeom prst="rect">
            <a:avLst/>
          </a:prstGeom>
          <a:noFill/>
          <a:ln/>
        </p:spPr>
        <p:txBody>
          <a:bodyPr wrap="square" lIns="0" tIns="0" rIns="0" bIns="0" rtlCol="0" anchor="t">
            <a:normAutofit/>
          </a:bodyPr>
          <a:lstStyle/>
          <a:p>
            <a:pPr marL="0" indent="0" algn="l">
              <a:lnSpc>
                <a:spcPts val="1610"/>
              </a:lnSpc>
              <a:buNone/>
            </a:pPr>
            <a:r>
              <a:rPr lang="en-US" sz="1150" kern="0" spc="100" dirty="0">
                <a:solidFill>
                  <a:srgbClr val="D6E6E4"/>
                </a:solidFill>
                <a:latin typeface="Poppins" pitchFamily="34" charset="0"/>
                <a:ea typeface="Poppins" pitchFamily="34" charset="-122"/>
                <a:cs typeface="Poppins" pitchFamily="34" charset="-120"/>
              </a:rPr>
              <a:t>COST</a:t>
            </a:r>
            <a:endParaRPr lang="en-US" sz="1150" dirty="0"/>
          </a:p>
        </p:txBody>
      </p:sp>
      <p:sp>
        <p:nvSpPr>
          <p:cNvPr id="10" name="Text 7"/>
          <p:cNvSpPr/>
          <p:nvPr/>
        </p:nvSpPr>
        <p:spPr>
          <a:xfrm>
            <a:off x="8064500" y="3322079"/>
            <a:ext cx="3270250" cy="436880"/>
          </a:xfrm>
          <a:prstGeom prst="rect">
            <a:avLst/>
          </a:prstGeom>
          <a:noFill/>
          <a:ln/>
        </p:spPr>
        <p:txBody>
          <a:bodyPr wrap="square" lIns="0" tIns="0" rIns="0" bIns="0" rtlCol="0" anchor="t">
            <a:normAutofit/>
          </a:bodyPr>
          <a:lstStyle/>
          <a:p>
            <a:pPr marL="0" indent="0" algn="l">
              <a:lnSpc>
                <a:spcPts val="3240"/>
              </a:lnSpc>
              <a:buNone/>
            </a:pPr>
            <a:r>
              <a:rPr lang="en-US" sz="2700" b="1" dirty="0">
                <a:solidFill>
                  <a:srgbClr val="FAF6F0"/>
                </a:solidFill>
                <a:latin typeface="Playfair Display" pitchFamily="34" charset="0"/>
                <a:ea typeface="Playfair Display" pitchFamily="34" charset="-122"/>
                <a:cs typeface="Playfair Display" pitchFamily="34" charset="-120"/>
              </a:rPr>
              <a:t>₹1,355</a:t>
            </a:r>
            <a:endParaRPr lang="en-US" sz="2700" dirty="0"/>
          </a:p>
        </p:txBody>
      </p:sp>
      <p:sp>
        <p:nvSpPr>
          <p:cNvPr id="11" name="Shape 8"/>
          <p:cNvSpPr/>
          <p:nvPr/>
        </p:nvSpPr>
        <p:spPr>
          <a:xfrm>
            <a:off x="7924800" y="3987564"/>
            <a:ext cx="3454400" cy="920750"/>
          </a:xfrm>
          <a:prstGeom prst="roundRect">
            <a:avLst>
              <a:gd name="adj" fmla="val 9655"/>
            </a:avLst>
          </a:prstGeom>
          <a:solidFill>
            <a:srgbClr val="D0684F"/>
          </a:solidFill>
          <a:ln/>
        </p:spPr>
        <p:txBody>
          <a:bodyPr/>
          <a:lstStyle/>
          <a:p>
            <a:endParaRPr lang="en-IN"/>
          </a:p>
        </p:txBody>
      </p:sp>
      <p:sp>
        <p:nvSpPr>
          <p:cNvPr id="12" name="Text 9"/>
          <p:cNvSpPr/>
          <p:nvPr/>
        </p:nvSpPr>
        <p:spPr>
          <a:xfrm>
            <a:off x="8064500" y="4127264"/>
            <a:ext cx="3270250" cy="229870"/>
          </a:xfrm>
          <a:prstGeom prst="rect">
            <a:avLst/>
          </a:prstGeom>
          <a:noFill/>
          <a:ln/>
        </p:spPr>
        <p:txBody>
          <a:bodyPr wrap="square" lIns="0" tIns="0" rIns="0" bIns="0" rtlCol="0" anchor="t">
            <a:normAutofit/>
          </a:bodyPr>
          <a:lstStyle/>
          <a:p>
            <a:pPr marL="0" indent="0" algn="l">
              <a:lnSpc>
                <a:spcPts val="1610"/>
              </a:lnSpc>
              <a:buNone/>
            </a:pPr>
            <a:r>
              <a:rPr lang="en-US" sz="1150" kern="0" spc="100" dirty="0">
                <a:solidFill>
                  <a:srgbClr val="2B1410"/>
                </a:solidFill>
                <a:latin typeface="Poppins" pitchFamily="34" charset="0"/>
                <a:ea typeface="Poppins" pitchFamily="34" charset="-122"/>
                <a:cs typeface="Poppins" pitchFamily="34" charset="-120"/>
              </a:rPr>
              <a:t>PROFIT</a:t>
            </a:r>
            <a:endParaRPr lang="en-US" sz="1150" dirty="0"/>
          </a:p>
        </p:txBody>
      </p:sp>
      <p:sp>
        <p:nvSpPr>
          <p:cNvPr id="13" name="Text 10"/>
          <p:cNvSpPr/>
          <p:nvPr/>
        </p:nvSpPr>
        <p:spPr>
          <a:xfrm>
            <a:off x="8064500" y="4357129"/>
            <a:ext cx="3270250" cy="436880"/>
          </a:xfrm>
          <a:prstGeom prst="rect">
            <a:avLst/>
          </a:prstGeom>
          <a:noFill/>
          <a:ln/>
        </p:spPr>
        <p:txBody>
          <a:bodyPr wrap="square" lIns="0" tIns="0" rIns="0" bIns="0" rtlCol="0" anchor="t">
            <a:normAutofit/>
          </a:bodyPr>
          <a:lstStyle/>
          <a:p>
            <a:pPr marL="0" indent="0" algn="l">
              <a:lnSpc>
                <a:spcPts val="3240"/>
              </a:lnSpc>
              <a:buNone/>
            </a:pPr>
            <a:r>
              <a:rPr lang="en-US" sz="2700" b="1" dirty="0">
                <a:solidFill>
                  <a:srgbClr val="2B1410"/>
                </a:solidFill>
                <a:latin typeface="Playfair Display" pitchFamily="34" charset="0"/>
                <a:ea typeface="Playfair Display" pitchFamily="34" charset="-122"/>
                <a:cs typeface="Playfair Display" pitchFamily="34" charset="-120"/>
              </a:rPr>
              <a:t>₹1,995</a:t>
            </a:r>
            <a:endParaRPr lang="en-US" sz="2700" dirty="0"/>
          </a:p>
        </p:txBody>
      </p:sp>
      <p:sp>
        <p:nvSpPr>
          <p:cNvPr id="14" name="Shape 11"/>
          <p:cNvSpPr/>
          <p:nvPr/>
        </p:nvSpPr>
        <p:spPr>
          <a:xfrm>
            <a:off x="7924800" y="5022614"/>
            <a:ext cx="3454400" cy="920750"/>
          </a:xfrm>
          <a:prstGeom prst="roundRect">
            <a:avLst>
              <a:gd name="adj" fmla="val 9655"/>
            </a:avLst>
          </a:prstGeom>
          <a:solidFill>
            <a:srgbClr val="1A555C"/>
          </a:solidFill>
          <a:ln/>
        </p:spPr>
        <p:txBody>
          <a:bodyPr/>
          <a:lstStyle/>
          <a:p>
            <a:endParaRPr lang="en-IN"/>
          </a:p>
        </p:txBody>
      </p:sp>
      <p:sp>
        <p:nvSpPr>
          <p:cNvPr id="15" name="Text 12"/>
          <p:cNvSpPr/>
          <p:nvPr/>
        </p:nvSpPr>
        <p:spPr>
          <a:xfrm>
            <a:off x="8064500" y="5162314"/>
            <a:ext cx="3270250" cy="229870"/>
          </a:xfrm>
          <a:prstGeom prst="rect">
            <a:avLst/>
          </a:prstGeom>
          <a:noFill/>
          <a:ln/>
        </p:spPr>
        <p:txBody>
          <a:bodyPr wrap="square" lIns="0" tIns="0" rIns="0" bIns="0" rtlCol="0" anchor="t">
            <a:normAutofit/>
          </a:bodyPr>
          <a:lstStyle/>
          <a:p>
            <a:pPr marL="0" indent="0" algn="l">
              <a:lnSpc>
                <a:spcPts val="1610"/>
              </a:lnSpc>
              <a:buNone/>
            </a:pPr>
            <a:r>
              <a:rPr lang="en-US" sz="1150" kern="0" spc="100" dirty="0">
                <a:solidFill>
                  <a:srgbClr val="D6E6E4"/>
                </a:solidFill>
                <a:latin typeface="Poppins" pitchFamily="34" charset="0"/>
                <a:ea typeface="Poppins" pitchFamily="34" charset="-122"/>
                <a:cs typeface="Poppins" pitchFamily="34" charset="-120"/>
              </a:rPr>
              <a:t>MARGIN · 13 ORDERS</a:t>
            </a:r>
            <a:endParaRPr lang="en-US" sz="1150" dirty="0"/>
          </a:p>
        </p:txBody>
      </p:sp>
      <p:sp>
        <p:nvSpPr>
          <p:cNvPr id="16" name="Text 13"/>
          <p:cNvSpPr/>
          <p:nvPr/>
        </p:nvSpPr>
        <p:spPr>
          <a:xfrm>
            <a:off x="8064500" y="5392179"/>
            <a:ext cx="3270250" cy="436880"/>
          </a:xfrm>
          <a:prstGeom prst="rect">
            <a:avLst/>
          </a:prstGeom>
          <a:noFill/>
          <a:ln/>
        </p:spPr>
        <p:txBody>
          <a:bodyPr wrap="square" lIns="0" tIns="0" rIns="0" bIns="0" rtlCol="0" anchor="t">
            <a:normAutofit/>
          </a:bodyPr>
          <a:lstStyle/>
          <a:p>
            <a:pPr marL="0" indent="0" algn="l">
              <a:lnSpc>
                <a:spcPts val="3240"/>
              </a:lnSpc>
              <a:buNone/>
            </a:pPr>
            <a:r>
              <a:rPr lang="en-US" sz="2700" b="1" dirty="0">
                <a:solidFill>
                  <a:srgbClr val="FAF6F0"/>
                </a:solidFill>
                <a:latin typeface="Playfair Display" pitchFamily="34" charset="0"/>
                <a:ea typeface="Playfair Display" pitchFamily="34" charset="-122"/>
                <a:cs typeface="Playfair Display" pitchFamily="34" charset="-120"/>
              </a:rPr>
              <a:t>59.6%</a:t>
            </a:r>
            <a:endParaRPr lang="en-US" sz="2700" dirty="0"/>
          </a:p>
        </p:txBody>
      </p:sp>
      <p:pic>
        <p:nvPicPr>
          <p:cNvPr id="17" name="Image 1" descr="Postr logo"/>
          <p:cNvPicPr>
            <a:picLocks noChangeAspect="1"/>
          </p:cNvPicPr>
          <p:nvPr/>
        </p:nvPicPr>
        <p:blipFill>
          <a:blip r:embed="rId4"/>
          <a:srcRect/>
          <a:stretch/>
        </p:blipFill>
        <p:spPr>
          <a:xfrm>
            <a:off x="812800" y="6228085"/>
            <a:ext cx="165100" cy="215900"/>
          </a:xfrm>
          <a:prstGeom prst="rect">
            <a:avLst/>
          </a:prstGeom>
        </p:spPr>
      </p:pic>
      <p:sp>
        <p:nvSpPr>
          <p:cNvPr id="18" name="Text 14"/>
          <p:cNvSpPr/>
          <p:nvPr/>
        </p:nvSpPr>
        <p:spPr>
          <a:xfrm>
            <a:off x="1066800" y="6220458"/>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AF6F0"/>
                </a:solidFill>
                <a:latin typeface="Playfair Display" pitchFamily="34" charset="0"/>
                <a:ea typeface="Playfair Display" pitchFamily="34" charset="-122"/>
                <a:cs typeface="Playfair Display" pitchFamily="34" charset="-120"/>
              </a:rPr>
              <a:t>Postr.</a:t>
            </a:r>
            <a:endParaRPr lang="en-US" sz="1300" dirty="0"/>
          </a:p>
        </p:txBody>
      </p:sp>
      <p:sp>
        <p:nvSpPr>
          <p:cNvPr id="19" name="Text 15"/>
          <p:cNvSpPr/>
          <p:nvPr/>
        </p:nvSpPr>
        <p:spPr>
          <a:xfrm>
            <a:off x="8763000" y="6238242"/>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A8C3C2"/>
                </a:solidFill>
                <a:latin typeface="Poppins" pitchFamily="34" charset="0"/>
                <a:ea typeface="Poppins" pitchFamily="34" charset="-122"/>
                <a:cs typeface="Poppins" pitchFamily="34" charset="-120"/>
              </a:rPr>
              <a:t>18 / 25</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B14F36"/>
                </a:solidFill>
                <a:latin typeface="Poppins" pitchFamily="34" charset="0"/>
                <a:ea typeface="Poppins" pitchFamily="34" charset="-122"/>
                <a:cs typeface="Poppins" pitchFamily="34" charset="-120"/>
              </a:rPr>
              <a:t>04 · BUSINESS PERFORMANCE · UNIT ECONOMICS</a:t>
            </a:r>
            <a:endParaRPr lang="en-US" sz="1200" dirty="0"/>
          </a:p>
        </p:txBody>
      </p:sp>
      <p:sp>
        <p:nvSpPr>
          <p:cNvPr id="3" name="Text 1"/>
          <p:cNvSpPr/>
          <p:nvPr/>
        </p:nvSpPr>
        <p:spPr>
          <a:xfrm>
            <a:off x="812800" y="12293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2454B"/>
                </a:solidFill>
                <a:latin typeface="Playfair Display" pitchFamily="34" charset="0"/>
                <a:ea typeface="Playfair Display" pitchFamily="34" charset="-122"/>
                <a:cs typeface="Playfair Display" pitchFamily="34" charset="-120"/>
              </a:rPr>
              <a:t>Where the ₹3,350 came from</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935485"/>
          <a:ext cx="10566400" cy="2247900"/>
        </p:xfrm>
        <a:graphic>
          <a:graphicData uri="http://schemas.openxmlformats.org/drawingml/2006/table">
            <a:tbl>
              <a:tblPr/>
              <a:tblGrid>
                <a:gridCol w="4649216">
                  <a:extLst>
                    <a:ext uri="{9D8B030D-6E8A-4147-A177-3AD203B41FA5}">
                      <a16:colId xmlns:a16="http://schemas.microsoft.com/office/drawing/2014/main" val="20000"/>
                    </a:ext>
                  </a:extLst>
                </a:gridCol>
                <a:gridCol w="1690624">
                  <a:extLst>
                    <a:ext uri="{9D8B030D-6E8A-4147-A177-3AD203B41FA5}">
                      <a16:colId xmlns:a16="http://schemas.microsoft.com/office/drawing/2014/main" val="20001"/>
                    </a:ext>
                  </a:extLst>
                </a:gridCol>
                <a:gridCol w="2113280">
                  <a:extLst>
                    <a:ext uri="{9D8B030D-6E8A-4147-A177-3AD203B41FA5}">
                      <a16:colId xmlns:a16="http://schemas.microsoft.com/office/drawing/2014/main" val="20002"/>
                    </a:ext>
                  </a:extLst>
                </a:gridCol>
                <a:gridCol w="2113280">
                  <a:extLst>
                    <a:ext uri="{9D8B030D-6E8A-4147-A177-3AD203B41FA5}">
                      <a16:colId xmlns:a16="http://schemas.microsoft.com/office/drawing/2014/main" val="20003"/>
                    </a:ext>
                  </a:extLst>
                </a:gridCol>
              </a:tblGrid>
              <a:tr h="449580">
                <a:tc>
                  <a:txBody>
                    <a:bodyPr/>
                    <a:lstStyle/>
                    <a:p>
                      <a:pPr marL="0" indent="0">
                        <a:lnSpc>
                          <a:spcPts val="1960"/>
                        </a:lnSpc>
                        <a:buNone/>
                      </a:pPr>
                      <a:r>
                        <a:rPr lang="en-US" sz="1400" b="1" dirty="0">
                          <a:solidFill>
                            <a:srgbClr val="FAF6F0"/>
                          </a:solidFill>
                          <a:latin typeface="Poppins" pitchFamily="34" charset="0"/>
                          <a:ea typeface="Poppins" pitchFamily="34" charset="-122"/>
                          <a:cs typeface="Poppins" pitchFamily="34" charset="-120"/>
                        </a:rPr>
                        <a:t>Order type</a:t>
                      </a:r>
                      <a:endParaRPr lang="en-US" sz="1400" dirty="0">
                        <a:latin typeface="Poppins" charset="0"/>
                        <a:ea typeface="Poppins" charset="0"/>
                        <a:cs typeface="Poppins" charset="0"/>
                      </a:endParaRPr>
                    </a:p>
                  </a:txBody>
                  <a:tcPr marL="127000" marR="127000" marT="95250" marB="9525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12454B"/>
                    </a:solidFill>
                  </a:tcPr>
                </a:tc>
                <a:tc>
                  <a:txBody>
                    <a:bodyPr/>
                    <a:lstStyle/>
                    <a:p>
                      <a:pPr marL="0" indent="0">
                        <a:lnSpc>
                          <a:spcPts val="1960"/>
                        </a:lnSpc>
                        <a:buNone/>
                      </a:pPr>
                      <a:r>
                        <a:rPr lang="en-US" sz="1400" b="1" dirty="0">
                          <a:solidFill>
                            <a:srgbClr val="FAF6F0"/>
                          </a:solidFill>
                          <a:latin typeface="Poppins" pitchFamily="34" charset="0"/>
                          <a:ea typeface="Poppins" pitchFamily="34" charset="-122"/>
                          <a:cs typeface="Poppins" pitchFamily="34" charset="-120"/>
                        </a:rPr>
                        <a:t>Orders</a:t>
                      </a:r>
                      <a:endParaRPr lang="en-US" sz="1400" dirty="0">
                        <a:latin typeface="Poppins" charset="0"/>
                        <a:ea typeface="Poppins" charset="0"/>
                        <a:cs typeface="Poppins" charset="0"/>
                      </a:endParaRPr>
                    </a:p>
                  </a:txBody>
                  <a:tcPr marL="127000" marR="127000" marT="95250" marB="9525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12454B"/>
                    </a:solidFill>
                  </a:tcPr>
                </a:tc>
                <a:tc>
                  <a:txBody>
                    <a:bodyPr/>
                    <a:lstStyle/>
                    <a:p>
                      <a:pPr marL="0" indent="0">
                        <a:lnSpc>
                          <a:spcPts val="1960"/>
                        </a:lnSpc>
                        <a:buNone/>
                      </a:pPr>
                      <a:r>
                        <a:rPr lang="en-US" sz="1400" b="1" dirty="0">
                          <a:solidFill>
                            <a:srgbClr val="FAF6F0"/>
                          </a:solidFill>
                          <a:latin typeface="Poppins" pitchFamily="34" charset="0"/>
                          <a:ea typeface="Poppins" pitchFamily="34" charset="-122"/>
                          <a:cs typeface="Poppins" pitchFamily="34" charset="-120"/>
                        </a:rPr>
                        <a:t>Revenue</a:t>
                      </a:r>
                      <a:endParaRPr lang="en-US" sz="1400" dirty="0">
                        <a:latin typeface="Poppins" charset="0"/>
                        <a:ea typeface="Poppins" charset="0"/>
                        <a:cs typeface="Poppins" charset="0"/>
                      </a:endParaRPr>
                    </a:p>
                  </a:txBody>
                  <a:tcPr marL="127000" marR="127000" marT="95250" marB="9525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12454B"/>
                    </a:solidFill>
                  </a:tcPr>
                </a:tc>
                <a:tc>
                  <a:txBody>
                    <a:bodyPr/>
                    <a:lstStyle/>
                    <a:p>
                      <a:pPr marL="0" indent="0">
                        <a:lnSpc>
                          <a:spcPts val="1960"/>
                        </a:lnSpc>
                        <a:buNone/>
                      </a:pPr>
                      <a:r>
                        <a:rPr lang="en-US" sz="1400" b="1" dirty="0">
                          <a:solidFill>
                            <a:srgbClr val="FAF6F0"/>
                          </a:solidFill>
                          <a:latin typeface="Poppins" pitchFamily="34" charset="0"/>
                          <a:ea typeface="Poppins" pitchFamily="34" charset="-122"/>
                          <a:cs typeface="Poppins" pitchFamily="34" charset="-120"/>
                        </a:rPr>
                        <a:t>Share</a:t>
                      </a:r>
                      <a:endParaRPr lang="en-US" sz="1400" dirty="0">
                        <a:latin typeface="Poppins" charset="0"/>
                        <a:ea typeface="Poppins" charset="0"/>
                        <a:cs typeface="Poppins" charset="0"/>
                      </a:endParaRPr>
                    </a:p>
                  </a:txBody>
                  <a:tcPr marL="127000" marR="127000" marT="95250" marB="9525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12454B"/>
                    </a:solidFill>
                  </a:tcPr>
                </a:tc>
                <a:extLst>
                  <a:ext uri="{0D108BD9-81ED-4DB2-BD59-A6C34878D82A}">
                    <a16:rowId xmlns:a16="http://schemas.microsoft.com/office/drawing/2014/main" val="10000"/>
                  </a:ext>
                </a:extLst>
              </a:tr>
              <a:tr h="449580">
                <a:tc>
                  <a:txBody>
                    <a:bodyPr/>
                    <a:lstStyle/>
                    <a:p>
                      <a:pPr marL="0" indent="0">
                        <a:lnSpc>
                          <a:spcPts val="1960"/>
                        </a:lnSpc>
                        <a:buNone/>
                      </a:pPr>
                      <a:r>
                        <a:rPr lang="en-US" sz="1400" dirty="0">
                          <a:solidFill>
                            <a:srgbClr val="4A5A5C"/>
                          </a:solidFill>
                          <a:latin typeface="Poppins" pitchFamily="34" charset="0"/>
                          <a:ea typeface="Poppins" pitchFamily="34" charset="-122"/>
                          <a:cs typeface="Poppins" pitchFamily="34" charset="-120"/>
                        </a:rPr>
                        <a:t>Ready-made poster</a:t>
                      </a:r>
                      <a:endParaRPr lang="en-US" sz="1400" dirty="0">
                        <a:latin typeface="Poppins" charset="0"/>
                        <a:ea typeface="Poppins" charset="0"/>
                        <a:cs typeface="Poppins" charset="0"/>
                      </a:endParaRPr>
                    </a:p>
                  </a:txBody>
                  <a:tcPr marL="127000" marR="127000" marT="95250" marB="9525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tc>
                  <a:txBody>
                    <a:bodyPr/>
                    <a:lstStyle/>
                    <a:p>
                      <a:pPr marL="0" indent="0">
                        <a:lnSpc>
                          <a:spcPts val="1960"/>
                        </a:lnSpc>
                        <a:buNone/>
                      </a:pPr>
                      <a:r>
                        <a:rPr lang="en-US" sz="1400" dirty="0">
                          <a:solidFill>
                            <a:srgbClr val="4A5A5C"/>
                          </a:solidFill>
                          <a:latin typeface="Poppins" pitchFamily="34" charset="0"/>
                          <a:ea typeface="Poppins" pitchFamily="34" charset="-122"/>
                          <a:cs typeface="Poppins" pitchFamily="34" charset="-120"/>
                        </a:rPr>
                        <a:t>7</a:t>
                      </a:r>
                      <a:endParaRPr lang="en-US" sz="1400" dirty="0">
                        <a:latin typeface="Poppins" charset="0"/>
                        <a:ea typeface="Poppins" charset="0"/>
                        <a:cs typeface="Poppins" charset="0"/>
                      </a:endParaRPr>
                    </a:p>
                  </a:txBody>
                  <a:tcPr marL="127000" marR="127000" marT="95250" marB="9525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tc>
                  <a:txBody>
                    <a:bodyPr/>
                    <a:lstStyle/>
                    <a:p>
                      <a:pPr marL="0" indent="0">
                        <a:lnSpc>
                          <a:spcPts val="1960"/>
                        </a:lnSpc>
                        <a:buNone/>
                      </a:pPr>
                      <a:r>
                        <a:rPr lang="en-US" sz="1400" dirty="0">
                          <a:solidFill>
                            <a:srgbClr val="4A5A5C"/>
                          </a:solidFill>
                          <a:latin typeface="Poppins" pitchFamily="34" charset="0"/>
                          <a:ea typeface="Poppins" pitchFamily="34" charset="-122"/>
                          <a:cs typeface="Poppins" pitchFamily="34" charset="-120"/>
                        </a:rPr>
                        <a:t>₹1,800</a:t>
                      </a:r>
                      <a:endParaRPr lang="en-US" sz="1400" dirty="0">
                        <a:latin typeface="Poppins" charset="0"/>
                        <a:ea typeface="Poppins" charset="0"/>
                        <a:cs typeface="Poppins" charset="0"/>
                      </a:endParaRPr>
                    </a:p>
                  </a:txBody>
                  <a:tcPr marL="127000" marR="127000" marT="95250" marB="9525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tc>
                  <a:txBody>
                    <a:bodyPr/>
                    <a:lstStyle/>
                    <a:p>
                      <a:pPr marL="0" indent="0">
                        <a:lnSpc>
                          <a:spcPts val="1960"/>
                        </a:lnSpc>
                        <a:buNone/>
                      </a:pPr>
                      <a:r>
                        <a:rPr lang="en-US" sz="1400" dirty="0">
                          <a:solidFill>
                            <a:srgbClr val="4A5A5C"/>
                          </a:solidFill>
                          <a:latin typeface="Poppins" pitchFamily="34" charset="0"/>
                          <a:ea typeface="Poppins" pitchFamily="34" charset="-122"/>
                          <a:cs typeface="Poppins" pitchFamily="34" charset="-120"/>
                        </a:rPr>
                        <a:t>54%</a:t>
                      </a:r>
                      <a:endParaRPr lang="en-US" sz="1400" dirty="0">
                        <a:latin typeface="Poppins" charset="0"/>
                        <a:ea typeface="Poppins" charset="0"/>
                        <a:cs typeface="Poppins" charset="0"/>
                      </a:endParaRPr>
                    </a:p>
                  </a:txBody>
                  <a:tcPr marL="127000" marR="127000" marT="95250" marB="9525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extLst>
                  <a:ext uri="{0D108BD9-81ED-4DB2-BD59-A6C34878D82A}">
                    <a16:rowId xmlns:a16="http://schemas.microsoft.com/office/drawing/2014/main" val="10001"/>
                  </a:ext>
                </a:extLst>
              </a:tr>
              <a:tr h="449580">
                <a:tc>
                  <a:txBody>
                    <a:bodyPr/>
                    <a:lstStyle/>
                    <a:p>
                      <a:pPr marL="0" indent="0">
                        <a:lnSpc>
                          <a:spcPts val="1960"/>
                        </a:lnSpc>
                        <a:buNone/>
                      </a:pPr>
                      <a:r>
                        <a:rPr lang="en-US" sz="1400" dirty="0">
                          <a:solidFill>
                            <a:srgbClr val="4A5A5C"/>
                          </a:solidFill>
                          <a:latin typeface="Poppins" pitchFamily="34" charset="0"/>
                          <a:ea typeface="Poppins" pitchFamily="34" charset="-122"/>
                          <a:cs typeface="Poppins" pitchFamily="34" charset="-120"/>
                        </a:rPr>
                        <a:t>Custom poster / Polaroid</a:t>
                      </a:r>
                      <a:endParaRPr lang="en-US" sz="1400" dirty="0">
                        <a:latin typeface="Poppins" charset="0"/>
                        <a:ea typeface="Poppins" charset="0"/>
                        <a:cs typeface="Poppins" charset="0"/>
                      </a:endParaRPr>
                    </a:p>
                  </a:txBody>
                  <a:tcPr marL="127000" marR="127000" marT="95250" marB="9525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F1EAE0"/>
                    </a:solidFill>
                  </a:tcPr>
                </a:tc>
                <a:tc>
                  <a:txBody>
                    <a:bodyPr/>
                    <a:lstStyle/>
                    <a:p>
                      <a:pPr marL="0" indent="0">
                        <a:lnSpc>
                          <a:spcPts val="1960"/>
                        </a:lnSpc>
                        <a:buNone/>
                      </a:pPr>
                      <a:r>
                        <a:rPr lang="en-US" sz="1400" dirty="0">
                          <a:solidFill>
                            <a:srgbClr val="4A5A5C"/>
                          </a:solidFill>
                          <a:latin typeface="Poppins" pitchFamily="34" charset="0"/>
                          <a:ea typeface="Poppins" pitchFamily="34" charset="-122"/>
                          <a:cs typeface="Poppins" pitchFamily="34" charset="-120"/>
                        </a:rPr>
                        <a:t>5</a:t>
                      </a:r>
                      <a:endParaRPr lang="en-US" sz="1400" dirty="0">
                        <a:latin typeface="Poppins" charset="0"/>
                        <a:ea typeface="Poppins" charset="0"/>
                        <a:cs typeface="Poppins" charset="0"/>
                      </a:endParaRPr>
                    </a:p>
                  </a:txBody>
                  <a:tcPr marL="127000" marR="127000" marT="95250" marB="9525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F1EAE0"/>
                    </a:solidFill>
                  </a:tcPr>
                </a:tc>
                <a:tc>
                  <a:txBody>
                    <a:bodyPr/>
                    <a:lstStyle/>
                    <a:p>
                      <a:pPr marL="0" indent="0">
                        <a:lnSpc>
                          <a:spcPts val="1960"/>
                        </a:lnSpc>
                        <a:buNone/>
                      </a:pPr>
                      <a:r>
                        <a:rPr lang="en-US" sz="1400" dirty="0">
                          <a:solidFill>
                            <a:srgbClr val="4A5A5C"/>
                          </a:solidFill>
                          <a:latin typeface="Poppins" pitchFamily="34" charset="0"/>
                          <a:ea typeface="Poppins" pitchFamily="34" charset="-122"/>
                          <a:cs typeface="Poppins" pitchFamily="34" charset="-120"/>
                        </a:rPr>
                        <a:t>₹1,300</a:t>
                      </a:r>
                      <a:endParaRPr lang="en-US" sz="1400" dirty="0">
                        <a:latin typeface="Poppins" charset="0"/>
                        <a:ea typeface="Poppins" charset="0"/>
                        <a:cs typeface="Poppins" charset="0"/>
                      </a:endParaRPr>
                    </a:p>
                  </a:txBody>
                  <a:tcPr marL="127000" marR="127000" marT="95250" marB="9525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F1EAE0"/>
                    </a:solidFill>
                  </a:tcPr>
                </a:tc>
                <a:tc>
                  <a:txBody>
                    <a:bodyPr/>
                    <a:lstStyle/>
                    <a:p>
                      <a:pPr marL="0" indent="0">
                        <a:lnSpc>
                          <a:spcPts val="1960"/>
                        </a:lnSpc>
                        <a:buNone/>
                      </a:pPr>
                      <a:r>
                        <a:rPr lang="en-US" sz="1400" dirty="0">
                          <a:solidFill>
                            <a:srgbClr val="4A5A5C"/>
                          </a:solidFill>
                          <a:latin typeface="Poppins" pitchFamily="34" charset="0"/>
                          <a:ea typeface="Poppins" pitchFamily="34" charset="-122"/>
                          <a:cs typeface="Poppins" pitchFamily="34" charset="-120"/>
                        </a:rPr>
                        <a:t>39%</a:t>
                      </a:r>
                      <a:endParaRPr lang="en-US" sz="1400" dirty="0">
                        <a:latin typeface="Poppins" charset="0"/>
                        <a:ea typeface="Poppins" charset="0"/>
                        <a:cs typeface="Poppins" charset="0"/>
                      </a:endParaRPr>
                    </a:p>
                  </a:txBody>
                  <a:tcPr marL="127000" marR="127000" marT="95250" marB="9525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F1EAE0"/>
                    </a:solidFill>
                  </a:tcPr>
                </a:tc>
                <a:extLst>
                  <a:ext uri="{0D108BD9-81ED-4DB2-BD59-A6C34878D82A}">
                    <a16:rowId xmlns:a16="http://schemas.microsoft.com/office/drawing/2014/main" val="10002"/>
                  </a:ext>
                </a:extLst>
              </a:tr>
              <a:tr h="449580">
                <a:tc>
                  <a:txBody>
                    <a:bodyPr/>
                    <a:lstStyle/>
                    <a:p>
                      <a:pPr marL="0" indent="0">
                        <a:lnSpc>
                          <a:spcPts val="1960"/>
                        </a:lnSpc>
                        <a:buNone/>
                      </a:pPr>
                      <a:r>
                        <a:rPr lang="en-US" sz="1400" dirty="0">
                          <a:solidFill>
                            <a:srgbClr val="4A5A5C"/>
                          </a:solidFill>
                          <a:latin typeface="Poppins" pitchFamily="34" charset="0"/>
                          <a:ea typeface="Poppins" pitchFamily="34" charset="-122"/>
                          <a:cs typeface="Poppins" pitchFamily="34" charset="-120"/>
                        </a:rPr>
                        <a:t>Custom + Digital Memory</a:t>
                      </a:r>
                      <a:endParaRPr lang="en-US" sz="1400" dirty="0">
                        <a:latin typeface="Poppins" charset="0"/>
                        <a:ea typeface="Poppins" charset="0"/>
                        <a:cs typeface="Poppins" charset="0"/>
                      </a:endParaRPr>
                    </a:p>
                  </a:txBody>
                  <a:tcPr marL="127000" marR="127000" marT="95250" marB="9525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tc>
                  <a:txBody>
                    <a:bodyPr/>
                    <a:lstStyle/>
                    <a:p>
                      <a:pPr marL="0" indent="0">
                        <a:lnSpc>
                          <a:spcPts val="1960"/>
                        </a:lnSpc>
                        <a:buNone/>
                      </a:pPr>
                      <a:r>
                        <a:rPr lang="en-US" sz="1400" dirty="0">
                          <a:solidFill>
                            <a:srgbClr val="4A5A5C"/>
                          </a:solidFill>
                          <a:latin typeface="Poppins" pitchFamily="34" charset="0"/>
                          <a:ea typeface="Poppins" pitchFamily="34" charset="-122"/>
                          <a:cs typeface="Poppins" pitchFamily="34" charset="-120"/>
                        </a:rPr>
                        <a:t>1</a:t>
                      </a:r>
                      <a:endParaRPr lang="en-US" sz="1400" dirty="0">
                        <a:latin typeface="Poppins" charset="0"/>
                        <a:ea typeface="Poppins" charset="0"/>
                        <a:cs typeface="Poppins" charset="0"/>
                      </a:endParaRPr>
                    </a:p>
                  </a:txBody>
                  <a:tcPr marL="127000" marR="127000" marT="95250" marB="9525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tc>
                  <a:txBody>
                    <a:bodyPr/>
                    <a:lstStyle/>
                    <a:p>
                      <a:pPr marL="0" indent="0">
                        <a:lnSpc>
                          <a:spcPts val="1960"/>
                        </a:lnSpc>
                        <a:buNone/>
                      </a:pPr>
                      <a:r>
                        <a:rPr lang="en-US" sz="1400" dirty="0">
                          <a:solidFill>
                            <a:srgbClr val="4A5A5C"/>
                          </a:solidFill>
                          <a:latin typeface="Poppins" pitchFamily="34" charset="0"/>
                          <a:ea typeface="Poppins" pitchFamily="34" charset="-122"/>
                          <a:cs typeface="Poppins" pitchFamily="34" charset="-120"/>
                        </a:rPr>
                        <a:t>₹250</a:t>
                      </a:r>
                      <a:endParaRPr lang="en-US" sz="1400" dirty="0">
                        <a:latin typeface="Poppins" charset="0"/>
                        <a:ea typeface="Poppins" charset="0"/>
                        <a:cs typeface="Poppins" charset="0"/>
                      </a:endParaRPr>
                    </a:p>
                  </a:txBody>
                  <a:tcPr marL="127000" marR="127000" marT="95250" marB="9525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tc>
                  <a:txBody>
                    <a:bodyPr/>
                    <a:lstStyle/>
                    <a:p>
                      <a:pPr marL="0" indent="0">
                        <a:lnSpc>
                          <a:spcPts val="1960"/>
                        </a:lnSpc>
                        <a:buNone/>
                      </a:pPr>
                      <a:r>
                        <a:rPr lang="en-US" sz="1400" dirty="0">
                          <a:solidFill>
                            <a:srgbClr val="4A5A5C"/>
                          </a:solidFill>
                          <a:latin typeface="Poppins" pitchFamily="34" charset="0"/>
                          <a:ea typeface="Poppins" pitchFamily="34" charset="-122"/>
                          <a:cs typeface="Poppins" pitchFamily="34" charset="-120"/>
                        </a:rPr>
                        <a:t>7%</a:t>
                      </a:r>
                      <a:endParaRPr lang="en-US" sz="1400" dirty="0">
                        <a:latin typeface="Poppins" charset="0"/>
                        <a:ea typeface="Poppins" charset="0"/>
                        <a:cs typeface="Poppins" charset="0"/>
                      </a:endParaRPr>
                    </a:p>
                  </a:txBody>
                  <a:tcPr marL="127000" marR="127000" marT="95250" marB="9525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tcPr>
                </a:tc>
                <a:extLst>
                  <a:ext uri="{0D108BD9-81ED-4DB2-BD59-A6C34878D82A}">
                    <a16:rowId xmlns:a16="http://schemas.microsoft.com/office/drawing/2014/main" val="10003"/>
                  </a:ext>
                </a:extLst>
              </a:tr>
              <a:tr h="449580">
                <a:tc>
                  <a:txBody>
                    <a:bodyPr/>
                    <a:lstStyle/>
                    <a:p>
                      <a:pPr marL="0" indent="0">
                        <a:lnSpc>
                          <a:spcPts val="1960"/>
                        </a:lnSpc>
                        <a:buNone/>
                      </a:pPr>
                      <a:r>
                        <a:rPr lang="en-US" sz="1400" dirty="0">
                          <a:solidFill>
                            <a:srgbClr val="FAF6F0"/>
                          </a:solidFill>
                          <a:latin typeface="Poppins" pitchFamily="34" charset="0"/>
                          <a:ea typeface="Poppins" pitchFamily="34" charset="-122"/>
                          <a:cs typeface="Poppins" pitchFamily="34" charset="-120"/>
                        </a:rPr>
                        <a:t>Total counted</a:t>
                      </a:r>
                      <a:endParaRPr lang="en-US" sz="1400" dirty="0">
                        <a:latin typeface="Poppins" charset="0"/>
                        <a:ea typeface="Poppins" charset="0"/>
                        <a:cs typeface="Poppins" charset="0"/>
                      </a:endParaRPr>
                    </a:p>
                  </a:txBody>
                  <a:tcPr marL="127000" marR="127000" marT="95250" marB="9525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12454B"/>
                    </a:solidFill>
                  </a:tcPr>
                </a:tc>
                <a:tc>
                  <a:txBody>
                    <a:bodyPr/>
                    <a:lstStyle/>
                    <a:p>
                      <a:pPr marL="0" indent="0">
                        <a:lnSpc>
                          <a:spcPts val="1960"/>
                        </a:lnSpc>
                        <a:buNone/>
                      </a:pPr>
                      <a:r>
                        <a:rPr lang="en-US" sz="1400" dirty="0">
                          <a:solidFill>
                            <a:srgbClr val="FAF6F0"/>
                          </a:solidFill>
                          <a:latin typeface="Poppins" pitchFamily="34" charset="0"/>
                          <a:ea typeface="Poppins" pitchFamily="34" charset="-122"/>
                          <a:cs typeface="Poppins" pitchFamily="34" charset="-120"/>
                        </a:rPr>
                        <a:t>13</a:t>
                      </a:r>
                      <a:endParaRPr lang="en-US" sz="1400" dirty="0">
                        <a:latin typeface="Poppins" charset="0"/>
                        <a:ea typeface="Poppins" charset="0"/>
                        <a:cs typeface="Poppins" charset="0"/>
                      </a:endParaRPr>
                    </a:p>
                  </a:txBody>
                  <a:tcPr marL="127000" marR="127000" marT="95250" marB="9525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12454B"/>
                    </a:solidFill>
                  </a:tcPr>
                </a:tc>
                <a:tc>
                  <a:txBody>
                    <a:bodyPr/>
                    <a:lstStyle/>
                    <a:p>
                      <a:pPr marL="0" indent="0">
                        <a:lnSpc>
                          <a:spcPts val="1960"/>
                        </a:lnSpc>
                        <a:buNone/>
                      </a:pPr>
                      <a:r>
                        <a:rPr lang="en-US" sz="1400" dirty="0">
                          <a:solidFill>
                            <a:srgbClr val="FAF6F0"/>
                          </a:solidFill>
                          <a:latin typeface="Poppins" pitchFamily="34" charset="0"/>
                          <a:ea typeface="Poppins" pitchFamily="34" charset="-122"/>
                          <a:cs typeface="Poppins" pitchFamily="34" charset="-120"/>
                        </a:rPr>
                        <a:t>₹3,350</a:t>
                      </a:r>
                      <a:endParaRPr lang="en-US" sz="1400" dirty="0">
                        <a:latin typeface="Poppins" charset="0"/>
                        <a:ea typeface="Poppins" charset="0"/>
                        <a:cs typeface="Poppins" charset="0"/>
                      </a:endParaRPr>
                    </a:p>
                  </a:txBody>
                  <a:tcPr marL="127000" marR="127000" marT="95250" marB="9525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12454B"/>
                    </a:solidFill>
                  </a:tcPr>
                </a:tc>
                <a:tc>
                  <a:txBody>
                    <a:bodyPr/>
                    <a:lstStyle/>
                    <a:p>
                      <a:pPr marL="0" indent="0">
                        <a:lnSpc>
                          <a:spcPts val="1960"/>
                        </a:lnSpc>
                        <a:buNone/>
                      </a:pPr>
                      <a:r>
                        <a:rPr lang="en-US" sz="1400" dirty="0">
                          <a:solidFill>
                            <a:srgbClr val="FAF6F0"/>
                          </a:solidFill>
                          <a:latin typeface="Poppins" pitchFamily="34" charset="0"/>
                          <a:ea typeface="Poppins" pitchFamily="34" charset="-122"/>
                          <a:cs typeface="Poppins" pitchFamily="34" charset="-120"/>
                        </a:rPr>
                        <a:t>100%</a:t>
                      </a:r>
                      <a:endParaRPr lang="en-US" sz="1400" dirty="0">
                        <a:latin typeface="Poppins" charset="0"/>
                        <a:ea typeface="Poppins" charset="0"/>
                        <a:cs typeface="Poppins" charset="0"/>
                      </a:endParaRPr>
                    </a:p>
                  </a:txBody>
                  <a:tcPr marL="127000" marR="127000" marT="95250" marB="95250">
                    <a:lnL w="12700" cap="flat" cmpd="sng" algn="ctr">
                      <a:solidFill>
                        <a:srgbClr val="D3D4CF"/>
                      </a:solidFill>
                      <a:prstDash val="solid"/>
                      <a:round/>
                      <a:headEnd type="none" w="med" len="med"/>
                      <a:tailEnd type="none" w="med" len="med"/>
                    </a:lnL>
                    <a:lnR w="12700" cap="flat" cmpd="sng" algn="ctr">
                      <a:solidFill>
                        <a:srgbClr val="D3D4CF"/>
                      </a:solidFill>
                      <a:prstDash val="solid"/>
                      <a:round/>
                      <a:headEnd type="none" w="med" len="med"/>
                      <a:tailEnd type="none" w="med" len="med"/>
                    </a:lnR>
                    <a:lnT w="12700" cap="flat" cmpd="sng" algn="ctr">
                      <a:solidFill>
                        <a:srgbClr val="D3D4CF"/>
                      </a:solidFill>
                      <a:prstDash val="solid"/>
                      <a:round/>
                      <a:headEnd type="none" w="med" len="med"/>
                      <a:tailEnd type="none" w="med" len="med"/>
                    </a:lnT>
                    <a:lnB w="12700" cap="flat" cmpd="sng" algn="ctr">
                      <a:solidFill>
                        <a:srgbClr val="D3D4CF"/>
                      </a:solidFill>
                      <a:prstDash val="solid"/>
                      <a:round/>
                      <a:headEnd type="none" w="med" len="med"/>
                      <a:tailEnd type="none" w="med" len="med"/>
                    </a:lnB>
                    <a:solidFill>
                      <a:srgbClr val="12454B"/>
                    </a:solidFill>
                  </a:tcPr>
                </a:tc>
                <a:extLst>
                  <a:ext uri="{0D108BD9-81ED-4DB2-BD59-A6C34878D82A}">
                    <a16:rowId xmlns:a16="http://schemas.microsoft.com/office/drawing/2014/main" val="10004"/>
                  </a:ext>
                </a:extLst>
              </a:tr>
            </a:tbl>
          </a:graphicData>
        </a:graphic>
      </p:graphicFrame>
      <p:sp>
        <p:nvSpPr>
          <p:cNvPr id="5" name="Shape 2"/>
          <p:cNvSpPr/>
          <p:nvPr/>
        </p:nvSpPr>
        <p:spPr>
          <a:xfrm>
            <a:off x="812800" y="4401827"/>
            <a:ext cx="2517775" cy="955040"/>
          </a:xfrm>
          <a:prstGeom prst="roundRect">
            <a:avLst>
              <a:gd name="adj" fmla="val 10638"/>
            </a:avLst>
          </a:prstGeom>
          <a:solidFill>
            <a:srgbClr val="F1EAE0"/>
          </a:solidFill>
          <a:ln/>
        </p:spPr>
        <p:txBody>
          <a:bodyPr/>
          <a:lstStyle/>
          <a:p>
            <a:endParaRPr lang="en-IN"/>
          </a:p>
        </p:txBody>
      </p:sp>
      <p:sp>
        <p:nvSpPr>
          <p:cNvPr id="6" name="Text 3"/>
          <p:cNvSpPr/>
          <p:nvPr/>
        </p:nvSpPr>
        <p:spPr>
          <a:xfrm>
            <a:off x="977900" y="4566927"/>
            <a:ext cx="2253202" cy="406400"/>
          </a:xfrm>
          <a:prstGeom prst="rect">
            <a:avLst/>
          </a:prstGeom>
          <a:noFill/>
          <a:ln/>
        </p:spPr>
        <p:txBody>
          <a:bodyPr wrap="square" lIns="0" tIns="0" rIns="0" bIns="0" rtlCol="0" anchor="t">
            <a:normAutofit/>
          </a:bodyPr>
          <a:lstStyle/>
          <a:p>
            <a:pPr marL="0" indent="0" algn="l">
              <a:lnSpc>
                <a:spcPts val="3000"/>
              </a:lnSpc>
              <a:buNone/>
            </a:pPr>
            <a:r>
              <a:rPr lang="en-US" sz="2500" b="1" dirty="0">
                <a:solidFill>
                  <a:srgbClr val="12454B"/>
                </a:solidFill>
                <a:latin typeface="Playfair Display" pitchFamily="34" charset="0"/>
                <a:ea typeface="Playfair Display" pitchFamily="34" charset="-122"/>
                <a:cs typeface="Playfair Display" pitchFamily="34" charset="-120"/>
              </a:rPr>
              <a:t>₹258</a:t>
            </a:r>
            <a:endParaRPr lang="en-US" sz="2500" dirty="0"/>
          </a:p>
        </p:txBody>
      </p:sp>
      <p:sp>
        <p:nvSpPr>
          <p:cNvPr id="7" name="Text 4"/>
          <p:cNvSpPr/>
          <p:nvPr/>
        </p:nvSpPr>
        <p:spPr>
          <a:xfrm>
            <a:off x="977900" y="4986027"/>
            <a:ext cx="225320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A5C"/>
                </a:solidFill>
                <a:latin typeface="Poppins" pitchFamily="34" charset="0"/>
                <a:ea typeface="Poppins" pitchFamily="34" charset="-122"/>
                <a:cs typeface="Poppins" pitchFamily="34" charset="-120"/>
              </a:rPr>
              <a:t>Average order value</a:t>
            </a:r>
            <a:endParaRPr lang="en-US" sz="1200" dirty="0"/>
          </a:p>
        </p:txBody>
      </p:sp>
      <p:sp>
        <p:nvSpPr>
          <p:cNvPr id="8" name="Shape 5"/>
          <p:cNvSpPr/>
          <p:nvPr/>
        </p:nvSpPr>
        <p:spPr>
          <a:xfrm>
            <a:off x="3495675" y="4401827"/>
            <a:ext cx="2517775" cy="955040"/>
          </a:xfrm>
          <a:prstGeom prst="roundRect">
            <a:avLst>
              <a:gd name="adj" fmla="val 10638"/>
            </a:avLst>
          </a:prstGeom>
          <a:solidFill>
            <a:srgbClr val="F1EAE0"/>
          </a:solidFill>
          <a:ln/>
        </p:spPr>
        <p:txBody>
          <a:bodyPr/>
          <a:lstStyle/>
          <a:p>
            <a:endParaRPr lang="en-IN"/>
          </a:p>
        </p:txBody>
      </p:sp>
      <p:sp>
        <p:nvSpPr>
          <p:cNvPr id="9" name="Text 6"/>
          <p:cNvSpPr/>
          <p:nvPr/>
        </p:nvSpPr>
        <p:spPr>
          <a:xfrm>
            <a:off x="3660775" y="4566927"/>
            <a:ext cx="2253202" cy="406400"/>
          </a:xfrm>
          <a:prstGeom prst="rect">
            <a:avLst/>
          </a:prstGeom>
          <a:noFill/>
          <a:ln/>
        </p:spPr>
        <p:txBody>
          <a:bodyPr wrap="square" lIns="0" tIns="0" rIns="0" bIns="0" rtlCol="0" anchor="t">
            <a:normAutofit/>
          </a:bodyPr>
          <a:lstStyle/>
          <a:p>
            <a:pPr marL="0" indent="0" algn="l">
              <a:lnSpc>
                <a:spcPts val="3000"/>
              </a:lnSpc>
              <a:buNone/>
            </a:pPr>
            <a:r>
              <a:rPr lang="en-US" sz="2500" b="1" dirty="0">
                <a:solidFill>
                  <a:srgbClr val="12454B"/>
                </a:solidFill>
                <a:latin typeface="Playfair Display" pitchFamily="34" charset="0"/>
                <a:ea typeface="Playfair Display" pitchFamily="34" charset="-122"/>
                <a:cs typeface="Playfair Display" pitchFamily="34" charset="-120"/>
              </a:rPr>
              <a:t>₹104</a:t>
            </a:r>
            <a:endParaRPr lang="en-US" sz="2500" dirty="0"/>
          </a:p>
        </p:txBody>
      </p:sp>
      <p:sp>
        <p:nvSpPr>
          <p:cNvPr id="10" name="Text 7"/>
          <p:cNvSpPr/>
          <p:nvPr/>
        </p:nvSpPr>
        <p:spPr>
          <a:xfrm>
            <a:off x="3660775" y="4986027"/>
            <a:ext cx="225320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A5C"/>
                </a:solidFill>
                <a:latin typeface="Poppins" pitchFamily="34" charset="0"/>
                <a:ea typeface="Poppins" pitchFamily="34" charset="-122"/>
                <a:cs typeface="Poppins" pitchFamily="34" charset="-120"/>
              </a:rPr>
              <a:t>Cost per order</a:t>
            </a:r>
            <a:endParaRPr lang="en-US" sz="1200" dirty="0"/>
          </a:p>
        </p:txBody>
      </p:sp>
      <p:sp>
        <p:nvSpPr>
          <p:cNvPr id="11" name="Shape 8"/>
          <p:cNvSpPr/>
          <p:nvPr/>
        </p:nvSpPr>
        <p:spPr>
          <a:xfrm>
            <a:off x="6178550" y="4401827"/>
            <a:ext cx="2517775" cy="955040"/>
          </a:xfrm>
          <a:prstGeom prst="roundRect">
            <a:avLst>
              <a:gd name="adj" fmla="val 10638"/>
            </a:avLst>
          </a:prstGeom>
          <a:solidFill>
            <a:srgbClr val="F1EAE0"/>
          </a:solidFill>
          <a:ln/>
        </p:spPr>
        <p:txBody>
          <a:bodyPr/>
          <a:lstStyle/>
          <a:p>
            <a:endParaRPr lang="en-IN"/>
          </a:p>
        </p:txBody>
      </p:sp>
      <p:sp>
        <p:nvSpPr>
          <p:cNvPr id="12" name="Text 9"/>
          <p:cNvSpPr/>
          <p:nvPr/>
        </p:nvSpPr>
        <p:spPr>
          <a:xfrm>
            <a:off x="6343650" y="4566927"/>
            <a:ext cx="2253202" cy="406400"/>
          </a:xfrm>
          <a:prstGeom prst="rect">
            <a:avLst/>
          </a:prstGeom>
          <a:noFill/>
          <a:ln/>
        </p:spPr>
        <p:txBody>
          <a:bodyPr wrap="square" lIns="0" tIns="0" rIns="0" bIns="0" rtlCol="0" anchor="t">
            <a:normAutofit/>
          </a:bodyPr>
          <a:lstStyle/>
          <a:p>
            <a:pPr marL="0" indent="0" algn="l">
              <a:lnSpc>
                <a:spcPts val="3000"/>
              </a:lnSpc>
              <a:buNone/>
            </a:pPr>
            <a:r>
              <a:rPr lang="en-US" sz="2500" b="1" dirty="0">
                <a:solidFill>
                  <a:srgbClr val="12454B"/>
                </a:solidFill>
                <a:latin typeface="Playfair Display" pitchFamily="34" charset="0"/>
                <a:ea typeface="Playfair Display" pitchFamily="34" charset="-122"/>
                <a:cs typeface="Playfair Display" pitchFamily="34" charset="-120"/>
              </a:rPr>
              <a:t>₹153</a:t>
            </a:r>
            <a:endParaRPr lang="en-US" sz="2500" dirty="0"/>
          </a:p>
        </p:txBody>
      </p:sp>
      <p:sp>
        <p:nvSpPr>
          <p:cNvPr id="13" name="Text 10"/>
          <p:cNvSpPr/>
          <p:nvPr/>
        </p:nvSpPr>
        <p:spPr>
          <a:xfrm>
            <a:off x="6343650" y="4986027"/>
            <a:ext cx="225320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A5C"/>
                </a:solidFill>
                <a:latin typeface="Poppins" pitchFamily="34" charset="0"/>
                <a:ea typeface="Poppins" pitchFamily="34" charset="-122"/>
                <a:cs typeface="Poppins" pitchFamily="34" charset="-120"/>
              </a:rPr>
              <a:t>Profit per order</a:t>
            </a:r>
            <a:endParaRPr lang="en-US" sz="1200" dirty="0"/>
          </a:p>
        </p:txBody>
      </p:sp>
      <p:sp>
        <p:nvSpPr>
          <p:cNvPr id="14" name="Shape 11"/>
          <p:cNvSpPr/>
          <p:nvPr/>
        </p:nvSpPr>
        <p:spPr>
          <a:xfrm>
            <a:off x="8861425" y="4401827"/>
            <a:ext cx="2517775" cy="955040"/>
          </a:xfrm>
          <a:prstGeom prst="roundRect">
            <a:avLst>
              <a:gd name="adj" fmla="val 10638"/>
            </a:avLst>
          </a:prstGeom>
          <a:solidFill>
            <a:srgbClr val="D0684F"/>
          </a:solidFill>
          <a:ln/>
        </p:spPr>
        <p:txBody>
          <a:bodyPr/>
          <a:lstStyle/>
          <a:p>
            <a:endParaRPr lang="en-IN"/>
          </a:p>
        </p:txBody>
      </p:sp>
      <p:sp>
        <p:nvSpPr>
          <p:cNvPr id="15" name="Text 12"/>
          <p:cNvSpPr/>
          <p:nvPr/>
        </p:nvSpPr>
        <p:spPr>
          <a:xfrm>
            <a:off x="9026525" y="4566927"/>
            <a:ext cx="2253202" cy="406400"/>
          </a:xfrm>
          <a:prstGeom prst="rect">
            <a:avLst/>
          </a:prstGeom>
          <a:noFill/>
          <a:ln/>
        </p:spPr>
        <p:txBody>
          <a:bodyPr wrap="square" lIns="0" tIns="0" rIns="0" bIns="0" rtlCol="0" anchor="t">
            <a:normAutofit/>
          </a:bodyPr>
          <a:lstStyle/>
          <a:p>
            <a:pPr marL="0" indent="0" algn="l">
              <a:lnSpc>
                <a:spcPts val="3000"/>
              </a:lnSpc>
              <a:buNone/>
            </a:pPr>
            <a:r>
              <a:rPr lang="en-US" sz="2500" b="1" dirty="0">
                <a:solidFill>
                  <a:srgbClr val="2B1410"/>
                </a:solidFill>
                <a:latin typeface="Playfair Display" pitchFamily="34" charset="0"/>
                <a:ea typeface="Playfair Display" pitchFamily="34" charset="-122"/>
                <a:cs typeface="Playfair Display" pitchFamily="34" charset="-120"/>
              </a:rPr>
              <a:t>147%</a:t>
            </a:r>
            <a:endParaRPr lang="en-US" sz="2500" dirty="0"/>
          </a:p>
        </p:txBody>
      </p:sp>
      <p:sp>
        <p:nvSpPr>
          <p:cNvPr id="16" name="Text 13"/>
          <p:cNvSpPr/>
          <p:nvPr/>
        </p:nvSpPr>
        <p:spPr>
          <a:xfrm>
            <a:off x="9026525" y="4986027"/>
            <a:ext cx="225320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B1410"/>
                </a:solidFill>
                <a:latin typeface="Poppins" pitchFamily="34" charset="0"/>
                <a:ea typeface="Poppins" pitchFamily="34" charset="-122"/>
                <a:cs typeface="Poppins" pitchFamily="34" charset="-120"/>
              </a:rPr>
              <a:t>Return on ₹1,355 spent</a:t>
            </a:r>
            <a:endParaRPr lang="en-US" sz="1200" dirty="0"/>
          </a:p>
        </p:txBody>
      </p:sp>
      <p:pic>
        <p:nvPicPr>
          <p:cNvPr id="17" name="Image 0" descr="Postr logo"/>
          <p:cNvPicPr>
            <a:picLocks noChangeAspect="1"/>
          </p:cNvPicPr>
          <p:nvPr/>
        </p:nvPicPr>
        <p:blipFill>
          <a:blip r:embed="rId3"/>
          <a:srcRect/>
          <a:stretch/>
        </p:blipFill>
        <p:spPr>
          <a:xfrm>
            <a:off x="812800" y="6228085"/>
            <a:ext cx="165100" cy="215900"/>
          </a:xfrm>
          <a:prstGeom prst="rect">
            <a:avLst/>
          </a:prstGeom>
        </p:spPr>
      </p:pic>
      <p:sp>
        <p:nvSpPr>
          <p:cNvPr id="18" name="Text 14"/>
          <p:cNvSpPr/>
          <p:nvPr/>
        </p:nvSpPr>
        <p:spPr>
          <a:xfrm>
            <a:off x="1066800" y="6220458"/>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454B"/>
                </a:solidFill>
                <a:latin typeface="Playfair Display" pitchFamily="34" charset="0"/>
                <a:ea typeface="Playfair Display" pitchFamily="34" charset="-122"/>
                <a:cs typeface="Playfair Display" pitchFamily="34" charset="-120"/>
              </a:rPr>
              <a:t>Postr.</a:t>
            </a:r>
            <a:endParaRPr lang="en-US" sz="1300" dirty="0"/>
          </a:p>
        </p:txBody>
      </p:sp>
      <p:sp>
        <p:nvSpPr>
          <p:cNvPr id="19" name="Text 15"/>
          <p:cNvSpPr/>
          <p:nvPr/>
        </p:nvSpPr>
        <p:spPr>
          <a:xfrm>
            <a:off x="8763000" y="6238242"/>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5E7175"/>
                </a:solidFill>
                <a:latin typeface="Poppins" pitchFamily="34" charset="0"/>
                <a:ea typeface="Poppins" pitchFamily="34" charset="-122"/>
                <a:cs typeface="Poppins" pitchFamily="34" charset="-120"/>
              </a:rPr>
              <a:t>19 / 25</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B14F36"/>
                </a:solidFill>
                <a:latin typeface="Poppins" pitchFamily="34" charset="0"/>
                <a:ea typeface="Poppins" pitchFamily="34" charset="-122"/>
                <a:cs typeface="Poppins" pitchFamily="34" charset="-120"/>
              </a:rPr>
              <a:t>05 · CHALLENGES</a:t>
            </a:r>
            <a:endParaRPr lang="en-US" sz="1200" dirty="0"/>
          </a:p>
        </p:txBody>
      </p:sp>
      <p:sp>
        <p:nvSpPr>
          <p:cNvPr id="3" name="Text 1"/>
          <p:cNvSpPr/>
          <p:nvPr/>
        </p:nvSpPr>
        <p:spPr>
          <a:xfrm>
            <a:off x="812800" y="12420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2454B"/>
                </a:solidFill>
                <a:latin typeface="Playfair Display" pitchFamily="34" charset="0"/>
                <a:ea typeface="Playfair Display" pitchFamily="34" charset="-122"/>
                <a:cs typeface="Playfair Display" pitchFamily="34" charset="-120"/>
              </a:rPr>
              <a:t>The two problems that nearly stopped us</a:t>
            </a:r>
            <a:endParaRPr lang="en-US" sz="3600" dirty="0"/>
          </a:p>
        </p:txBody>
      </p:sp>
      <p:sp>
        <p:nvSpPr>
          <p:cNvPr id="4" name="Shape 2"/>
          <p:cNvSpPr/>
          <p:nvPr/>
        </p:nvSpPr>
        <p:spPr>
          <a:xfrm>
            <a:off x="812800" y="1960885"/>
            <a:ext cx="5181600" cy="3365500"/>
          </a:xfrm>
          <a:prstGeom prst="roundRect">
            <a:avLst>
              <a:gd name="adj" fmla="val 3019"/>
            </a:avLst>
          </a:prstGeom>
          <a:solidFill>
            <a:srgbClr val="F1EAE0"/>
          </a:solidFill>
          <a:ln/>
        </p:spPr>
        <p:txBody>
          <a:bodyPr/>
          <a:lstStyle/>
          <a:p>
            <a:endParaRPr lang="en-IN"/>
          </a:p>
        </p:txBody>
      </p:sp>
      <p:sp>
        <p:nvSpPr>
          <p:cNvPr id="5" name="Text 3"/>
          <p:cNvSpPr/>
          <p:nvPr/>
        </p:nvSpPr>
        <p:spPr>
          <a:xfrm>
            <a:off x="1054100" y="2202185"/>
            <a:ext cx="4839970"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2454B"/>
                </a:solidFill>
                <a:latin typeface="Poppins" pitchFamily="34" charset="0"/>
                <a:ea typeface="Poppins" pitchFamily="34" charset="-122"/>
                <a:cs typeface="Poppins" pitchFamily="34" charset="-120"/>
              </a:rPr>
              <a:t>Supplier selection</a:t>
            </a:r>
            <a:endParaRPr lang="en-US" sz="1700" dirty="0"/>
          </a:p>
        </p:txBody>
      </p:sp>
      <p:sp>
        <p:nvSpPr>
          <p:cNvPr id="6" name="Text 4"/>
          <p:cNvSpPr/>
          <p:nvPr/>
        </p:nvSpPr>
        <p:spPr>
          <a:xfrm>
            <a:off x="1054100" y="2550158"/>
            <a:ext cx="483997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14F36"/>
                </a:solidFill>
                <a:latin typeface="Poppins" pitchFamily="34" charset="0"/>
                <a:ea typeface="Poppins" pitchFamily="34" charset="-122"/>
                <a:cs typeface="Poppins" pitchFamily="34" charset="-120"/>
              </a:rPr>
              <a:t>THE PROBLEM</a:t>
            </a:r>
            <a:endParaRPr lang="en-US" sz="1200" dirty="0"/>
          </a:p>
        </p:txBody>
      </p:sp>
      <p:sp>
        <p:nvSpPr>
          <p:cNvPr id="7" name="Text 5"/>
          <p:cNvSpPr/>
          <p:nvPr/>
        </p:nvSpPr>
        <p:spPr>
          <a:xfrm>
            <a:off x="1054100" y="2852427"/>
            <a:ext cx="4839970" cy="946150"/>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4A5A5C"/>
                </a:solidFill>
                <a:latin typeface="Poppins" pitchFamily="34" charset="0"/>
                <a:ea typeface="Poppins" pitchFamily="34" charset="-122"/>
                <a:cs typeface="Poppins" pitchFamily="34" charset="-120"/>
              </a:rPr>
              <a:t>Bulk pricing only pays at a volume we did not have. A single print costs [₹__]; the same print in a bulk run costs [₹__]. At thirteen orders we were buying at the wrong end of that curve.</a:t>
            </a:r>
            <a:endParaRPr lang="en-US" sz="1250" dirty="0"/>
          </a:p>
        </p:txBody>
      </p:sp>
      <p:sp>
        <p:nvSpPr>
          <p:cNvPr id="8" name="Text 6"/>
          <p:cNvSpPr/>
          <p:nvPr/>
        </p:nvSpPr>
        <p:spPr>
          <a:xfrm>
            <a:off x="1054100" y="3862077"/>
            <a:ext cx="483997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14F36"/>
                </a:solidFill>
                <a:latin typeface="Poppins" pitchFamily="34" charset="0"/>
                <a:ea typeface="Poppins" pitchFamily="34" charset="-122"/>
                <a:cs typeface="Poppins" pitchFamily="34" charset="-120"/>
              </a:rPr>
              <a:t>WHAT WE DID</a:t>
            </a:r>
            <a:endParaRPr lang="en-US" sz="1200" dirty="0"/>
          </a:p>
        </p:txBody>
      </p:sp>
      <p:sp>
        <p:nvSpPr>
          <p:cNvPr id="9" name="Text 7"/>
          <p:cNvSpPr/>
          <p:nvPr/>
        </p:nvSpPr>
        <p:spPr>
          <a:xfrm>
            <a:off x="1054100" y="4164335"/>
            <a:ext cx="4839970" cy="946150"/>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4A5A5C"/>
                </a:solidFill>
                <a:latin typeface="Poppins" pitchFamily="34" charset="0"/>
                <a:ea typeface="Poppins" pitchFamily="34" charset="-122"/>
                <a:cs typeface="Poppins" pitchFamily="34" charset="-120"/>
              </a:rPr>
              <a:t>Quoted three local vendors against the same spec, negotiated per-piece rates on committed monthly volume, and batched orders into runs instead of printing one at a time. Printing stays on demand, so there is no unsold stock.</a:t>
            </a:r>
            <a:endParaRPr lang="en-US" sz="1250" dirty="0"/>
          </a:p>
        </p:txBody>
      </p:sp>
      <p:sp>
        <p:nvSpPr>
          <p:cNvPr id="10" name="Shape 8"/>
          <p:cNvSpPr/>
          <p:nvPr/>
        </p:nvSpPr>
        <p:spPr>
          <a:xfrm>
            <a:off x="6197600" y="1960885"/>
            <a:ext cx="5181600" cy="3365500"/>
          </a:xfrm>
          <a:prstGeom prst="roundRect">
            <a:avLst>
              <a:gd name="adj" fmla="val 3019"/>
            </a:avLst>
          </a:prstGeom>
          <a:solidFill>
            <a:srgbClr val="F1EAE0"/>
          </a:solidFill>
          <a:ln/>
        </p:spPr>
        <p:txBody>
          <a:bodyPr/>
          <a:lstStyle/>
          <a:p>
            <a:endParaRPr lang="en-IN"/>
          </a:p>
        </p:txBody>
      </p:sp>
      <p:sp>
        <p:nvSpPr>
          <p:cNvPr id="11" name="Text 9"/>
          <p:cNvSpPr/>
          <p:nvPr/>
        </p:nvSpPr>
        <p:spPr>
          <a:xfrm>
            <a:off x="6438900" y="2202185"/>
            <a:ext cx="4839970"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2454B"/>
                </a:solidFill>
                <a:latin typeface="Poppins" pitchFamily="34" charset="0"/>
                <a:ea typeface="Poppins" pitchFamily="34" charset="-122"/>
                <a:cs typeface="Poppins" pitchFamily="34" charset="-120"/>
              </a:rPr>
              <a:t>Standard print quality</a:t>
            </a:r>
            <a:endParaRPr lang="en-US" sz="1700" dirty="0"/>
          </a:p>
        </p:txBody>
      </p:sp>
      <p:sp>
        <p:nvSpPr>
          <p:cNvPr id="12" name="Text 10"/>
          <p:cNvSpPr/>
          <p:nvPr/>
        </p:nvSpPr>
        <p:spPr>
          <a:xfrm>
            <a:off x="6438900" y="2550158"/>
            <a:ext cx="483997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14F36"/>
                </a:solidFill>
                <a:latin typeface="Poppins" pitchFamily="34" charset="0"/>
                <a:ea typeface="Poppins" pitchFamily="34" charset="-122"/>
                <a:cs typeface="Poppins" pitchFamily="34" charset="-120"/>
              </a:rPr>
              <a:t>THE PROBLEM</a:t>
            </a:r>
            <a:endParaRPr lang="en-US" sz="1200" dirty="0"/>
          </a:p>
        </p:txBody>
      </p:sp>
      <p:sp>
        <p:nvSpPr>
          <p:cNvPr id="13" name="Text 11"/>
          <p:cNvSpPr/>
          <p:nvPr/>
        </p:nvSpPr>
        <p:spPr>
          <a:xfrm>
            <a:off x="6438900" y="2852427"/>
            <a:ext cx="4839970" cy="715963"/>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4A5A5C"/>
                </a:solidFill>
                <a:latin typeface="Poppins" pitchFamily="34" charset="0"/>
                <a:ea typeface="Poppins" pitchFamily="34" charset="-122"/>
                <a:cs typeface="Poppins" pitchFamily="34" charset="-120"/>
              </a:rPr>
              <a:t>Colour and paper weight drifted between runs. A poster is judged in the first two seconds on a wall — a dull black or a thin sheet undoes the whole brand promise.</a:t>
            </a:r>
            <a:endParaRPr lang="en-US" sz="1250" dirty="0"/>
          </a:p>
        </p:txBody>
      </p:sp>
      <p:sp>
        <p:nvSpPr>
          <p:cNvPr id="14" name="Text 12"/>
          <p:cNvSpPr/>
          <p:nvPr/>
        </p:nvSpPr>
        <p:spPr>
          <a:xfrm>
            <a:off x="6438900" y="3631890"/>
            <a:ext cx="483997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14F36"/>
                </a:solidFill>
                <a:latin typeface="Poppins" pitchFamily="34" charset="0"/>
                <a:ea typeface="Poppins" pitchFamily="34" charset="-122"/>
                <a:cs typeface="Poppins" pitchFamily="34" charset="-120"/>
              </a:rPr>
              <a:t>WHAT WE DID</a:t>
            </a:r>
            <a:endParaRPr lang="en-US" sz="1200" dirty="0"/>
          </a:p>
        </p:txBody>
      </p:sp>
      <p:sp>
        <p:nvSpPr>
          <p:cNvPr id="15" name="Text 13"/>
          <p:cNvSpPr/>
          <p:nvPr/>
        </p:nvSpPr>
        <p:spPr>
          <a:xfrm>
            <a:off x="6438900" y="3934147"/>
            <a:ext cx="4839970" cy="946150"/>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4A5A5C"/>
                </a:solidFill>
                <a:latin typeface="Poppins" pitchFamily="34" charset="0"/>
                <a:ea typeface="Poppins" pitchFamily="34" charset="-122"/>
                <a:cs typeface="Poppins" pitchFamily="34" charset="-120"/>
              </a:rPr>
              <a:t>Fixed the spec at 250 GSM matte art paper, physically checked every print against a reference before packing, and sent rejects back to be rerun at the vendor's cost rather than shipping them.</a:t>
            </a:r>
            <a:endParaRPr lang="en-US" sz="1250" dirty="0"/>
          </a:p>
        </p:txBody>
      </p:sp>
      <p:pic>
        <p:nvPicPr>
          <p:cNvPr id="16" name="Image 0" descr="Postr logo"/>
          <p:cNvPicPr>
            <a:picLocks noChangeAspect="1"/>
          </p:cNvPicPr>
          <p:nvPr/>
        </p:nvPicPr>
        <p:blipFill>
          <a:blip r:embed="rId3"/>
          <a:srcRect/>
          <a:stretch/>
        </p:blipFill>
        <p:spPr>
          <a:xfrm>
            <a:off x="812800" y="6228085"/>
            <a:ext cx="165100" cy="215900"/>
          </a:xfrm>
          <a:prstGeom prst="rect">
            <a:avLst/>
          </a:prstGeom>
        </p:spPr>
      </p:pic>
      <p:sp>
        <p:nvSpPr>
          <p:cNvPr id="17" name="Text 14"/>
          <p:cNvSpPr/>
          <p:nvPr/>
        </p:nvSpPr>
        <p:spPr>
          <a:xfrm>
            <a:off x="1066800" y="6220458"/>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454B"/>
                </a:solidFill>
                <a:latin typeface="Playfair Display" pitchFamily="34" charset="0"/>
                <a:ea typeface="Playfair Display" pitchFamily="34" charset="-122"/>
                <a:cs typeface="Playfair Display" pitchFamily="34" charset="-120"/>
              </a:rPr>
              <a:t>Postr.</a:t>
            </a:r>
            <a:endParaRPr lang="en-US" sz="1300" dirty="0"/>
          </a:p>
        </p:txBody>
      </p:sp>
      <p:sp>
        <p:nvSpPr>
          <p:cNvPr id="18" name="Text 15"/>
          <p:cNvSpPr/>
          <p:nvPr/>
        </p:nvSpPr>
        <p:spPr>
          <a:xfrm>
            <a:off x="8763000" y="6238242"/>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5E7175"/>
                </a:solidFill>
                <a:latin typeface="Poppins" pitchFamily="34" charset="0"/>
                <a:ea typeface="Poppins" pitchFamily="34" charset="-122"/>
                <a:cs typeface="Poppins" pitchFamily="34" charset="-120"/>
              </a:rPr>
              <a:t>20 / 25</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454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E8A48F"/>
                </a:solidFill>
                <a:latin typeface="Poppins" pitchFamily="34" charset="0"/>
                <a:ea typeface="Poppins" pitchFamily="34" charset="-122"/>
                <a:cs typeface="Poppins" pitchFamily="34" charset="-120"/>
              </a:rPr>
              <a:t>05 · PLANNING</a:t>
            </a:r>
            <a:endParaRPr lang="en-US" sz="1200" dirty="0"/>
          </a:p>
        </p:txBody>
      </p:sp>
      <p:sp>
        <p:nvSpPr>
          <p:cNvPr id="3" name="Text 1"/>
          <p:cNvSpPr/>
          <p:nvPr/>
        </p:nvSpPr>
        <p:spPr>
          <a:xfrm>
            <a:off x="812800" y="12674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FAF6F0"/>
                </a:solidFill>
                <a:latin typeface="Playfair Display" pitchFamily="34" charset="0"/>
                <a:ea typeface="Playfair Display" pitchFamily="34" charset="-122"/>
                <a:cs typeface="Playfair Display" pitchFamily="34" charset="-120"/>
              </a:rPr>
              <a:t>Two weeks, four gates</a:t>
            </a:r>
            <a:endParaRPr lang="en-US" sz="3600" dirty="0"/>
          </a:p>
        </p:txBody>
      </p:sp>
      <p:sp>
        <p:nvSpPr>
          <p:cNvPr id="4" name="Shape 2"/>
          <p:cNvSpPr/>
          <p:nvPr/>
        </p:nvSpPr>
        <p:spPr>
          <a:xfrm>
            <a:off x="812800" y="2011685"/>
            <a:ext cx="2517775" cy="2131060"/>
          </a:xfrm>
          <a:prstGeom prst="roundRect">
            <a:avLst>
              <a:gd name="adj" fmla="val 3576"/>
            </a:avLst>
          </a:prstGeom>
          <a:solidFill>
            <a:srgbClr val="1A555C"/>
          </a:solidFill>
          <a:ln/>
        </p:spPr>
        <p:txBody>
          <a:bodyPr/>
          <a:lstStyle/>
          <a:p>
            <a:endParaRPr lang="en-IN"/>
          </a:p>
        </p:txBody>
      </p:sp>
      <p:sp>
        <p:nvSpPr>
          <p:cNvPr id="5" name="Shape 3"/>
          <p:cNvSpPr/>
          <p:nvPr/>
        </p:nvSpPr>
        <p:spPr>
          <a:xfrm>
            <a:off x="812800" y="2024385"/>
            <a:ext cx="2517775" cy="0"/>
          </a:xfrm>
          <a:prstGeom prst="line">
            <a:avLst/>
          </a:prstGeom>
          <a:noFill/>
          <a:ln w="25400">
            <a:solidFill>
              <a:srgbClr val="E8A48F"/>
            </a:solidFill>
            <a:prstDash val="solid"/>
          </a:ln>
        </p:spPr>
        <p:txBody>
          <a:bodyPr/>
          <a:lstStyle/>
          <a:p>
            <a:endParaRPr lang="en-IN"/>
          </a:p>
        </p:txBody>
      </p:sp>
      <p:sp>
        <p:nvSpPr>
          <p:cNvPr id="6" name="Text 4"/>
          <p:cNvSpPr/>
          <p:nvPr/>
        </p:nvSpPr>
        <p:spPr>
          <a:xfrm>
            <a:off x="1016000" y="2240285"/>
            <a:ext cx="217471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8A48F"/>
                </a:solidFill>
                <a:latin typeface="Poppins" pitchFamily="34" charset="0"/>
                <a:ea typeface="Poppins" pitchFamily="34" charset="-122"/>
                <a:cs typeface="Poppins" pitchFamily="34" charset="-120"/>
              </a:rPr>
              <a:t>DAYS 1–2</a:t>
            </a:r>
            <a:endParaRPr lang="en-US" sz="1200" dirty="0"/>
          </a:p>
        </p:txBody>
      </p:sp>
      <p:sp>
        <p:nvSpPr>
          <p:cNvPr id="7" name="Text 5"/>
          <p:cNvSpPr/>
          <p:nvPr/>
        </p:nvSpPr>
        <p:spPr>
          <a:xfrm>
            <a:off x="1016000" y="2529842"/>
            <a:ext cx="217471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AF6F0"/>
                </a:solidFill>
                <a:latin typeface="Poppins" pitchFamily="34" charset="0"/>
                <a:ea typeface="Poppins" pitchFamily="34" charset="-122"/>
                <a:cs typeface="Poppins" pitchFamily="34" charset="-120"/>
              </a:rPr>
              <a:t>Operational frame</a:t>
            </a:r>
            <a:endParaRPr lang="en-US" sz="1500" dirty="0"/>
          </a:p>
        </p:txBody>
      </p:sp>
      <p:sp>
        <p:nvSpPr>
          <p:cNvPr id="8" name="Text 6"/>
          <p:cNvSpPr/>
          <p:nvPr/>
        </p:nvSpPr>
        <p:spPr>
          <a:xfrm>
            <a:off x="1016000" y="2834642"/>
            <a:ext cx="2174716" cy="11303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D6E6E4"/>
                </a:solidFill>
                <a:latin typeface="Poppins" pitchFamily="34" charset="0"/>
                <a:ea typeface="Poppins" pitchFamily="34" charset="-122"/>
                <a:cs typeface="Poppins" pitchFamily="34" charset="-120"/>
              </a:rPr>
              <a:t>Product scope, price points, vendor shortlist and who owns which lane. Nothing technical until this was settled.</a:t>
            </a:r>
            <a:endParaRPr lang="en-US" sz="1200" dirty="0"/>
          </a:p>
        </p:txBody>
      </p:sp>
      <p:sp>
        <p:nvSpPr>
          <p:cNvPr id="9" name="Shape 7"/>
          <p:cNvSpPr/>
          <p:nvPr/>
        </p:nvSpPr>
        <p:spPr>
          <a:xfrm>
            <a:off x="3495675" y="2011685"/>
            <a:ext cx="2517775" cy="2131060"/>
          </a:xfrm>
          <a:prstGeom prst="roundRect">
            <a:avLst>
              <a:gd name="adj" fmla="val 3576"/>
            </a:avLst>
          </a:prstGeom>
          <a:solidFill>
            <a:srgbClr val="1A555C"/>
          </a:solidFill>
          <a:ln/>
        </p:spPr>
        <p:txBody>
          <a:bodyPr/>
          <a:lstStyle/>
          <a:p>
            <a:endParaRPr lang="en-IN"/>
          </a:p>
        </p:txBody>
      </p:sp>
      <p:sp>
        <p:nvSpPr>
          <p:cNvPr id="10" name="Shape 8"/>
          <p:cNvSpPr/>
          <p:nvPr/>
        </p:nvSpPr>
        <p:spPr>
          <a:xfrm>
            <a:off x="3495675" y="2024385"/>
            <a:ext cx="2517775" cy="0"/>
          </a:xfrm>
          <a:prstGeom prst="line">
            <a:avLst/>
          </a:prstGeom>
          <a:noFill/>
          <a:ln w="25400">
            <a:solidFill>
              <a:srgbClr val="E8A48F"/>
            </a:solidFill>
            <a:prstDash val="solid"/>
          </a:ln>
        </p:spPr>
        <p:txBody>
          <a:bodyPr/>
          <a:lstStyle/>
          <a:p>
            <a:endParaRPr lang="en-IN"/>
          </a:p>
        </p:txBody>
      </p:sp>
      <p:sp>
        <p:nvSpPr>
          <p:cNvPr id="11" name="Text 9"/>
          <p:cNvSpPr/>
          <p:nvPr/>
        </p:nvSpPr>
        <p:spPr>
          <a:xfrm>
            <a:off x="3698875" y="2240285"/>
            <a:ext cx="217471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8A48F"/>
                </a:solidFill>
                <a:latin typeface="Poppins" pitchFamily="34" charset="0"/>
                <a:ea typeface="Poppins" pitchFamily="34" charset="-122"/>
                <a:cs typeface="Poppins" pitchFamily="34" charset="-120"/>
              </a:rPr>
              <a:t>DAYS 3–5</a:t>
            </a:r>
            <a:endParaRPr lang="en-US" sz="1200" dirty="0"/>
          </a:p>
        </p:txBody>
      </p:sp>
      <p:sp>
        <p:nvSpPr>
          <p:cNvPr id="12" name="Text 10"/>
          <p:cNvSpPr/>
          <p:nvPr/>
        </p:nvSpPr>
        <p:spPr>
          <a:xfrm>
            <a:off x="3698875" y="2529842"/>
            <a:ext cx="217471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AF6F0"/>
                </a:solidFill>
                <a:latin typeface="Poppins" pitchFamily="34" charset="0"/>
                <a:ea typeface="Poppins" pitchFamily="34" charset="-122"/>
                <a:cs typeface="Poppins" pitchFamily="34" charset="-120"/>
              </a:rPr>
              <a:t>Tech blueprint</a:t>
            </a:r>
            <a:endParaRPr lang="en-US" sz="1500" dirty="0"/>
          </a:p>
        </p:txBody>
      </p:sp>
      <p:sp>
        <p:nvSpPr>
          <p:cNvPr id="13" name="Text 11"/>
          <p:cNvSpPr/>
          <p:nvPr/>
        </p:nvSpPr>
        <p:spPr>
          <a:xfrm>
            <a:off x="3698875" y="2834642"/>
            <a:ext cx="2174716" cy="11303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D6E6E4"/>
                </a:solidFill>
                <a:latin typeface="Poppins" pitchFamily="34" charset="0"/>
                <a:ea typeface="Poppins" pitchFamily="34" charset="-122"/>
                <a:cs typeface="Poppins" pitchFamily="34" charset="-120"/>
              </a:rPr>
              <a:t>Order lifecycle drawn on paper: states, cost entries, what the admin panel must show. Three days of design, no code.</a:t>
            </a:r>
            <a:endParaRPr lang="en-US" sz="1200" dirty="0"/>
          </a:p>
        </p:txBody>
      </p:sp>
      <p:sp>
        <p:nvSpPr>
          <p:cNvPr id="14" name="Shape 12"/>
          <p:cNvSpPr/>
          <p:nvPr/>
        </p:nvSpPr>
        <p:spPr>
          <a:xfrm>
            <a:off x="6178550" y="2011685"/>
            <a:ext cx="2517775" cy="2131060"/>
          </a:xfrm>
          <a:prstGeom prst="roundRect">
            <a:avLst>
              <a:gd name="adj" fmla="val 3576"/>
            </a:avLst>
          </a:prstGeom>
          <a:solidFill>
            <a:srgbClr val="1A555C"/>
          </a:solidFill>
          <a:ln/>
        </p:spPr>
        <p:txBody>
          <a:bodyPr/>
          <a:lstStyle/>
          <a:p>
            <a:endParaRPr lang="en-IN"/>
          </a:p>
        </p:txBody>
      </p:sp>
      <p:sp>
        <p:nvSpPr>
          <p:cNvPr id="15" name="Shape 13"/>
          <p:cNvSpPr/>
          <p:nvPr/>
        </p:nvSpPr>
        <p:spPr>
          <a:xfrm>
            <a:off x="6178550" y="2024385"/>
            <a:ext cx="2517775" cy="0"/>
          </a:xfrm>
          <a:prstGeom prst="line">
            <a:avLst/>
          </a:prstGeom>
          <a:noFill/>
          <a:ln w="25400">
            <a:solidFill>
              <a:srgbClr val="E8A48F"/>
            </a:solidFill>
            <a:prstDash val="solid"/>
          </a:ln>
        </p:spPr>
        <p:txBody>
          <a:bodyPr/>
          <a:lstStyle/>
          <a:p>
            <a:endParaRPr lang="en-IN"/>
          </a:p>
        </p:txBody>
      </p:sp>
      <p:sp>
        <p:nvSpPr>
          <p:cNvPr id="16" name="Text 14"/>
          <p:cNvSpPr/>
          <p:nvPr/>
        </p:nvSpPr>
        <p:spPr>
          <a:xfrm>
            <a:off x="6381750" y="2240285"/>
            <a:ext cx="217471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8A48F"/>
                </a:solidFill>
                <a:latin typeface="Poppins" pitchFamily="34" charset="0"/>
                <a:ea typeface="Poppins" pitchFamily="34" charset="-122"/>
                <a:cs typeface="Poppins" pitchFamily="34" charset="-120"/>
              </a:rPr>
              <a:t>DAYS 6–9</a:t>
            </a:r>
            <a:endParaRPr lang="en-US" sz="1200" dirty="0"/>
          </a:p>
        </p:txBody>
      </p:sp>
      <p:sp>
        <p:nvSpPr>
          <p:cNvPr id="17" name="Text 15"/>
          <p:cNvSpPr/>
          <p:nvPr/>
        </p:nvSpPr>
        <p:spPr>
          <a:xfrm>
            <a:off x="6381750" y="2529842"/>
            <a:ext cx="217471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AF6F0"/>
                </a:solidFill>
                <a:latin typeface="Poppins" pitchFamily="34" charset="0"/>
                <a:ea typeface="Poppins" pitchFamily="34" charset="-122"/>
                <a:cs typeface="Poppins" pitchFamily="34" charset="-120"/>
              </a:rPr>
              <a:t>Stack finalised</a:t>
            </a:r>
            <a:endParaRPr lang="en-US" sz="1500" dirty="0"/>
          </a:p>
        </p:txBody>
      </p:sp>
      <p:sp>
        <p:nvSpPr>
          <p:cNvPr id="18" name="Text 16"/>
          <p:cNvSpPr/>
          <p:nvPr/>
        </p:nvSpPr>
        <p:spPr>
          <a:xfrm>
            <a:off x="6381750" y="2834642"/>
            <a:ext cx="2174716" cy="11303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D6E6E4"/>
                </a:solidFill>
                <a:latin typeface="Poppins" pitchFamily="34" charset="0"/>
                <a:ea typeface="Poppins" pitchFamily="34" charset="-122"/>
                <a:cs typeface="Poppins" pitchFamily="34" charset="-120"/>
              </a:rPr>
              <a:t>Storefront, Razorpay account and keys, vault storage and admin authentication chosen and tested end to end.</a:t>
            </a:r>
            <a:endParaRPr lang="en-US" sz="1200" dirty="0"/>
          </a:p>
        </p:txBody>
      </p:sp>
      <p:sp>
        <p:nvSpPr>
          <p:cNvPr id="19" name="Shape 17"/>
          <p:cNvSpPr/>
          <p:nvPr/>
        </p:nvSpPr>
        <p:spPr>
          <a:xfrm>
            <a:off x="8861425" y="2011685"/>
            <a:ext cx="2517775" cy="2131060"/>
          </a:xfrm>
          <a:prstGeom prst="roundRect">
            <a:avLst>
              <a:gd name="adj" fmla="val 3576"/>
            </a:avLst>
          </a:prstGeom>
          <a:solidFill>
            <a:srgbClr val="1A555C"/>
          </a:solidFill>
          <a:ln/>
        </p:spPr>
        <p:txBody>
          <a:bodyPr/>
          <a:lstStyle/>
          <a:p>
            <a:endParaRPr lang="en-IN"/>
          </a:p>
        </p:txBody>
      </p:sp>
      <p:sp>
        <p:nvSpPr>
          <p:cNvPr id="20" name="Shape 18"/>
          <p:cNvSpPr/>
          <p:nvPr/>
        </p:nvSpPr>
        <p:spPr>
          <a:xfrm>
            <a:off x="8861425" y="2024385"/>
            <a:ext cx="2517775" cy="0"/>
          </a:xfrm>
          <a:prstGeom prst="line">
            <a:avLst/>
          </a:prstGeom>
          <a:noFill/>
          <a:ln w="25400">
            <a:solidFill>
              <a:srgbClr val="E8A48F"/>
            </a:solidFill>
            <a:prstDash val="solid"/>
          </a:ln>
        </p:spPr>
        <p:txBody>
          <a:bodyPr/>
          <a:lstStyle/>
          <a:p>
            <a:endParaRPr lang="en-IN"/>
          </a:p>
        </p:txBody>
      </p:sp>
      <p:sp>
        <p:nvSpPr>
          <p:cNvPr id="21" name="Text 19"/>
          <p:cNvSpPr/>
          <p:nvPr/>
        </p:nvSpPr>
        <p:spPr>
          <a:xfrm>
            <a:off x="9064625" y="2240285"/>
            <a:ext cx="217471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8A48F"/>
                </a:solidFill>
                <a:latin typeface="Poppins" pitchFamily="34" charset="0"/>
                <a:ea typeface="Poppins" pitchFamily="34" charset="-122"/>
                <a:cs typeface="Poppins" pitchFamily="34" charset="-120"/>
              </a:rPr>
              <a:t>DAYS 10–14</a:t>
            </a:r>
            <a:endParaRPr lang="en-US" sz="1200" dirty="0"/>
          </a:p>
        </p:txBody>
      </p:sp>
      <p:sp>
        <p:nvSpPr>
          <p:cNvPr id="22" name="Text 20"/>
          <p:cNvSpPr/>
          <p:nvPr/>
        </p:nvSpPr>
        <p:spPr>
          <a:xfrm>
            <a:off x="9064625" y="2529842"/>
            <a:ext cx="217471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AF6F0"/>
                </a:solidFill>
                <a:latin typeface="Poppins" pitchFamily="34" charset="0"/>
                <a:ea typeface="Poppins" pitchFamily="34" charset="-122"/>
                <a:cs typeface="Poppins" pitchFamily="34" charset="-120"/>
              </a:rPr>
              <a:t>Website build</a:t>
            </a:r>
            <a:endParaRPr lang="en-US" sz="1500" dirty="0"/>
          </a:p>
        </p:txBody>
      </p:sp>
      <p:sp>
        <p:nvSpPr>
          <p:cNvPr id="23" name="Text 21"/>
          <p:cNvSpPr/>
          <p:nvPr/>
        </p:nvSpPr>
        <p:spPr>
          <a:xfrm>
            <a:off x="9064625" y="2834642"/>
            <a:ext cx="2174716" cy="11303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D6E6E4"/>
                </a:solidFill>
                <a:latin typeface="Poppins" pitchFamily="34" charset="0"/>
                <a:ea typeface="Poppins" pitchFamily="34" charset="-122"/>
                <a:cs typeface="Poppins" pitchFamily="34" charset="-120"/>
              </a:rPr>
              <a:t>Catalogue, checkout, admin panel and test orders pushed through the full pipeline before the store opened.</a:t>
            </a:r>
            <a:endParaRPr lang="en-US" sz="1200" dirty="0"/>
          </a:p>
        </p:txBody>
      </p:sp>
      <p:sp>
        <p:nvSpPr>
          <p:cNvPr id="24" name="Text 22"/>
          <p:cNvSpPr/>
          <p:nvPr/>
        </p:nvSpPr>
        <p:spPr>
          <a:xfrm>
            <a:off x="812800" y="4384042"/>
            <a:ext cx="10464800" cy="79883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D6E6E4"/>
                </a:solidFill>
                <a:latin typeface="Poppins" pitchFamily="34" charset="0"/>
                <a:ea typeface="Poppins" pitchFamily="34" charset="-122"/>
                <a:cs typeface="Poppins" pitchFamily="34" charset="-120"/>
              </a:rPr>
              <a:t>The sequence was the point. Because the order lifecycle was drawn before anything was built, the admin panel matched how the business actually runs on day one — states, cancellations and costs included rather than bolted on later.</a:t>
            </a:r>
            <a:endParaRPr lang="en-US" sz="1400" dirty="0"/>
          </a:p>
        </p:txBody>
      </p:sp>
      <p:pic>
        <p:nvPicPr>
          <p:cNvPr id="25" name="Image 0" descr="Postr logo"/>
          <p:cNvPicPr>
            <a:picLocks noChangeAspect="1"/>
          </p:cNvPicPr>
          <p:nvPr/>
        </p:nvPicPr>
        <p:blipFill>
          <a:blip r:embed="rId3"/>
          <a:srcRect/>
          <a:stretch/>
        </p:blipFill>
        <p:spPr>
          <a:xfrm>
            <a:off x="812800" y="6228085"/>
            <a:ext cx="165100" cy="215900"/>
          </a:xfrm>
          <a:prstGeom prst="rect">
            <a:avLst/>
          </a:prstGeom>
        </p:spPr>
      </p:pic>
      <p:sp>
        <p:nvSpPr>
          <p:cNvPr id="26" name="Text 23"/>
          <p:cNvSpPr/>
          <p:nvPr/>
        </p:nvSpPr>
        <p:spPr>
          <a:xfrm>
            <a:off x="1066800" y="6220458"/>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AF6F0"/>
                </a:solidFill>
                <a:latin typeface="Playfair Display" pitchFamily="34" charset="0"/>
                <a:ea typeface="Playfair Display" pitchFamily="34" charset="-122"/>
                <a:cs typeface="Playfair Display" pitchFamily="34" charset="-120"/>
              </a:rPr>
              <a:t>Postr.</a:t>
            </a:r>
            <a:endParaRPr lang="en-US" sz="1300" dirty="0"/>
          </a:p>
        </p:txBody>
      </p:sp>
      <p:sp>
        <p:nvSpPr>
          <p:cNvPr id="27" name="Text 24"/>
          <p:cNvSpPr/>
          <p:nvPr/>
        </p:nvSpPr>
        <p:spPr>
          <a:xfrm>
            <a:off x="8763000" y="6238242"/>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A8C3C2"/>
                </a:solidFill>
                <a:latin typeface="Poppins" pitchFamily="34" charset="0"/>
                <a:ea typeface="Poppins" pitchFamily="34" charset="-122"/>
                <a:cs typeface="Poppins" pitchFamily="34" charset="-120"/>
              </a:rPr>
              <a:t>21 / 25</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D0684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2B1410"/>
                </a:solidFill>
                <a:latin typeface="Poppins" pitchFamily="34" charset="0"/>
                <a:ea typeface="Poppins" pitchFamily="34" charset="-122"/>
                <a:cs typeface="Poppins" pitchFamily="34" charset="-120"/>
              </a:rPr>
              <a:t>05 · ADAPTABILITY · LEARNING FROM FAILURE</a:t>
            </a:r>
            <a:endParaRPr lang="en-US" sz="1200" dirty="0"/>
          </a:p>
        </p:txBody>
      </p:sp>
      <p:sp>
        <p:nvSpPr>
          <p:cNvPr id="3" name="Text 1"/>
          <p:cNvSpPr/>
          <p:nvPr/>
        </p:nvSpPr>
        <p:spPr>
          <a:xfrm>
            <a:off x="812800" y="1254758"/>
            <a:ext cx="10203180" cy="1135380"/>
          </a:xfrm>
          <a:prstGeom prst="rect">
            <a:avLst/>
          </a:prstGeom>
          <a:noFill/>
          <a:ln/>
        </p:spPr>
        <p:txBody>
          <a:bodyPr wrap="square" lIns="0" tIns="0" rIns="0" bIns="0" rtlCol="0" anchor="t">
            <a:normAutofit/>
          </a:bodyPr>
          <a:lstStyle/>
          <a:p>
            <a:pPr marL="0" indent="0" algn="l">
              <a:lnSpc>
                <a:spcPts val="4370"/>
              </a:lnSpc>
              <a:buNone/>
            </a:pPr>
            <a:r>
              <a:rPr lang="en-US" sz="3800" dirty="0">
                <a:solidFill>
                  <a:srgbClr val="2B1410"/>
                </a:solidFill>
                <a:latin typeface="Playfair Display" pitchFamily="34" charset="0"/>
                <a:ea typeface="Playfair Display" pitchFamily="34" charset="-122"/>
                <a:cs typeface="Playfair Display" pitchFamily="34" charset="-120"/>
              </a:rPr>
              <a:t>The convertible box did not survive contact with a supplier.</a:t>
            </a:r>
            <a:endParaRPr lang="en-US" sz="3800" dirty="0"/>
          </a:p>
        </p:txBody>
      </p:sp>
      <p:sp>
        <p:nvSpPr>
          <p:cNvPr id="4" name="Text 2"/>
          <p:cNvSpPr/>
          <p:nvPr/>
        </p:nvSpPr>
        <p:spPr>
          <a:xfrm>
            <a:off x="812800" y="2593342"/>
            <a:ext cx="10203180"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2B1410"/>
                </a:solidFill>
                <a:latin typeface="Poppins" pitchFamily="34" charset="0"/>
                <a:ea typeface="Poppins" pitchFamily="34" charset="-122"/>
                <a:cs typeface="Poppins" pitchFamily="34" charset="-120"/>
              </a:rPr>
              <a:t>Our pitch promised packaging that folded out into a desk stand, a pen holder or a vase. No local vendor would run custom die-cut boxes at our order size, and the quotes that did come back cost more than the poster inside them.</a:t>
            </a:r>
            <a:endParaRPr lang="en-US" sz="1500" dirty="0"/>
          </a:p>
        </p:txBody>
      </p:sp>
      <p:sp>
        <p:nvSpPr>
          <p:cNvPr id="5" name="Shape 3"/>
          <p:cNvSpPr/>
          <p:nvPr/>
        </p:nvSpPr>
        <p:spPr>
          <a:xfrm>
            <a:off x="812800" y="3650617"/>
            <a:ext cx="3403600" cy="1665923"/>
          </a:xfrm>
          <a:prstGeom prst="roundRect">
            <a:avLst>
              <a:gd name="adj" fmla="val 6099"/>
            </a:avLst>
          </a:prstGeom>
          <a:solidFill>
            <a:srgbClr val="C25B42"/>
          </a:solidFill>
          <a:ln/>
        </p:spPr>
        <p:txBody>
          <a:bodyPr/>
          <a:lstStyle/>
          <a:p>
            <a:endParaRPr lang="en-IN"/>
          </a:p>
        </p:txBody>
      </p:sp>
      <p:sp>
        <p:nvSpPr>
          <p:cNvPr id="6" name="Text 4"/>
          <p:cNvSpPr/>
          <p:nvPr/>
        </p:nvSpPr>
        <p:spPr>
          <a:xfrm>
            <a:off x="1016000" y="3853817"/>
            <a:ext cx="308711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1410"/>
                </a:solidFill>
                <a:latin typeface="Poppins" pitchFamily="34" charset="0"/>
                <a:ea typeface="Poppins" pitchFamily="34" charset="-122"/>
                <a:cs typeface="Poppins" pitchFamily="34" charset="-120"/>
              </a:rPr>
              <a:t>DROPPED</a:t>
            </a:r>
            <a:endParaRPr lang="en-US" sz="1200" dirty="0"/>
          </a:p>
        </p:txBody>
      </p:sp>
      <p:sp>
        <p:nvSpPr>
          <p:cNvPr id="7" name="Text 5"/>
          <p:cNvSpPr/>
          <p:nvPr/>
        </p:nvSpPr>
        <p:spPr>
          <a:xfrm>
            <a:off x="1016000" y="4130675"/>
            <a:ext cx="308711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1410"/>
                </a:solidFill>
                <a:latin typeface="Poppins" pitchFamily="34" charset="0"/>
                <a:ea typeface="Poppins" pitchFamily="34" charset="-122"/>
                <a:cs typeface="Poppins" pitchFamily="34" charset="-120"/>
              </a:rPr>
              <a:t>The eco groove-box</a:t>
            </a:r>
            <a:endParaRPr lang="en-US" sz="1500" dirty="0"/>
          </a:p>
        </p:txBody>
      </p:sp>
      <p:sp>
        <p:nvSpPr>
          <p:cNvPr id="8" name="Text 6"/>
          <p:cNvSpPr/>
          <p:nvPr/>
        </p:nvSpPr>
        <p:spPr>
          <a:xfrm>
            <a:off x="1016000" y="4422775"/>
            <a:ext cx="3087116" cy="715963"/>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2B1410"/>
                </a:solidFill>
                <a:latin typeface="Poppins" pitchFamily="34" charset="0"/>
                <a:ea typeface="Poppins" pitchFamily="34" charset="-122"/>
                <a:cs typeface="Poppins" pitchFamily="34" charset="-120"/>
              </a:rPr>
              <a:t>No vendor at our volume, and a unit cost above the product it was protecting.</a:t>
            </a:r>
            <a:endParaRPr lang="en-US" sz="1250" dirty="0"/>
          </a:p>
        </p:txBody>
      </p:sp>
      <p:sp>
        <p:nvSpPr>
          <p:cNvPr id="9" name="Shape 7"/>
          <p:cNvSpPr/>
          <p:nvPr/>
        </p:nvSpPr>
        <p:spPr>
          <a:xfrm>
            <a:off x="4394200" y="3650617"/>
            <a:ext cx="3403600" cy="1665923"/>
          </a:xfrm>
          <a:prstGeom prst="roundRect">
            <a:avLst>
              <a:gd name="adj" fmla="val 6099"/>
            </a:avLst>
          </a:prstGeom>
          <a:solidFill>
            <a:srgbClr val="C25B42"/>
          </a:solidFill>
          <a:ln/>
        </p:spPr>
        <p:txBody>
          <a:bodyPr/>
          <a:lstStyle/>
          <a:p>
            <a:endParaRPr lang="en-IN"/>
          </a:p>
        </p:txBody>
      </p:sp>
      <p:sp>
        <p:nvSpPr>
          <p:cNvPr id="10" name="Text 8"/>
          <p:cNvSpPr/>
          <p:nvPr/>
        </p:nvSpPr>
        <p:spPr>
          <a:xfrm>
            <a:off x="4597400" y="3853817"/>
            <a:ext cx="308711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1410"/>
                </a:solidFill>
                <a:latin typeface="Poppins" pitchFamily="34" charset="0"/>
                <a:ea typeface="Poppins" pitchFamily="34" charset="-122"/>
                <a:cs typeface="Poppins" pitchFamily="34" charset="-120"/>
              </a:rPr>
              <a:t>ADOPTED</a:t>
            </a:r>
            <a:endParaRPr lang="en-US" sz="1200" dirty="0"/>
          </a:p>
        </p:txBody>
      </p:sp>
      <p:sp>
        <p:nvSpPr>
          <p:cNvPr id="11" name="Text 9"/>
          <p:cNvSpPr/>
          <p:nvPr/>
        </p:nvSpPr>
        <p:spPr>
          <a:xfrm>
            <a:off x="4597400" y="4130675"/>
            <a:ext cx="308711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1410"/>
                </a:solidFill>
                <a:latin typeface="Poppins" pitchFamily="34" charset="0"/>
                <a:ea typeface="Poppins" pitchFamily="34" charset="-122"/>
                <a:cs typeface="Poppins" pitchFamily="34" charset="-120"/>
              </a:rPr>
              <a:t>Small wooden tripods</a:t>
            </a:r>
            <a:endParaRPr lang="en-US" sz="1500" dirty="0"/>
          </a:p>
        </p:txBody>
      </p:sp>
      <p:sp>
        <p:nvSpPr>
          <p:cNvPr id="12" name="Text 10"/>
          <p:cNvSpPr/>
          <p:nvPr/>
        </p:nvSpPr>
        <p:spPr>
          <a:xfrm>
            <a:off x="4597400" y="4422775"/>
            <a:ext cx="3087116" cy="715963"/>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2B1410"/>
                </a:solidFill>
                <a:latin typeface="Poppins" pitchFamily="34" charset="0"/>
                <a:ea typeface="Poppins" pitchFamily="34" charset="-122"/>
                <a:cs typeface="Poppins" pitchFamily="34" charset="-120"/>
              </a:rPr>
              <a:t>Off the shelf, cheaper per unit, and they keep the moment that mattered — it stands on your desk.</a:t>
            </a:r>
            <a:endParaRPr lang="en-US" sz="1250" dirty="0"/>
          </a:p>
        </p:txBody>
      </p:sp>
      <p:sp>
        <p:nvSpPr>
          <p:cNvPr id="13" name="Shape 11"/>
          <p:cNvSpPr/>
          <p:nvPr/>
        </p:nvSpPr>
        <p:spPr>
          <a:xfrm>
            <a:off x="7975600" y="3650617"/>
            <a:ext cx="3403600" cy="1665923"/>
          </a:xfrm>
          <a:prstGeom prst="roundRect">
            <a:avLst>
              <a:gd name="adj" fmla="val 6099"/>
            </a:avLst>
          </a:prstGeom>
          <a:solidFill>
            <a:srgbClr val="C25B42"/>
          </a:solidFill>
          <a:ln/>
        </p:spPr>
        <p:txBody>
          <a:bodyPr/>
          <a:lstStyle/>
          <a:p>
            <a:endParaRPr lang="en-IN"/>
          </a:p>
        </p:txBody>
      </p:sp>
      <p:sp>
        <p:nvSpPr>
          <p:cNvPr id="14" name="Text 12"/>
          <p:cNvSpPr/>
          <p:nvPr/>
        </p:nvSpPr>
        <p:spPr>
          <a:xfrm>
            <a:off x="8178800" y="3853817"/>
            <a:ext cx="308711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1410"/>
                </a:solidFill>
                <a:latin typeface="Poppins" pitchFamily="34" charset="0"/>
                <a:ea typeface="Poppins" pitchFamily="34" charset="-122"/>
                <a:cs typeface="Poppins" pitchFamily="34" charset="-120"/>
              </a:rPr>
              <a:t>LEARNED</a:t>
            </a:r>
            <a:endParaRPr lang="en-US" sz="1200" dirty="0"/>
          </a:p>
        </p:txBody>
      </p:sp>
      <p:sp>
        <p:nvSpPr>
          <p:cNvPr id="15" name="Text 13"/>
          <p:cNvSpPr/>
          <p:nvPr/>
        </p:nvSpPr>
        <p:spPr>
          <a:xfrm>
            <a:off x="8178800" y="4130675"/>
            <a:ext cx="308711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1410"/>
                </a:solidFill>
                <a:latin typeface="Poppins" pitchFamily="34" charset="0"/>
                <a:ea typeface="Poppins" pitchFamily="34" charset="-122"/>
                <a:cs typeface="Poppins" pitchFamily="34" charset="-120"/>
              </a:rPr>
              <a:t>Design to the supply chain</a:t>
            </a:r>
            <a:endParaRPr lang="en-US" sz="1500" dirty="0"/>
          </a:p>
        </p:txBody>
      </p:sp>
      <p:sp>
        <p:nvSpPr>
          <p:cNvPr id="16" name="Text 14"/>
          <p:cNvSpPr/>
          <p:nvPr/>
        </p:nvSpPr>
        <p:spPr>
          <a:xfrm>
            <a:off x="8178800" y="4422775"/>
            <a:ext cx="3087116" cy="715963"/>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2B1410"/>
                </a:solidFill>
                <a:latin typeface="Poppins" pitchFamily="34" charset="0"/>
                <a:ea typeface="Poppins" pitchFamily="34" charset="-122"/>
                <a:cs typeface="Poppins" pitchFamily="34" charset="-120"/>
              </a:rPr>
              <a:t>Build packaging around what a supplier already makes, not around what looked good in the deck.</a:t>
            </a:r>
            <a:endParaRPr lang="en-US" sz="1250" dirty="0"/>
          </a:p>
        </p:txBody>
      </p:sp>
      <p:pic>
        <p:nvPicPr>
          <p:cNvPr id="17" name="Image 0" descr="Postr logo"/>
          <p:cNvPicPr>
            <a:picLocks noChangeAspect="1"/>
          </p:cNvPicPr>
          <p:nvPr/>
        </p:nvPicPr>
        <p:blipFill>
          <a:blip r:embed="rId3"/>
          <a:srcRect/>
          <a:stretch/>
        </p:blipFill>
        <p:spPr>
          <a:xfrm>
            <a:off x="812800" y="6228085"/>
            <a:ext cx="165100" cy="215900"/>
          </a:xfrm>
          <a:prstGeom prst="rect">
            <a:avLst/>
          </a:prstGeom>
        </p:spPr>
      </p:pic>
      <p:sp>
        <p:nvSpPr>
          <p:cNvPr id="18" name="Text 15"/>
          <p:cNvSpPr/>
          <p:nvPr/>
        </p:nvSpPr>
        <p:spPr>
          <a:xfrm>
            <a:off x="1066800" y="6220458"/>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B1410"/>
                </a:solidFill>
                <a:latin typeface="Playfair Display" pitchFamily="34" charset="0"/>
                <a:ea typeface="Playfair Display" pitchFamily="34" charset="-122"/>
                <a:cs typeface="Playfair Display" pitchFamily="34" charset="-120"/>
              </a:rPr>
              <a:t>Postr.</a:t>
            </a:r>
            <a:endParaRPr lang="en-US" sz="1300" dirty="0"/>
          </a:p>
        </p:txBody>
      </p:sp>
      <p:sp>
        <p:nvSpPr>
          <p:cNvPr id="19" name="Text 16"/>
          <p:cNvSpPr/>
          <p:nvPr/>
        </p:nvSpPr>
        <p:spPr>
          <a:xfrm>
            <a:off x="8763000" y="6238242"/>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2B1410"/>
                </a:solidFill>
                <a:latin typeface="Poppins" pitchFamily="34" charset="0"/>
                <a:ea typeface="Poppins" pitchFamily="34" charset="-122"/>
                <a:cs typeface="Poppins" pitchFamily="34" charset="-120"/>
              </a:rPr>
              <a:t>22 / 25</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B14F36"/>
                </a:solidFill>
                <a:latin typeface="Poppins" pitchFamily="34" charset="0"/>
                <a:ea typeface="Poppins" pitchFamily="34" charset="-122"/>
                <a:cs typeface="Poppins" pitchFamily="34" charset="-120"/>
              </a:rPr>
              <a:t>06 · EXECUTION</a:t>
            </a:r>
            <a:endParaRPr lang="en-US" sz="1200" dirty="0"/>
          </a:p>
        </p:txBody>
      </p:sp>
      <p:sp>
        <p:nvSpPr>
          <p:cNvPr id="3" name="Text 1"/>
          <p:cNvSpPr/>
          <p:nvPr/>
        </p:nvSpPr>
        <p:spPr>
          <a:xfrm>
            <a:off x="812800" y="12547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2454B"/>
                </a:solidFill>
                <a:latin typeface="Playfair Display" pitchFamily="34" charset="0"/>
                <a:ea typeface="Playfair Display" pitchFamily="34" charset="-122"/>
                <a:cs typeface="Playfair Display" pitchFamily="34" charset="-120"/>
              </a:rPr>
              <a:t>Four people, four lanes</a:t>
            </a:r>
            <a:endParaRPr lang="en-US" sz="3600" dirty="0"/>
          </a:p>
        </p:txBody>
      </p:sp>
      <p:sp>
        <p:nvSpPr>
          <p:cNvPr id="4" name="Shape 2"/>
          <p:cNvSpPr/>
          <p:nvPr/>
        </p:nvSpPr>
        <p:spPr>
          <a:xfrm>
            <a:off x="812800" y="1986285"/>
            <a:ext cx="2517775" cy="2887980"/>
          </a:xfrm>
          <a:prstGeom prst="roundRect">
            <a:avLst>
              <a:gd name="adj" fmla="val 4035"/>
            </a:avLst>
          </a:prstGeom>
          <a:solidFill>
            <a:srgbClr val="F1EAE0"/>
          </a:solidFill>
          <a:ln/>
        </p:spPr>
        <p:txBody>
          <a:bodyPr/>
          <a:lstStyle/>
          <a:p>
            <a:endParaRPr lang="en-IN"/>
          </a:p>
        </p:txBody>
      </p:sp>
      <p:sp>
        <p:nvSpPr>
          <p:cNvPr id="5" name="Text 3"/>
          <p:cNvSpPr/>
          <p:nvPr/>
        </p:nvSpPr>
        <p:spPr>
          <a:xfrm>
            <a:off x="1016000" y="2189485"/>
            <a:ext cx="2174716" cy="57404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454B"/>
                </a:solidFill>
                <a:latin typeface="Playfair Display" pitchFamily="34" charset="0"/>
                <a:ea typeface="Playfair Display" pitchFamily="34" charset="-122"/>
                <a:cs typeface="Playfair Display" pitchFamily="34" charset="-120"/>
              </a:rPr>
              <a:t>Sriparno Chowdhury</a:t>
            </a:r>
            <a:endParaRPr lang="en-US" sz="1800" dirty="0"/>
          </a:p>
        </p:txBody>
      </p:sp>
      <p:sp>
        <p:nvSpPr>
          <p:cNvPr id="6" name="Text 4"/>
          <p:cNvSpPr/>
          <p:nvPr/>
        </p:nvSpPr>
        <p:spPr>
          <a:xfrm>
            <a:off x="1016000" y="2814327"/>
            <a:ext cx="2174716" cy="434340"/>
          </a:xfrm>
          <a:prstGeom prst="rect">
            <a:avLst/>
          </a:prstGeom>
          <a:noFill/>
          <a:ln/>
        </p:spPr>
        <p:txBody>
          <a:bodyPr wrap="square" lIns="0" tIns="0" rIns="0" bIns="0" rtlCol="0" anchor="t">
            <a:normAutofit/>
          </a:bodyPr>
          <a:lstStyle/>
          <a:p>
            <a:pPr marL="0" indent="0" algn="l">
              <a:lnSpc>
                <a:spcPts val="1610"/>
              </a:lnSpc>
              <a:buNone/>
            </a:pPr>
            <a:r>
              <a:rPr lang="en-US" sz="1150" b="1" kern="0" spc="100" dirty="0">
                <a:solidFill>
                  <a:srgbClr val="B14F36"/>
                </a:solidFill>
                <a:latin typeface="Poppins" pitchFamily="34" charset="0"/>
                <a:ea typeface="Poppins" pitchFamily="34" charset="-122"/>
                <a:cs typeface="Poppins" pitchFamily="34" charset="-120"/>
              </a:rPr>
              <a:t>OPERATIONS &amp; SOURCING</a:t>
            </a:r>
            <a:endParaRPr lang="en-US" sz="1150" dirty="0"/>
          </a:p>
        </p:txBody>
      </p:sp>
      <p:sp>
        <p:nvSpPr>
          <p:cNvPr id="7" name="Text 5"/>
          <p:cNvSpPr/>
          <p:nvPr/>
        </p:nvSpPr>
        <p:spPr>
          <a:xfrm>
            <a:off x="1016000" y="3299458"/>
            <a:ext cx="2174716" cy="1397000"/>
          </a:xfrm>
          <a:prstGeom prst="rect">
            <a:avLst/>
          </a:prstGeom>
          <a:noFill/>
          <a:ln/>
        </p:spPr>
        <p:txBody>
          <a:bodyPr wrap="square" lIns="0" tIns="0" rIns="0" bIns="0" rtlCol="0" anchor="t">
            <a:normAutofit/>
          </a:bodyPr>
          <a:lstStyle/>
          <a:p>
            <a:pPr marL="342900" indent="-342900" algn="l">
              <a:lnSpc>
                <a:spcPts val="1800"/>
              </a:lnSpc>
              <a:buSzPct val="100000"/>
              <a:buChar char="•"/>
            </a:pPr>
            <a:r>
              <a:rPr lang="en-US" sz="1200" dirty="0">
                <a:solidFill>
                  <a:srgbClr val="4A5A5C"/>
                </a:solidFill>
                <a:latin typeface="Poppins" pitchFamily="34" charset="0"/>
                <a:ea typeface="Poppins" pitchFamily="34" charset="-122"/>
                <a:cs typeface="Poppins" pitchFamily="34" charset="-120"/>
              </a:rPr>
              <a:t>Order sorting and dispatch</a:t>
            </a:r>
            <a:endParaRPr lang="en-US" sz="1200" dirty="0"/>
          </a:p>
          <a:p>
            <a:pPr marL="342900" indent="-342900" algn="l">
              <a:lnSpc>
                <a:spcPts val="1800"/>
              </a:lnSpc>
              <a:buSzPct val="100000"/>
              <a:buChar char="•"/>
            </a:pPr>
            <a:r>
              <a:rPr lang="en-US" sz="1200" dirty="0">
                <a:solidFill>
                  <a:srgbClr val="4A5A5C"/>
                </a:solidFill>
                <a:latin typeface="Poppins" pitchFamily="34" charset="0"/>
                <a:ea typeface="Poppins" pitchFamily="34" charset="-122"/>
                <a:cs typeface="Poppins" pitchFamily="34" charset="-120"/>
              </a:rPr>
              <a:t>Vendor selection and talks</a:t>
            </a:r>
            <a:endParaRPr lang="en-US" sz="1200" dirty="0"/>
          </a:p>
          <a:p>
            <a:pPr marL="342900" indent="-342900" algn="l">
              <a:lnSpc>
                <a:spcPts val="1800"/>
              </a:lnSpc>
              <a:buSzPct val="100000"/>
              <a:buChar char="•"/>
            </a:pPr>
            <a:r>
              <a:rPr lang="en-US" sz="1200" dirty="0">
                <a:solidFill>
                  <a:srgbClr val="4A5A5C"/>
                </a:solidFill>
                <a:latin typeface="Poppins" pitchFamily="34" charset="0"/>
                <a:ea typeface="Poppins" pitchFamily="34" charset="-122"/>
                <a:cs typeface="Poppins" pitchFamily="34" charset="-120"/>
              </a:rPr>
              <a:t>Printing cost negotiation</a:t>
            </a:r>
            <a:endParaRPr lang="en-US" sz="1200" dirty="0"/>
          </a:p>
          <a:p>
            <a:pPr marL="342900" indent="-342900" algn="l">
              <a:lnSpc>
                <a:spcPts val="1800"/>
              </a:lnSpc>
              <a:buSzPct val="100000"/>
              <a:buChar char="•"/>
            </a:pPr>
            <a:r>
              <a:rPr lang="en-US" sz="1200" dirty="0">
                <a:solidFill>
                  <a:srgbClr val="4A5A5C"/>
                </a:solidFill>
                <a:latin typeface="Poppins" pitchFamily="34" charset="0"/>
                <a:ea typeface="Poppins" pitchFamily="34" charset="-122"/>
                <a:cs typeface="Poppins" pitchFamily="34" charset="-120"/>
              </a:rPr>
              <a:t>Print quality checks</a:t>
            </a:r>
            <a:endParaRPr lang="en-US" sz="1200" dirty="0"/>
          </a:p>
        </p:txBody>
      </p:sp>
      <p:sp>
        <p:nvSpPr>
          <p:cNvPr id="8" name="Shape 6"/>
          <p:cNvSpPr/>
          <p:nvPr/>
        </p:nvSpPr>
        <p:spPr>
          <a:xfrm>
            <a:off x="3495675" y="1986285"/>
            <a:ext cx="2517775" cy="2887980"/>
          </a:xfrm>
          <a:prstGeom prst="roundRect">
            <a:avLst>
              <a:gd name="adj" fmla="val 4035"/>
            </a:avLst>
          </a:prstGeom>
          <a:solidFill>
            <a:srgbClr val="F1EAE0"/>
          </a:solidFill>
          <a:ln/>
        </p:spPr>
        <p:txBody>
          <a:bodyPr/>
          <a:lstStyle/>
          <a:p>
            <a:endParaRPr lang="en-IN"/>
          </a:p>
        </p:txBody>
      </p:sp>
      <p:sp>
        <p:nvSpPr>
          <p:cNvPr id="9" name="Text 7"/>
          <p:cNvSpPr/>
          <p:nvPr/>
        </p:nvSpPr>
        <p:spPr>
          <a:xfrm>
            <a:off x="3698875" y="2189485"/>
            <a:ext cx="2174716"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454B"/>
                </a:solidFill>
                <a:latin typeface="Playfair Display" pitchFamily="34" charset="0"/>
                <a:ea typeface="Playfair Display" pitchFamily="34" charset="-122"/>
                <a:cs typeface="Playfair Display" pitchFamily="34" charset="-120"/>
              </a:rPr>
              <a:t>Poojitha K</a:t>
            </a:r>
            <a:endParaRPr lang="en-US" sz="1800" dirty="0"/>
          </a:p>
        </p:txBody>
      </p:sp>
      <p:sp>
        <p:nvSpPr>
          <p:cNvPr id="10" name="Text 8"/>
          <p:cNvSpPr/>
          <p:nvPr/>
        </p:nvSpPr>
        <p:spPr>
          <a:xfrm>
            <a:off x="3698875" y="2540000"/>
            <a:ext cx="2174716" cy="229870"/>
          </a:xfrm>
          <a:prstGeom prst="rect">
            <a:avLst/>
          </a:prstGeom>
          <a:noFill/>
          <a:ln/>
        </p:spPr>
        <p:txBody>
          <a:bodyPr wrap="square" lIns="0" tIns="0" rIns="0" bIns="0" rtlCol="0" anchor="t">
            <a:normAutofit/>
          </a:bodyPr>
          <a:lstStyle/>
          <a:p>
            <a:pPr marL="0" indent="0" algn="l">
              <a:lnSpc>
                <a:spcPts val="1610"/>
              </a:lnSpc>
              <a:buNone/>
            </a:pPr>
            <a:r>
              <a:rPr lang="en-US" sz="1150" b="1" kern="0" spc="100" dirty="0">
                <a:solidFill>
                  <a:srgbClr val="B14F36"/>
                </a:solidFill>
                <a:latin typeface="Poppins" pitchFamily="34" charset="0"/>
                <a:ea typeface="Poppins" pitchFamily="34" charset="-122"/>
                <a:cs typeface="Poppins" pitchFamily="34" charset="-120"/>
              </a:rPr>
              <a:t>WEBSITE</a:t>
            </a:r>
            <a:endParaRPr lang="en-US" sz="1150" dirty="0"/>
          </a:p>
        </p:txBody>
      </p:sp>
      <p:sp>
        <p:nvSpPr>
          <p:cNvPr id="11" name="Text 9"/>
          <p:cNvSpPr/>
          <p:nvPr/>
        </p:nvSpPr>
        <p:spPr>
          <a:xfrm>
            <a:off x="3698875" y="2820677"/>
            <a:ext cx="2174716" cy="1168400"/>
          </a:xfrm>
          <a:prstGeom prst="rect">
            <a:avLst/>
          </a:prstGeom>
          <a:noFill/>
          <a:ln/>
        </p:spPr>
        <p:txBody>
          <a:bodyPr wrap="square" lIns="0" tIns="0" rIns="0" bIns="0" rtlCol="0" anchor="t">
            <a:normAutofit/>
          </a:bodyPr>
          <a:lstStyle/>
          <a:p>
            <a:pPr marL="342900" indent="-342900" algn="l">
              <a:lnSpc>
                <a:spcPts val="1800"/>
              </a:lnSpc>
              <a:buSzPct val="100000"/>
              <a:buChar char="•"/>
            </a:pPr>
            <a:r>
              <a:rPr lang="en-US" sz="1200" dirty="0">
                <a:solidFill>
                  <a:srgbClr val="4A5A5C"/>
                </a:solidFill>
                <a:latin typeface="Poppins" pitchFamily="34" charset="0"/>
                <a:ea typeface="Poppins" pitchFamily="34" charset="-122"/>
                <a:cs typeface="Poppins" pitchFamily="34" charset="-120"/>
              </a:rPr>
              <a:t>Storefront build</a:t>
            </a:r>
            <a:endParaRPr lang="en-US" sz="1200" dirty="0"/>
          </a:p>
          <a:p>
            <a:pPr marL="342900" indent="-342900" algn="l">
              <a:lnSpc>
                <a:spcPts val="1800"/>
              </a:lnSpc>
              <a:buSzPct val="100000"/>
              <a:buChar char="•"/>
            </a:pPr>
            <a:r>
              <a:rPr lang="en-US" sz="1200" dirty="0">
                <a:solidFill>
                  <a:srgbClr val="4A5A5C"/>
                </a:solidFill>
                <a:latin typeface="Poppins" pitchFamily="34" charset="0"/>
                <a:ea typeface="Poppins" pitchFamily="34" charset="-122"/>
                <a:cs typeface="Poppins" pitchFamily="34" charset="-120"/>
              </a:rPr>
              <a:t>Catalogue and SKU pages</a:t>
            </a:r>
            <a:endParaRPr lang="en-US" sz="1200" dirty="0"/>
          </a:p>
          <a:p>
            <a:pPr marL="342900" indent="-342900" algn="l">
              <a:lnSpc>
                <a:spcPts val="1800"/>
              </a:lnSpc>
              <a:buSzPct val="100000"/>
              <a:buChar char="•"/>
            </a:pPr>
            <a:r>
              <a:rPr lang="en-US" sz="1200" dirty="0">
                <a:solidFill>
                  <a:srgbClr val="4A5A5C"/>
                </a:solidFill>
                <a:latin typeface="Poppins" pitchFamily="34" charset="0"/>
                <a:ea typeface="Poppins" pitchFamily="34" charset="-122"/>
                <a:cs typeface="Poppins" pitchFamily="34" charset="-120"/>
              </a:rPr>
              <a:t>Cart and checkout flow</a:t>
            </a:r>
            <a:endParaRPr lang="en-US" sz="1200" dirty="0"/>
          </a:p>
          <a:p>
            <a:pPr marL="342900" indent="-342900" algn="l">
              <a:lnSpc>
                <a:spcPts val="1800"/>
              </a:lnSpc>
              <a:buSzPct val="100000"/>
              <a:buChar char="•"/>
            </a:pPr>
            <a:r>
              <a:rPr lang="en-US" sz="1200" dirty="0">
                <a:solidFill>
                  <a:srgbClr val="4A5A5C"/>
                </a:solidFill>
                <a:latin typeface="Poppins" pitchFamily="34" charset="0"/>
                <a:ea typeface="Poppins" pitchFamily="34" charset="-122"/>
                <a:cs typeface="Poppins" pitchFamily="34" charset="-120"/>
              </a:rPr>
              <a:t>Admin panel screens</a:t>
            </a:r>
            <a:endParaRPr lang="en-US" sz="1200" dirty="0"/>
          </a:p>
        </p:txBody>
      </p:sp>
      <p:sp>
        <p:nvSpPr>
          <p:cNvPr id="12" name="Shape 10"/>
          <p:cNvSpPr/>
          <p:nvPr/>
        </p:nvSpPr>
        <p:spPr>
          <a:xfrm>
            <a:off x="6178550" y="1986285"/>
            <a:ext cx="2517775" cy="2887980"/>
          </a:xfrm>
          <a:prstGeom prst="roundRect">
            <a:avLst>
              <a:gd name="adj" fmla="val 4035"/>
            </a:avLst>
          </a:prstGeom>
          <a:solidFill>
            <a:srgbClr val="F1EAE0"/>
          </a:solidFill>
          <a:ln/>
        </p:spPr>
        <p:txBody>
          <a:bodyPr/>
          <a:lstStyle/>
          <a:p>
            <a:endParaRPr lang="en-IN"/>
          </a:p>
        </p:txBody>
      </p:sp>
      <p:sp>
        <p:nvSpPr>
          <p:cNvPr id="13" name="Text 11"/>
          <p:cNvSpPr/>
          <p:nvPr/>
        </p:nvSpPr>
        <p:spPr>
          <a:xfrm>
            <a:off x="6381750" y="2189485"/>
            <a:ext cx="2174716"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454B"/>
                </a:solidFill>
                <a:latin typeface="Playfair Display" pitchFamily="34" charset="0"/>
                <a:ea typeface="Playfair Display" pitchFamily="34" charset="-122"/>
                <a:cs typeface="Playfair Display" pitchFamily="34" charset="-120"/>
              </a:rPr>
              <a:t>Akshaya Tantri</a:t>
            </a:r>
            <a:endParaRPr lang="en-US" sz="1800" dirty="0"/>
          </a:p>
        </p:txBody>
      </p:sp>
      <p:sp>
        <p:nvSpPr>
          <p:cNvPr id="14" name="Text 12"/>
          <p:cNvSpPr/>
          <p:nvPr/>
        </p:nvSpPr>
        <p:spPr>
          <a:xfrm>
            <a:off x="6381750" y="2540000"/>
            <a:ext cx="2174716" cy="434340"/>
          </a:xfrm>
          <a:prstGeom prst="rect">
            <a:avLst/>
          </a:prstGeom>
          <a:noFill/>
          <a:ln/>
        </p:spPr>
        <p:txBody>
          <a:bodyPr wrap="square" lIns="0" tIns="0" rIns="0" bIns="0" rtlCol="0" anchor="t">
            <a:normAutofit/>
          </a:bodyPr>
          <a:lstStyle/>
          <a:p>
            <a:pPr marL="0" indent="0" algn="l">
              <a:lnSpc>
                <a:spcPts val="1610"/>
              </a:lnSpc>
              <a:buNone/>
            </a:pPr>
            <a:r>
              <a:rPr lang="en-US" sz="1150" b="1" kern="0" spc="100" dirty="0">
                <a:solidFill>
                  <a:srgbClr val="B14F36"/>
                </a:solidFill>
                <a:latin typeface="Poppins" pitchFamily="34" charset="0"/>
                <a:ea typeface="Poppins" pitchFamily="34" charset="-122"/>
                <a:cs typeface="Poppins" pitchFamily="34" charset="-120"/>
              </a:rPr>
              <a:t>TECH STACK &amp; PAYMENTS</a:t>
            </a:r>
            <a:endParaRPr lang="en-US" sz="1150" dirty="0"/>
          </a:p>
        </p:txBody>
      </p:sp>
      <p:sp>
        <p:nvSpPr>
          <p:cNvPr id="15" name="Text 13"/>
          <p:cNvSpPr/>
          <p:nvPr/>
        </p:nvSpPr>
        <p:spPr>
          <a:xfrm>
            <a:off x="6381750" y="3025142"/>
            <a:ext cx="2174716" cy="939800"/>
          </a:xfrm>
          <a:prstGeom prst="rect">
            <a:avLst/>
          </a:prstGeom>
          <a:noFill/>
          <a:ln/>
        </p:spPr>
        <p:txBody>
          <a:bodyPr wrap="square" lIns="0" tIns="0" rIns="0" bIns="0" rtlCol="0" anchor="t">
            <a:normAutofit/>
          </a:bodyPr>
          <a:lstStyle/>
          <a:p>
            <a:pPr marL="342900" indent="-342900" algn="l">
              <a:lnSpc>
                <a:spcPts val="1800"/>
              </a:lnSpc>
              <a:buSzPct val="100000"/>
              <a:buChar char="•"/>
            </a:pPr>
            <a:r>
              <a:rPr lang="en-US" sz="1200" dirty="0">
                <a:solidFill>
                  <a:srgbClr val="4A5A5C"/>
                </a:solidFill>
                <a:latin typeface="Poppins" pitchFamily="34" charset="0"/>
                <a:ea typeface="Poppins" pitchFamily="34" charset="-122"/>
                <a:cs typeface="Poppins" pitchFamily="34" charset="-120"/>
              </a:rPr>
              <a:t>Stack decisions</a:t>
            </a:r>
            <a:endParaRPr lang="en-US" sz="1200" dirty="0"/>
          </a:p>
          <a:p>
            <a:pPr marL="342900" indent="-342900" algn="l">
              <a:lnSpc>
                <a:spcPts val="1800"/>
              </a:lnSpc>
              <a:buSzPct val="100000"/>
              <a:buChar char="•"/>
            </a:pPr>
            <a:r>
              <a:rPr lang="en-US" sz="1200" dirty="0">
                <a:solidFill>
                  <a:srgbClr val="4A5A5C"/>
                </a:solidFill>
                <a:latin typeface="Poppins" pitchFamily="34" charset="0"/>
                <a:ea typeface="Poppins" pitchFamily="34" charset="-122"/>
                <a:cs typeface="Poppins" pitchFamily="34" charset="-120"/>
              </a:rPr>
              <a:t>Razorpay integration</a:t>
            </a:r>
            <a:endParaRPr lang="en-US" sz="1200" dirty="0"/>
          </a:p>
          <a:p>
            <a:pPr marL="342900" indent="-342900" algn="l">
              <a:lnSpc>
                <a:spcPts val="1800"/>
              </a:lnSpc>
              <a:buSzPct val="100000"/>
              <a:buChar char="•"/>
            </a:pPr>
            <a:r>
              <a:rPr lang="en-US" sz="1200" dirty="0">
                <a:solidFill>
                  <a:srgbClr val="4A5A5C"/>
                </a:solidFill>
                <a:latin typeface="Poppins" pitchFamily="34" charset="0"/>
                <a:ea typeface="Poppins" pitchFamily="34" charset="-122"/>
                <a:cs typeface="Poppins" pitchFamily="34" charset="-120"/>
              </a:rPr>
              <a:t>Payment verification</a:t>
            </a:r>
            <a:endParaRPr lang="en-US" sz="1200" dirty="0"/>
          </a:p>
          <a:p>
            <a:pPr marL="342900" indent="-342900" algn="l">
              <a:lnSpc>
                <a:spcPts val="1800"/>
              </a:lnSpc>
              <a:buSzPct val="100000"/>
              <a:buChar char="•"/>
            </a:pPr>
            <a:r>
              <a:rPr lang="en-US" sz="1200" dirty="0">
                <a:solidFill>
                  <a:srgbClr val="4A5A5C"/>
                </a:solidFill>
                <a:latin typeface="Poppins" pitchFamily="34" charset="0"/>
                <a:ea typeface="Poppins" pitchFamily="34" charset="-122"/>
                <a:cs typeface="Poppins" pitchFamily="34" charset="-120"/>
              </a:rPr>
              <a:t>Admin auth and vault</a:t>
            </a:r>
            <a:endParaRPr lang="en-US" sz="1200" dirty="0"/>
          </a:p>
        </p:txBody>
      </p:sp>
      <p:sp>
        <p:nvSpPr>
          <p:cNvPr id="16" name="Shape 14"/>
          <p:cNvSpPr/>
          <p:nvPr/>
        </p:nvSpPr>
        <p:spPr>
          <a:xfrm>
            <a:off x="8861425" y="1986285"/>
            <a:ext cx="2517775" cy="2887980"/>
          </a:xfrm>
          <a:prstGeom prst="roundRect">
            <a:avLst>
              <a:gd name="adj" fmla="val 4035"/>
            </a:avLst>
          </a:prstGeom>
          <a:solidFill>
            <a:srgbClr val="F1EAE0"/>
          </a:solidFill>
          <a:ln/>
        </p:spPr>
        <p:txBody>
          <a:bodyPr/>
          <a:lstStyle/>
          <a:p>
            <a:endParaRPr lang="en-IN"/>
          </a:p>
        </p:txBody>
      </p:sp>
      <p:sp>
        <p:nvSpPr>
          <p:cNvPr id="17" name="Text 15"/>
          <p:cNvSpPr/>
          <p:nvPr/>
        </p:nvSpPr>
        <p:spPr>
          <a:xfrm>
            <a:off x="9064625" y="2189485"/>
            <a:ext cx="2174716"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454B"/>
                </a:solidFill>
                <a:latin typeface="Playfair Display" pitchFamily="34" charset="0"/>
                <a:ea typeface="Playfair Display" pitchFamily="34" charset="-122"/>
                <a:cs typeface="Playfair Display" pitchFamily="34" charset="-120"/>
              </a:rPr>
              <a:t>Anushka Mahato</a:t>
            </a:r>
            <a:endParaRPr lang="en-US" sz="1800" dirty="0"/>
          </a:p>
        </p:txBody>
      </p:sp>
      <p:sp>
        <p:nvSpPr>
          <p:cNvPr id="18" name="Text 16"/>
          <p:cNvSpPr/>
          <p:nvPr/>
        </p:nvSpPr>
        <p:spPr>
          <a:xfrm>
            <a:off x="9064625" y="2540000"/>
            <a:ext cx="2174716" cy="229870"/>
          </a:xfrm>
          <a:prstGeom prst="rect">
            <a:avLst/>
          </a:prstGeom>
          <a:noFill/>
          <a:ln/>
        </p:spPr>
        <p:txBody>
          <a:bodyPr wrap="square" lIns="0" tIns="0" rIns="0" bIns="0" rtlCol="0" anchor="t">
            <a:normAutofit/>
          </a:bodyPr>
          <a:lstStyle/>
          <a:p>
            <a:pPr marL="0" indent="0" algn="l">
              <a:lnSpc>
                <a:spcPts val="1610"/>
              </a:lnSpc>
              <a:buNone/>
            </a:pPr>
            <a:r>
              <a:rPr lang="en-US" sz="1150" b="1" kern="0" spc="100" dirty="0">
                <a:solidFill>
                  <a:srgbClr val="B14F36"/>
                </a:solidFill>
                <a:latin typeface="Poppins" pitchFamily="34" charset="0"/>
                <a:ea typeface="Poppins" pitchFamily="34" charset="-122"/>
                <a:cs typeface="Poppins" pitchFamily="34" charset="-120"/>
              </a:rPr>
              <a:t>MARKETING &amp; LEADS</a:t>
            </a:r>
            <a:endParaRPr lang="en-US" sz="1150" dirty="0"/>
          </a:p>
        </p:txBody>
      </p:sp>
      <p:sp>
        <p:nvSpPr>
          <p:cNvPr id="19" name="Text 17"/>
          <p:cNvSpPr/>
          <p:nvPr/>
        </p:nvSpPr>
        <p:spPr>
          <a:xfrm>
            <a:off x="9064625" y="2820677"/>
            <a:ext cx="2174716" cy="1168400"/>
          </a:xfrm>
          <a:prstGeom prst="rect">
            <a:avLst/>
          </a:prstGeom>
          <a:noFill/>
          <a:ln/>
        </p:spPr>
        <p:txBody>
          <a:bodyPr wrap="square" lIns="0" tIns="0" rIns="0" bIns="0" rtlCol="0" anchor="t">
            <a:normAutofit/>
          </a:bodyPr>
          <a:lstStyle/>
          <a:p>
            <a:pPr marL="342900" indent="-342900" algn="l">
              <a:lnSpc>
                <a:spcPts val="1800"/>
              </a:lnSpc>
              <a:buSzPct val="100000"/>
              <a:buChar char="•"/>
            </a:pPr>
            <a:r>
              <a:rPr lang="en-US" sz="1200" dirty="0">
                <a:solidFill>
                  <a:srgbClr val="4A5A5C"/>
                </a:solidFill>
                <a:latin typeface="Poppins" pitchFamily="34" charset="0"/>
                <a:ea typeface="Poppins" pitchFamily="34" charset="-122"/>
                <a:cs typeface="Poppins" pitchFamily="34" charset="-120"/>
              </a:rPr>
              <a:t>Instagram and content</a:t>
            </a:r>
            <a:endParaRPr lang="en-US" sz="1200" dirty="0"/>
          </a:p>
          <a:p>
            <a:pPr marL="342900" indent="-342900" algn="l">
              <a:lnSpc>
                <a:spcPts val="1800"/>
              </a:lnSpc>
              <a:buSzPct val="100000"/>
              <a:buChar char="•"/>
            </a:pPr>
            <a:r>
              <a:rPr lang="en-US" sz="1200" dirty="0">
                <a:solidFill>
                  <a:srgbClr val="4A5A5C"/>
                </a:solidFill>
                <a:latin typeface="Poppins" pitchFamily="34" charset="0"/>
                <a:ea typeface="Poppins" pitchFamily="34" charset="-122"/>
                <a:cs typeface="Poppins" pitchFamily="34" charset="-120"/>
              </a:rPr>
              <a:t>Campaigns and targeting</a:t>
            </a:r>
            <a:endParaRPr lang="en-US" sz="1200" dirty="0"/>
          </a:p>
          <a:p>
            <a:pPr marL="342900" indent="-342900" algn="l">
              <a:lnSpc>
                <a:spcPts val="1800"/>
              </a:lnSpc>
              <a:buSzPct val="100000"/>
              <a:buChar char="•"/>
            </a:pPr>
            <a:r>
              <a:rPr lang="en-US" sz="1200" dirty="0">
                <a:solidFill>
                  <a:srgbClr val="4A5A5C"/>
                </a:solidFill>
                <a:latin typeface="Poppins" pitchFamily="34" charset="0"/>
                <a:ea typeface="Poppins" pitchFamily="34" charset="-122"/>
                <a:cs typeface="Poppins" pitchFamily="34" charset="-120"/>
              </a:rPr>
              <a:t>Lead generation</a:t>
            </a:r>
            <a:endParaRPr lang="en-US" sz="1200" dirty="0"/>
          </a:p>
          <a:p>
            <a:pPr marL="342900" indent="-342900" algn="l">
              <a:lnSpc>
                <a:spcPts val="1800"/>
              </a:lnSpc>
              <a:buSzPct val="100000"/>
              <a:buChar char="•"/>
            </a:pPr>
            <a:r>
              <a:rPr lang="en-US" sz="1200" dirty="0">
                <a:solidFill>
                  <a:srgbClr val="4A5A5C"/>
                </a:solidFill>
                <a:latin typeface="Poppins" pitchFamily="34" charset="0"/>
                <a:ea typeface="Poppins" pitchFamily="34" charset="-122"/>
                <a:cs typeface="Poppins" pitchFamily="34" charset="-120"/>
              </a:rPr>
              <a:t>Follow-up outreach</a:t>
            </a:r>
            <a:endParaRPr lang="en-US" sz="1200" dirty="0"/>
          </a:p>
        </p:txBody>
      </p:sp>
      <p:pic>
        <p:nvPicPr>
          <p:cNvPr id="20" name="Image 0" descr="Postr logo"/>
          <p:cNvPicPr>
            <a:picLocks noChangeAspect="1"/>
          </p:cNvPicPr>
          <p:nvPr/>
        </p:nvPicPr>
        <p:blipFill>
          <a:blip r:embed="rId3"/>
          <a:srcRect/>
          <a:stretch/>
        </p:blipFill>
        <p:spPr>
          <a:xfrm>
            <a:off x="812800" y="6228085"/>
            <a:ext cx="165100" cy="215900"/>
          </a:xfrm>
          <a:prstGeom prst="rect">
            <a:avLst/>
          </a:prstGeom>
        </p:spPr>
      </p:pic>
      <p:sp>
        <p:nvSpPr>
          <p:cNvPr id="21" name="Text 18"/>
          <p:cNvSpPr/>
          <p:nvPr/>
        </p:nvSpPr>
        <p:spPr>
          <a:xfrm>
            <a:off x="1066800" y="6220458"/>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454B"/>
                </a:solidFill>
                <a:latin typeface="Playfair Display" pitchFamily="34" charset="0"/>
                <a:ea typeface="Playfair Display" pitchFamily="34" charset="-122"/>
                <a:cs typeface="Playfair Display" pitchFamily="34" charset="-120"/>
              </a:rPr>
              <a:t>Postr.</a:t>
            </a:r>
            <a:endParaRPr lang="en-US" sz="1300" dirty="0"/>
          </a:p>
        </p:txBody>
      </p:sp>
      <p:sp>
        <p:nvSpPr>
          <p:cNvPr id="22" name="Text 19"/>
          <p:cNvSpPr/>
          <p:nvPr/>
        </p:nvSpPr>
        <p:spPr>
          <a:xfrm>
            <a:off x="8763000" y="6238242"/>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5E7175"/>
                </a:solidFill>
                <a:latin typeface="Poppins" pitchFamily="34" charset="0"/>
                <a:ea typeface="Poppins" pitchFamily="34" charset="-122"/>
                <a:cs typeface="Poppins" pitchFamily="34" charset="-120"/>
              </a:rPr>
              <a:t>23 / 25</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B14F36"/>
                </a:solidFill>
                <a:latin typeface="Poppins" pitchFamily="34" charset="0"/>
                <a:ea typeface="Poppins" pitchFamily="34" charset="-122"/>
                <a:cs typeface="Poppins" pitchFamily="34" charset="-120"/>
              </a:rPr>
              <a:t>06 · LEARNING &amp; MANAGERIAL REFLECTION</a:t>
            </a:r>
            <a:endParaRPr lang="en-US" sz="1200" dirty="0"/>
          </a:p>
        </p:txBody>
      </p:sp>
      <p:sp>
        <p:nvSpPr>
          <p:cNvPr id="3" name="Text 1"/>
          <p:cNvSpPr/>
          <p:nvPr/>
        </p:nvSpPr>
        <p:spPr>
          <a:xfrm>
            <a:off x="812800" y="12420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2454B"/>
                </a:solidFill>
                <a:latin typeface="Playfair Display" pitchFamily="34" charset="0"/>
                <a:ea typeface="Playfair Display" pitchFamily="34" charset="-122"/>
                <a:cs typeface="Playfair Display" pitchFamily="34" charset="-120"/>
              </a:rPr>
              <a:t>What the build actually taught us</a:t>
            </a:r>
            <a:endParaRPr lang="en-US" sz="3600" dirty="0"/>
          </a:p>
        </p:txBody>
      </p:sp>
      <p:sp>
        <p:nvSpPr>
          <p:cNvPr id="4" name="Shape 2"/>
          <p:cNvSpPr/>
          <p:nvPr/>
        </p:nvSpPr>
        <p:spPr>
          <a:xfrm>
            <a:off x="812800" y="1960885"/>
            <a:ext cx="5194300" cy="1895158"/>
          </a:xfrm>
          <a:prstGeom prst="roundRect">
            <a:avLst>
              <a:gd name="adj" fmla="val 5361"/>
            </a:avLst>
          </a:prstGeom>
          <a:solidFill>
            <a:srgbClr val="F1EAE0"/>
          </a:solidFill>
          <a:ln/>
        </p:spPr>
        <p:txBody>
          <a:bodyPr/>
          <a:lstStyle/>
          <a:p>
            <a:endParaRPr lang="en-IN"/>
          </a:p>
        </p:txBody>
      </p:sp>
      <p:sp>
        <p:nvSpPr>
          <p:cNvPr id="5" name="Text 3"/>
          <p:cNvSpPr/>
          <p:nvPr/>
        </p:nvSpPr>
        <p:spPr>
          <a:xfrm>
            <a:off x="1028700" y="2176785"/>
            <a:ext cx="4905375" cy="261620"/>
          </a:xfrm>
          <a:prstGeom prst="rect">
            <a:avLst/>
          </a:prstGeom>
          <a:noFill/>
          <a:ln/>
        </p:spPr>
        <p:txBody>
          <a:bodyPr wrap="square" lIns="0" tIns="0" rIns="0" bIns="0" rtlCol="0" anchor="t">
            <a:normAutofit/>
          </a:bodyPr>
          <a:lstStyle/>
          <a:p>
            <a:pPr marL="0" indent="0" algn="l">
              <a:lnSpc>
                <a:spcPts val="1860"/>
              </a:lnSpc>
              <a:buNone/>
            </a:pPr>
            <a:r>
              <a:rPr lang="en-US" sz="1550" b="1" dirty="0">
                <a:solidFill>
                  <a:srgbClr val="12454B"/>
                </a:solidFill>
                <a:latin typeface="Poppins" pitchFamily="34" charset="0"/>
                <a:ea typeface="Poppins" pitchFamily="34" charset="-122"/>
                <a:cs typeface="Poppins" pitchFamily="34" charset="-120"/>
              </a:rPr>
              <a:t>Payment integration</a:t>
            </a:r>
            <a:endParaRPr lang="en-US" sz="1550" dirty="0"/>
          </a:p>
        </p:txBody>
      </p:sp>
      <p:sp>
        <p:nvSpPr>
          <p:cNvPr id="6" name="Text 4"/>
          <p:cNvSpPr/>
          <p:nvPr/>
        </p:nvSpPr>
        <p:spPr>
          <a:xfrm>
            <a:off x="1028700" y="2489200"/>
            <a:ext cx="4905375" cy="946150"/>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4A5A5C"/>
                </a:solidFill>
                <a:latin typeface="Poppins" pitchFamily="34" charset="0"/>
                <a:ea typeface="Poppins" pitchFamily="34" charset="-122"/>
                <a:cs typeface="Poppins" pitchFamily="34" charset="-120"/>
              </a:rPr>
              <a:t>Opening a gateway account is the easy half. The work is refusing to create an order until the payment is verified on our own server — that single rule is why the revenue number on the dashboard can be trusted in front of a room.</a:t>
            </a:r>
            <a:endParaRPr lang="en-US" sz="1250" dirty="0"/>
          </a:p>
        </p:txBody>
      </p:sp>
      <p:sp>
        <p:nvSpPr>
          <p:cNvPr id="7" name="Shape 5"/>
          <p:cNvSpPr/>
          <p:nvPr/>
        </p:nvSpPr>
        <p:spPr>
          <a:xfrm>
            <a:off x="6184900" y="1960885"/>
            <a:ext cx="5194300" cy="1895158"/>
          </a:xfrm>
          <a:prstGeom prst="roundRect">
            <a:avLst>
              <a:gd name="adj" fmla="val 5361"/>
            </a:avLst>
          </a:prstGeom>
          <a:solidFill>
            <a:srgbClr val="F1EAE0"/>
          </a:solidFill>
          <a:ln/>
        </p:spPr>
        <p:txBody>
          <a:bodyPr/>
          <a:lstStyle/>
          <a:p>
            <a:endParaRPr lang="en-IN"/>
          </a:p>
        </p:txBody>
      </p:sp>
      <p:sp>
        <p:nvSpPr>
          <p:cNvPr id="8" name="Text 6"/>
          <p:cNvSpPr/>
          <p:nvPr/>
        </p:nvSpPr>
        <p:spPr>
          <a:xfrm>
            <a:off x="6400800" y="2176785"/>
            <a:ext cx="4905375" cy="261620"/>
          </a:xfrm>
          <a:prstGeom prst="rect">
            <a:avLst/>
          </a:prstGeom>
          <a:noFill/>
          <a:ln/>
        </p:spPr>
        <p:txBody>
          <a:bodyPr wrap="square" lIns="0" tIns="0" rIns="0" bIns="0" rtlCol="0" anchor="t">
            <a:normAutofit/>
          </a:bodyPr>
          <a:lstStyle/>
          <a:p>
            <a:pPr marL="0" indent="0" algn="l">
              <a:lnSpc>
                <a:spcPts val="1860"/>
              </a:lnSpc>
              <a:buNone/>
            </a:pPr>
            <a:r>
              <a:rPr lang="en-US" sz="1550" b="1" dirty="0">
                <a:solidFill>
                  <a:srgbClr val="12454B"/>
                </a:solidFill>
                <a:latin typeface="Poppins" pitchFamily="34" charset="0"/>
                <a:ea typeface="Poppins" pitchFamily="34" charset="-122"/>
                <a:cs typeface="Poppins" pitchFamily="34" charset="-120"/>
              </a:rPr>
              <a:t>Dashboard creation</a:t>
            </a:r>
            <a:endParaRPr lang="en-US" sz="1550" dirty="0"/>
          </a:p>
        </p:txBody>
      </p:sp>
      <p:sp>
        <p:nvSpPr>
          <p:cNvPr id="9" name="Text 7"/>
          <p:cNvSpPr/>
          <p:nvPr/>
        </p:nvSpPr>
        <p:spPr>
          <a:xfrm>
            <a:off x="6400800" y="2489200"/>
            <a:ext cx="4905375" cy="1176338"/>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4A5A5C"/>
                </a:solidFill>
                <a:latin typeface="Poppins" pitchFamily="34" charset="0"/>
                <a:ea typeface="Poppins" pitchFamily="34" charset="-122"/>
                <a:cs typeface="Poppins" pitchFamily="34" charset="-120"/>
              </a:rPr>
              <a:t>Building the admin panel forced us to define the business. An order needs states. Cancellations get recorded, not deleted. Cost sits beside revenue on one screen, or nobody checks it. The dashboard is the operating model made visible.</a:t>
            </a:r>
            <a:endParaRPr lang="en-US" sz="1250" dirty="0"/>
          </a:p>
        </p:txBody>
      </p:sp>
      <p:sp>
        <p:nvSpPr>
          <p:cNvPr id="10" name="Shape 8"/>
          <p:cNvSpPr/>
          <p:nvPr/>
        </p:nvSpPr>
        <p:spPr>
          <a:xfrm>
            <a:off x="812800" y="4033837"/>
            <a:ext cx="5194300" cy="1664970"/>
          </a:xfrm>
          <a:prstGeom prst="roundRect">
            <a:avLst>
              <a:gd name="adj" fmla="val 6102"/>
            </a:avLst>
          </a:prstGeom>
          <a:solidFill>
            <a:srgbClr val="F1EAE0"/>
          </a:solidFill>
          <a:ln/>
        </p:spPr>
        <p:txBody>
          <a:bodyPr/>
          <a:lstStyle/>
          <a:p>
            <a:endParaRPr lang="en-IN"/>
          </a:p>
        </p:txBody>
      </p:sp>
      <p:sp>
        <p:nvSpPr>
          <p:cNvPr id="11" name="Text 9"/>
          <p:cNvSpPr/>
          <p:nvPr/>
        </p:nvSpPr>
        <p:spPr>
          <a:xfrm>
            <a:off x="1028700" y="4249738"/>
            <a:ext cx="4905375" cy="261620"/>
          </a:xfrm>
          <a:prstGeom prst="rect">
            <a:avLst/>
          </a:prstGeom>
          <a:noFill/>
          <a:ln/>
        </p:spPr>
        <p:txBody>
          <a:bodyPr wrap="square" lIns="0" tIns="0" rIns="0" bIns="0" rtlCol="0" anchor="t">
            <a:normAutofit/>
          </a:bodyPr>
          <a:lstStyle/>
          <a:p>
            <a:pPr marL="0" indent="0" algn="l">
              <a:lnSpc>
                <a:spcPts val="1860"/>
              </a:lnSpc>
              <a:buNone/>
            </a:pPr>
            <a:r>
              <a:rPr lang="en-US" sz="1550" b="1" dirty="0">
                <a:solidFill>
                  <a:srgbClr val="12454B"/>
                </a:solidFill>
                <a:latin typeface="Poppins" pitchFamily="34" charset="0"/>
                <a:ea typeface="Poppins" pitchFamily="34" charset="-122"/>
                <a:cs typeface="Poppins" pitchFamily="34" charset="-120"/>
              </a:rPr>
              <a:t>Protecting the digital vault</a:t>
            </a:r>
            <a:endParaRPr lang="en-US" sz="1550" dirty="0"/>
          </a:p>
        </p:txBody>
      </p:sp>
      <p:sp>
        <p:nvSpPr>
          <p:cNvPr id="12" name="Text 10"/>
          <p:cNvSpPr/>
          <p:nvPr/>
        </p:nvSpPr>
        <p:spPr>
          <a:xfrm>
            <a:off x="1028700" y="4562165"/>
            <a:ext cx="4905375" cy="946150"/>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4A5A5C"/>
                </a:solidFill>
                <a:latin typeface="Poppins" pitchFamily="34" charset="0"/>
                <a:ea typeface="Poppins" pitchFamily="34" charset="-122"/>
                <a:cs typeface="Poppins" pitchFamily="34" charset="-120"/>
              </a:rPr>
              <a:t>Somebody else's photographs are a responsibility before they are a feature. Order-scoped access, an admin area behind login, activity logs and a retention warning before deletion are the minimum, not the polish.</a:t>
            </a:r>
            <a:endParaRPr lang="en-US" sz="1250" dirty="0"/>
          </a:p>
        </p:txBody>
      </p:sp>
      <p:sp>
        <p:nvSpPr>
          <p:cNvPr id="13" name="Shape 11"/>
          <p:cNvSpPr/>
          <p:nvPr/>
        </p:nvSpPr>
        <p:spPr>
          <a:xfrm>
            <a:off x="6184900" y="4033837"/>
            <a:ext cx="5194300" cy="1664970"/>
          </a:xfrm>
          <a:prstGeom prst="roundRect">
            <a:avLst>
              <a:gd name="adj" fmla="val 6102"/>
            </a:avLst>
          </a:prstGeom>
          <a:solidFill>
            <a:srgbClr val="12454B"/>
          </a:solidFill>
          <a:ln/>
        </p:spPr>
        <p:txBody>
          <a:bodyPr/>
          <a:lstStyle/>
          <a:p>
            <a:endParaRPr lang="en-IN"/>
          </a:p>
        </p:txBody>
      </p:sp>
      <p:sp>
        <p:nvSpPr>
          <p:cNvPr id="14" name="Text 12"/>
          <p:cNvSpPr/>
          <p:nvPr/>
        </p:nvSpPr>
        <p:spPr>
          <a:xfrm>
            <a:off x="6400800" y="4249738"/>
            <a:ext cx="4905375" cy="261620"/>
          </a:xfrm>
          <a:prstGeom prst="rect">
            <a:avLst/>
          </a:prstGeom>
          <a:noFill/>
          <a:ln/>
        </p:spPr>
        <p:txBody>
          <a:bodyPr wrap="square" lIns="0" tIns="0" rIns="0" bIns="0" rtlCol="0" anchor="t">
            <a:normAutofit/>
          </a:bodyPr>
          <a:lstStyle/>
          <a:p>
            <a:pPr marL="0" indent="0" algn="l">
              <a:lnSpc>
                <a:spcPts val="1860"/>
              </a:lnSpc>
              <a:buNone/>
            </a:pPr>
            <a:r>
              <a:rPr lang="en-US" sz="1550" b="1" dirty="0">
                <a:solidFill>
                  <a:srgbClr val="FAF6F0"/>
                </a:solidFill>
                <a:latin typeface="Poppins" pitchFamily="34" charset="0"/>
                <a:ea typeface="Poppins" pitchFamily="34" charset="-122"/>
                <a:cs typeface="Poppins" pitchFamily="34" charset="-120"/>
              </a:rPr>
              <a:t>The managerial takeaway</a:t>
            </a:r>
            <a:endParaRPr lang="en-US" sz="1550" dirty="0"/>
          </a:p>
        </p:txBody>
      </p:sp>
      <p:sp>
        <p:nvSpPr>
          <p:cNvPr id="15" name="Text 13"/>
          <p:cNvSpPr/>
          <p:nvPr/>
        </p:nvSpPr>
        <p:spPr>
          <a:xfrm>
            <a:off x="6400800" y="4562165"/>
            <a:ext cx="4905375" cy="946150"/>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D6E6E4"/>
                </a:solidFill>
                <a:latin typeface="Poppins" pitchFamily="34" charset="0"/>
                <a:ea typeface="Poppins" pitchFamily="34" charset="-122"/>
                <a:cs typeface="Poppins" pitchFamily="34" charset="-120"/>
              </a:rPr>
              <a:t>Fix the supplier before the storefront. Every constraint we discovered late — bulk pricing, print drift, packaging — cost more to unwind than any feature we built early. Operations sets the ceiling that technology and marketing work under.</a:t>
            </a:r>
            <a:endParaRPr lang="en-US" sz="1250" dirty="0"/>
          </a:p>
        </p:txBody>
      </p:sp>
      <p:pic>
        <p:nvPicPr>
          <p:cNvPr id="16" name="Image 0" descr="Postr logo"/>
          <p:cNvPicPr>
            <a:picLocks noChangeAspect="1"/>
          </p:cNvPicPr>
          <p:nvPr/>
        </p:nvPicPr>
        <p:blipFill>
          <a:blip r:embed="rId3"/>
          <a:srcRect/>
          <a:stretch/>
        </p:blipFill>
        <p:spPr>
          <a:xfrm>
            <a:off x="812800" y="6228085"/>
            <a:ext cx="165100" cy="215900"/>
          </a:xfrm>
          <a:prstGeom prst="rect">
            <a:avLst/>
          </a:prstGeom>
        </p:spPr>
      </p:pic>
      <p:sp>
        <p:nvSpPr>
          <p:cNvPr id="17" name="Text 14"/>
          <p:cNvSpPr/>
          <p:nvPr/>
        </p:nvSpPr>
        <p:spPr>
          <a:xfrm>
            <a:off x="1066800" y="6220458"/>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454B"/>
                </a:solidFill>
                <a:latin typeface="Playfair Display" pitchFamily="34" charset="0"/>
                <a:ea typeface="Playfair Display" pitchFamily="34" charset="-122"/>
                <a:cs typeface="Playfair Display" pitchFamily="34" charset="-120"/>
              </a:rPr>
              <a:t>Postr.</a:t>
            </a:r>
            <a:endParaRPr lang="en-US" sz="1300" dirty="0"/>
          </a:p>
        </p:txBody>
      </p:sp>
      <p:sp>
        <p:nvSpPr>
          <p:cNvPr id="18" name="Text 15"/>
          <p:cNvSpPr/>
          <p:nvPr/>
        </p:nvSpPr>
        <p:spPr>
          <a:xfrm>
            <a:off x="8763000" y="6238242"/>
            <a:ext cx="26162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5E7175"/>
                </a:solidFill>
                <a:latin typeface="Poppins" pitchFamily="34" charset="0"/>
                <a:ea typeface="Poppins" pitchFamily="34" charset="-122"/>
                <a:cs typeface="Poppins" pitchFamily="34" charset="-120"/>
              </a:rPr>
              <a:t>24 / 25</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3238"/>
        </a:solidFill>
        <a:effectLst/>
      </p:bgPr>
    </p:bg>
    <p:spTree>
      <p:nvGrpSpPr>
        <p:cNvPr id="1" name=""/>
        <p:cNvGrpSpPr/>
        <p:nvPr/>
      </p:nvGrpSpPr>
      <p:grpSpPr>
        <a:xfrm>
          <a:off x="0" y="0"/>
          <a:ext cx="0" cy="0"/>
          <a:chOff x="0" y="0"/>
          <a:chExt cx="0" cy="0"/>
        </a:xfrm>
      </p:grpSpPr>
      <p:pic>
        <p:nvPicPr>
          <p:cNvPr id="2" name="Image 0" descr="Postr logo"/>
          <p:cNvPicPr>
            <a:picLocks noChangeAspect="1"/>
          </p:cNvPicPr>
          <p:nvPr/>
        </p:nvPicPr>
        <p:blipFill>
          <a:blip r:embed="rId3"/>
          <a:srcRect/>
          <a:stretch/>
        </p:blipFill>
        <p:spPr>
          <a:xfrm>
            <a:off x="812800" y="1508125"/>
            <a:ext cx="533400" cy="698500"/>
          </a:xfrm>
          <a:prstGeom prst="rect">
            <a:avLst/>
          </a:prstGeom>
        </p:spPr>
      </p:pic>
      <p:sp>
        <p:nvSpPr>
          <p:cNvPr id="3" name="Text 0"/>
          <p:cNvSpPr/>
          <p:nvPr/>
        </p:nvSpPr>
        <p:spPr>
          <a:xfrm>
            <a:off x="1562100" y="1333500"/>
            <a:ext cx="2573196" cy="1073150"/>
          </a:xfrm>
          <a:prstGeom prst="rect">
            <a:avLst/>
          </a:prstGeom>
          <a:noFill/>
          <a:ln/>
        </p:spPr>
        <p:txBody>
          <a:bodyPr wrap="square" lIns="0" tIns="0" rIns="0" bIns="0" rtlCol="0" anchor="t">
            <a:normAutofit/>
          </a:bodyPr>
          <a:lstStyle/>
          <a:p>
            <a:pPr marL="0" indent="0" algn="l">
              <a:lnSpc>
                <a:spcPts val="8250"/>
              </a:lnSpc>
              <a:buNone/>
            </a:pPr>
            <a:r>
              <a:rPr lang="en-US" sz="7500" dirty="0">
                <a:solidFill>
                  <a:srgbClr val="FAF6F0"/>
                </a:solidFill>
                <a:latin typeface="Playfair Display" pitchFamily="34" charset="0"/>
                <a:ea typeface="Playfair Display" pitchFamily="34" charset="-122"/>
                <a:cs typeface="Playfair Display" pitchFamily="34" charset="-120"/>
              </a:rPr>
              <a:t>Postr.</a:t>
            </a:r>
            <a:endParaRPr lang="en-US" sz="7500" dirty="0"/>
          </a:p>
        </p:txBody>
      </p:sp>
      <p:sp>
        <p:nvSpPr>
          <p:cNvPr id="4" name="Text 1"/>
          <p:cNvSpPr/>
          <p:nvPr/>
        </p:nvSpPr>
        <p:spPr>
          <a:xfrm>
            <a:off x="812800" y="2540000"/>
            <a:ext cx="8502650" cy="487680"/>
          </a:xfrm>
          <a:prstGeom prst="rect">
            <a:avLst/>
          </a:prstGeom>
          <a:noFill/>
          <a:ln/>
        </p:spPr>
        <p:txBody>
          <a:bodyPr wrap="square" lIns="0" tIns="0" rIns="0" bIns="0" rtlCol="0" anchor="t">
            <a:normAutofit/>
          </a:bodyPr>
          <a:lstStyle/>
          <a:p>
            <a:pPr marL="0" indent="0" algn="l">
              <a:lnSpc>
                <a:spcPts val="3640"/>
              </a:lnSpc>
              <a:buNone/>
            </a:pPr>
            <a:r>
              <a:rPr lang="en-US" sz="2600" i="1" dirty="0">
                <a:solidFill>
                  <a:srgbClr val="E8A48F"/>
                </a:solidFill>
                <a:latin typeface="Playfair Display" pitchFamily="34" charset="0"/>
                <a:ea typeface="Playfair Display" pitchFamily="34" charset="-122"/>
                <a:cs typeface="Playfair Display" pitchFamily="34" charset="-120"/>
              </a:rPr>
              <a:t>Fifty-two designs. One wall that finally sounds like you.</a:t>
            </a:r>
            <a:endParaRPr lang="en-US" sz="2600" dirty="0"/>
          </a:p>
        </p:txBody>
      </p:sp>
      <p:sp>
        <p:nvSpPr>
          <p:cNvPr id="5" name="Text 2"/>
          <p:cNvSpPr/>
          <p:nvPr/>
        </p:nvSpPr>
        <p:spPr>
          <a:xfrm>
            <a:off x="812800" y="3365500"/>
            <a:ext cx="1193800" cy="2743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A8C3C2"/>
                </a:solidFill>
                <a:latin typeface="Poppins" pitchFamily="34" charset="0"/>
                <a:ea typeface="Poppins" pitchFamily="34" charset="-122"/>
                <a:cs typeface="Poppins" pitchFamily="34" charset="-120"/>
              </a:rPr>
              <a:t>STORE</a:t>
            </a:r>
            <a:endParaRPr lang="en-US" sz="1200" dirty="0"/>
          </a:p>
        </p:txBody>
      </p:sp>
      <p:sp>
        <p:nvSpPr>
          <p:cNvPr id="6" name="Text 3"/>
          <p:cNvSpPr/>
          <p:nvPr/>
        </p:nvSpPr>
        <p:spPr>
          <a:xfrm>
            <a:off x="2108200" y="3365500"/>
            <a:ext cx="389813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AF6F0"/>
                </a:solidFill>
                <a:latin typeface="Poppins" pitchFamily="34" charset="0"/>
                <a:ea typeface="Poppins" pitchFamily="34" charset="-122"/>
                <a:cs typeface="Poppins" pitchFamily="34" charset="-120"/>
              </a:rPr>
              <a:t>mypostr.store</a:t>
            </a:r>
            <a:endParaRPr lang="en-US" sz="1400" dirty="0"/>
          </a:p>
        </p:txBody>
      </p:sp>
      <p:sp>
        <p:nvSpPr>
          <p:cNvPr id="7" name="Text 4"/>
          <p:cNvSpPr/>
          <p:nvPr/>
        </p:nvSpPr>
        <p:spPr>
          <a:xfrm>
            <a:off x="812800" y="3741427"/>
            <a:ext cx="1193800" cy="2743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A8C3C2"/>
                </a:solidFill>
                <a:latin typeface="Poppins" pitchFamily="34" charset="0"/>
                <a:ea typeface="Poppins" pitchFamily="34" charset="-122"/>
                <a:cs typeface="Poppins" pitchFamily="34" charset="-120"/>
              </a:rPr>
              <a:t>INSTAGRAM</a:t>
            </a:r>
            <a:endParaRPr lang="en-US" sz="1200" dirty="0"/>
          </a:p>
        </p:txBody>
      </p:sp>
      <p:sp>
        <p:nvSpPr>
          <p:cNvPr id="8" name="Text 5"/>
          <p:cNvSpPr/>
          <p:nvPr/>
        </p:nvSpPr>
        <p:spPr>
          <a:xfrm>
            <a:off x="2108200" y="3741427"/>
            <a:ext cx="389813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AF6F0"/>
                </a:solidFill>
                <a:latin typeface="Poppins" pitchFamily="34" charset="0"/>
                <a:ea typeface="Poppins" pitchFamily="34" charset="-122"/>
                <a:cs typeface="Poppins" pitchFamily="34" charset="-120"/>
              </a:rPr>
              <a:t>@postr.4</a:t>
            </a:r>
            <a:endParaRPr lang="en-US" sz="1400" dirty="0"/>
          </a:p>
        </p:txBody>
      </p:sp>
      <p:sp>
        <p:nvSpPr>
          <p:cNvPr id="9" name="Text 6"/>
          <p:cNvSpPr/>
          <p:nvPr/>
        </p:nvSpPr>
        <p:spPr>
          <a:xfrm>
            <a:off x="812800" y="4117342"/>
            <a:ext cx="1193800" cy="2743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A8C3C2"/>
                </a:solidFill>
                <a:latin typeface="Poppins" pitchFamily="34" charset="0"/>
                <a:ea typeface="Poppins" pitchFamily="34" charset="-122"/>
                <a:cs typeface="Poppins" pitchFamily="34" charset="-120"/>
              </a:rPr>
              <a:t>EMAIL</a:t>
            </a:r>
            <a:endParaRPr lang="en-US" sz="1200" dirty="0"/>
          </a:p>
        </p:txBody>
      </p:sp>
      <p:sp>
        <p:nvSpPr>
          <p:cNvPr id="10" name="Text 7"/>
          <p:cNvSpPr/>
          <p:nvPr/>
        </p:nvSpPr>
        <p:spPr>
          <a:xfrm>
            <a:off x="2108200" y="4117342"/>
            <a:ext cx="389813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AF6F0"/>
                </a:solidFill>
                <a:latin typeface="Poppins" pitchFamily="34" charset="0"/>
                <a:ea typeface="Poppins" pitchFamily="34" charset="-122"/>
                <a:cs typeface="Poppins" pitchFamily="34" charset="-120"/>
              </a:rPr>
              <a:t>hello@postr.store</a:t>
            </a:r>
            <a:endParaRPr lang="en-US" sz="1400" dirty="0"/>
          </a:p>
        </p:txBody>
      </p:sp>
      <p:sp>
        <p:nvSpPr>
          <p:cNvPr id="11" name="Shape 8"/>
          <p:cNvSpPr/>
          <p:nvPr/>
        </p:nvSpPr>
        <p:spPr>
          <a:xfrm>
            <a:off x="7315200" y="3365500"/>
            <a:ext cx="4064000" cy="1965960"/>
          </a:xfrm>
          <a:prstGeom prst="roundRect">
            <a:avLst>
              <a:gd name="adj" fmla="val 5168"/>
            </a:avLst>
          </a:prstGeom>
          <a:solidFill>
            <a:srgbClr val="12454B"/>
          </a:solidFill>
          <a:ln/>
        </p:spPr>
        <p:txBody>
          <a:bodyPr/>
          <a:lstStyle/>
          <a:p>
            <a:endParaRPr lang="en-IN"/>
          </a:p>
        </p:txBody>
      </p:sp>
      <p:sp>
        <p:nvSpPr>
          <p:cNvPr id="12" name="Text 9"/>
          <p:cNvSpPr/>
          <p:nvPr/>
        </p:nvSpPr>
        <p:spPr>
          <a:xfrm>
            <a:off x="7569200" y="3619500"/>
            <a:ext cx="366268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48F"/>
                </a:solidFill>
                <a:latin typeface="Poppins" pitchFamily="34" charset="0"/>
                <a:ea typeface="Poppins" pitchFamily="34" charset="-122"/>
                <a:cs typeface="Poppins" pitchFamily="34" charset="-120"/>
              </a:rPr>
              <a:t>PROJECT TEAM</a:t>
            </a:r>
            <a:endParaRPr lang="en-US" sz="1200" dirty="0"/>
          </a:p>
        </p:txBody>
      </p:sp>
      <p:sp>
        <p:nvSpPr>
          <p:cNvPr id="13" name="Text 10"/>
          <p:cNvSpPr/>
          <p:nvPr/>
        </p:nvSpPr>
        <p:spPr>
          <a:xfrm>
            <a:off x="7569200" y="3934458"/>
            <a:ext cx="3662680" cy="11684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FAF6F0"/>
                </a:solidFill>
                <a:latin typeface="Poppins" pitchFamily="34" charset="0"/>
                <a:ea typeface="Poppins" pitchFamily="34" charset="-122"/>
                <a:cs typeface="Poppins" pitchFamily="34" charset="-120"/>
              </a:rPr>
              <a:t>Poojitha K</a:t>
            </a:r>
            <a:endParaRPr lang="en-US" sz="1500" dirty="0"/>
          </a:p>
          <a:p>
            <a:pPr marL="0" indent="0" algn="l">
              <a:lnSpc>
                <a:spcPts val="2250"/>
              </a:lnSpc>
              <a:buNone/>
            </a:pPr>
            <a:r>
              <a:rPr lang="en-US" sz="1500" dirty="0">
                <a:solidFill>
                  <a:srgbClr val="FAF6F0"/>
                </a:solidFill>
                <a:latin typeface="Poppins" pitchFamily="34" charset="0"/>
                <a:ea typeface="Poppins" pitchFamily="34" charset="-122"/>
                <a:cs typeface="Poppins" pitchFamily="34" charset="-120"/>
              </a:rPr>
              <a:t>Anushka Mahato</a:t>
            </a:r>
            <a:endParaRPr lang="en-US" sz="1500" dirty="0"/>
          </a:p>
          <a:p>
            <a:pPr marL="0" indent="0" algn="l">
              <a:lnSpc>
                <a:spcPts val="2250"/>
              </a:lnSpc>
              <a:buNone/>
            </a:pPr>
            <a:r>
              <a:rPr lang="en-US" sz="1500" dirty="0">
                <a:solidFill>
                  <a:srgbClr val="FAF6F0"/>
                </a:solidFill>
                <a:latin typeface="Poppins" pitchFamily="34" charset="0"/>
                <a:ea typeface="Poppins" pitchFamily="34" charset="-122"/>
                <a:cs typeface="Poppins" pitchFamily="34" charset="-120"/>
              </a:rPr>
              <a:t>Sriparno Chowdhury</a:t>
            </a:r>
            <a:endParaRPr lang="en-US" sz="1500" dirty="0"/>
          </a:p>
          <a:p>
            <a:pPr marL="0" indent="0" algn="l">
              <a:lnSpc>
                <a:spcPts val="2250"/>
              </a:lnSpc>
              <a:buNone/>
            </a:pPr>
            <a:r>
              <a:rPr lang="en-US" sz="1500" dirty="0">
                <a:solidFill>
                  <a:srgbClr val="FAF6F0"/>
                </a:solidFill>
                <a:latin typeface="Poppins" pitchFamily="34" charset="0"/>
                <a:ea typeface="Poppins" pitchFamily="34" charset="-122"/>
                <a:cs typeface="Poppins" pitchFamily="34" charset="-120"/>
              </a:rPr>
              <a:t>Akshaya Tantri</a:t>
            </a:r>
            <a:endParaRPr lang="en-US" sz="1500" dirty="0"/>
          </a:p>
        </p:txBody>
      </p:sp>
      <p:sp>
        <p:nvSpPr>
          <p:cNvPr id="14" name="Text 11"/>
          <p:cNvSpPr/>
          <p:nvPr/>
        </p:nvSpPr>
        <p:spPr>
          <a:xfrm>
            <a:off x="812800" y="5270500"/>
            <a:ext cx="6540500" cy="492760"/>
          </a:xfrm>
          <a:prstGeom prst="rect">
            <a:avLst/>
          </a:prstGeom>
          <a:noFill/>
          <a:ln/>
        </p:spPr>
        <p:txBody>
          <a:bodyPr wrap="square" lIns="0" tIns="0" rIns="0" bIns="0" rtlCol="0" anchor="t">
            <a:normAutofit/>
          </a:bodyPr>
          <a:lstStyle/>
          <a:p>
            <a:pPr marL="0" indent="0" algn="l">
              <a:lnSpc>
                <a:spcPts val="3680"/>
              </a:lnSpc>
              <a:buNone/>
            </a:pPr>
            <a:r>
              <a:rPr lang="en-US" sz="3200" dirty="0">
                <a:solidFill>
                  <a:srgbClr val="FAF6F0"/>
                </a:solidFill>
                <a:latin typeface="Playfair Display" pitchFamily="34" charset="0"/>
                <a:ea typeface="Playfair Display" pitchFamily="34" charset="-122"/>
                <a:cs typeface="Playfair Display" pitchFamily="34" charset="-120"/>
              </a:rPr>
              <a:t>Thank you.</a:t>
            </a:r>
            <a:endParaRPr lang="en-US" sz="3200" dirty="0"/>
          </a:p>
        </p:txBody>
      </p:sp>
      <p:pic>
        <p:nvPicPr>
          <p:cNvPr id="15" name="Image 1" descr="Postr logo"/>
          <p:cNvPicPr>
            <a:picLocks noChangeAspect="1"/>
          </p:cNvPicPr>
          <p:nvPr/>
        </p:nvPicPr>
        <p:blipFill>
          <a:blip r:embed="rId4"/>
          <a:srcRect/>
          <a:stretch/>
        </p:blipFill>
        <p:spPr>
          <a:xfrm>
            <a:off x="812800" y="6228085"/>
            <a:ext cx="165100" cy="215900"/>
          </a:xfrm>
          <a:prstGeom prst="rect">
            <a:avLst/>
          </a:prstGeom>
        </p:spPr>
      </p:pic>
      <p:sp>
        <p:nvSpPr>
          <p:cNvPr id="16" name="Text 12"/>
          <p:cNvSpPr/>
          <p:nvPr/>
        </p:nvSpPr>
        <p:spPr>
          <a:xfrm>
            <a:off x="1066800" y="6220458"/>
            <a:ext cx="47728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AF6F0"/>
                </a:solidFill>
                <a:latin typeface="Playfair Display" pitchFamily="34" charset="0"/>
                <a:ea typeface="Playfair Display" pitchFamily="34" charset="-122"/>
                <a:cs typeface="Playfair Display" pitchFamily="34" charset="-120"/>
              </a:rPr>
              <a:t>Postr.</a:t>
            </a:r>
            <a:endParaRPr lang="en-US" sz="1300" dirty="0"/>
          </a:p>
        </p:txBody>
      </p:sp>
      <p:sp>
        <p:nvSpPr>
          <p:cNvPr id="17" name="Text 13"/>
          <p:cNvSpPr/>
          <p:nvPr/>
        </p:nvSpPr>
        <p:spPr>
          <a:xfrm>
            <a:off x="7454900" y="6238242"/>
            <a:ext cx="3924300" cy="238760"/>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A8C3C2"/>
                </a:solidFill>
                <a:latin typeface="Poppins" pitchFamily="34" charset="0"/>
                <a:ea typeface="Poppins" pitchFamily="34" charset="-122"/>
                <a:cs typeface="Poppins" pitchFamily="34" charset="-120"/>
              </a:rPr>
              <a:t>25 / 25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TotalTime>
  <Words>4379</Words>
  <Application>Microsoft Office PowerPoint</Application>
  <PresentationFormat>Widescreen</PresentationFormat>
  <Paragraphs>480</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Playfair Display</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Postr. — E-Commerce Project 2026</dc:title>
  <dc:subject>PptxGenJS Presentation</dc:subject>
  <dc:creator>PptxGenJS</dc:creator>
  <cp:lastModifiedBy>SRIPARNO CHOWDHURY - 251620140012 - TAPMIBLR</cp:lastModifiedBy>
  <cp:revision>3</cp:revision>
  <dcterms:created xsi:type="dcterms:W3CDTF">2026-09-21T02:51:21Z</dcterms:created>
  <dcterms:modified xsi:type="dcterms:W3CDTF">2026-09-21T05:17:22Z</dcterms:modified>
</cp:coreProperties>
</file>