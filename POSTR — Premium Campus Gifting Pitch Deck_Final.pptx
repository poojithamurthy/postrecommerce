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5" r:id="rId2"/>
    <p:sldId id="257" r:id="rId3"/>
    <p:sldId id="258" r:id="rId4"/>
    <p:sldId id="259" r:id="rId5"/>
    <p:sldId id="256" r:id="rId6"/>
    <p:sldId id="266" r:id="rId7"/>
    <p:sldId id="267" r:id="rId8"/>
    <p:sldId id="268" r:id="rId9"/>
    <p:sldId id="269" r:id="rId10"/>
    <p:sldId id="276" r:id="rId11"/>
    <p:sldId id="270" r:id="rId12"/>
    <p:sldId id="271" r:id="rId13"/>
    <p:sldId id="272" r:id="rId14"/>
    <p:sldId id="273" r:id="rId15"/>
    <p:sldId id="274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6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tx1"/>
                </a:solidFill>
              </a:rPr>
              <a:t>Budget Allocation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63C-44E0-894C-F7A8D96D8D6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C02-4246-8DB0-DAF547038C6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63C-44E0-894C-F7A8D96D8D6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63C-44E0-894C-F7A8D96D8D6A}"/>
              </c:ext>
            </c:extLst>
          </c:dPt>
          <c:cat>
            <c:strRef>
              <c:f>Sheet1!$A$2:$A$5</c:f>
              <c:strCache>
                <c:ptCount val="2"/>
                <c:pt idx="0">
                  <c:v>Inventory</c:v>
                </c:pt>
                <c:pt idx="1">
                  <c:v>Software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02-4246-8DB0-DAF547038C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 Cost</c:v>
                </c:pt>
              </c:strCache>
            </c:strRef>
          </c:tx>
          <c:spPr>
            <a:solidFill>
              <a:srgbClr val="36454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6454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Classic</c:v>
                </c:pt>
                <c:pt idx="1">
                  <c:v>Premium</c:v>
                </c:pt>
                <c:pt idx="2">
                  <c:v>Deluxe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</c:v>
                </c:pt>
                <c:pt idx="1">
                  <c:v>143</c:v>
                </c:pt>
                <c:pt idx="2">
                  <c:v>212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5D-46F4-9EAD-B8B08C3FB7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 Price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6454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Classic</c:v>
                </c:pt>
                <c:pt idx="1">
                  <c:v>Premium</c:v>
                </c:pt>
                <c:pt idx="2">
                  <c:v>Deluxe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164</c:v>
                </c:pt>
                <c:pt idx="1">
                  <c:v>424</c:v>
                </c:pt>
                <c:pt idx="2">
                  <c:v>649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5D-46F4-9EAD-B8B08C3FB7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4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5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3830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POSTR is a campus-native D2C brand for personalized polaroids, posters, and photo cards.
- Built for university students, hostel residents, couples, and friendship groups.
- Four co-founders: Poojitha, Anushka, Sriparno, Akshaya — bootstrapped with ₹4,000.
- Core promise: 24–48 hour hyper-local campus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F7C495-ACA9-F78C-9382-6AAA97366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EEC4C-4959-4CDE-AB62-15CF0E80871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7C8CA0-D1AC-3CF9-D42B-EACE48F77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87479-20F8-4FF3-BD97-8EFEE1A4A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99582-8468-473D-A6EE-7BCF96D35A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552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26779B0-5C36-6CF5-C3BA-76FD7A5BEF92}"/>
              </a:ext>
            </a:extLst>
          </p:cNvPr>
          <p:cNvSpPr txBox="1"/>
          <p:nvPr/>
        </p:nvSpPr>
        <p:spPr>
          <a:xfrm>
            <a:off x="3193026" y="861807"/>
            <a:ext cx="457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700" dirty="0">
                <a:latin typeface="Aharoni" panose="02010803020104030203" pitchFamily="2" charset="-79"/>
                <a:cs typeface="Aharoni" panose="02010803020104030203" pitchFamily="2" charset="-79"/>
              </a:rPr>
              <a:t>WHAT   IS    IT ??</a:t>
            </a:r>
          </a:p>
        </p:txBody>
      </p:sp>
      <p:pic>
        <p:nvPicPr>
          <p:cNvPr id="7" name="Picture 6" descr="270+ Poster Pictures | Download Free Images on Unsplash">
            <a:extLst>
              <a:ext uri="{FF2B5EF4-FFF2-40B4-BE49-F238E27FC236}">
                <a16:creationId xmlns:a16="http://schemas.microsoft.com/office/drawing/2014/main" id="{A4CD0289-4331-F968-F695-44EB2BC0BE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13" b="19951"/>
          <a:stretch>
            <a:fillRect/>
          </a:stretch>
        </p:blipFill>
        <p:spPr>
          <a:xfrm>
            <a:off x="2131141" y="1607574"/>
            <a:ext cx="5147188" cy="257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85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10F31C-8037-7981-F63A-7B83651A9E74}"/>
              </a:ext>
            </a:extLst>
          </p:cNvPr>
          <p:cNvSpPr txBox="1"/>
          <p:nvPr/>
        </p:nvSpPr>
        <p:spPr>
          <a:xfrm>
            <a:off x="3288890" y="679401"/>
            <a:ext cx="457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700" dirty="0">
                <a:latin typeface="Aharoni" panose="02010803020104030203" pitchFamily="2" charset="-79"/>
                <a:cs typeface="Aharoni" panose="02010803020104030203" pitchFamily="2" charset="-79"/>
              </a:rPr>
              <a:t>A good poster.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4D04C7-332D-88B3-F56A-1D713FC5F6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636" y="1304258"/>
            <a:ext cx="2374728" cy="315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678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338EF7-0506-4F19-CC05-18E1B1881CAB}"/>
              </a:ext>
            </a:extLst>
          </p:cNvPr>
          <p:cNvSpPr txBox="1"/>
          <p:nvPr/>
        </p:nvSpPr>
        <p:spPr>
          <a:xfrm>
            <a:off x="3141407" y="598285"/>
            <a:ext cx="457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700" dirty="0">
                <a:latin typeface="Aharoni" panose="02010803020104030203" pitchFamily="2" charset="-79"/>
                <a:cs typeface="Aharoni" panose="02010803020104030203" pitchFamily="2" charset="-79"/>
              </a:rPr>
              <a:t>An ugly poster.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9C69AE-80D6-52C9-AAB5-5A82182F4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389" y="1148070"/>
            <a:ext cx="2364120" cy="325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98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6AD7AC-EE28-5720-BE4A-B0E58F5D0DE7}"/>
              </a:ext>
            </a:extLst>
          </p:cNvPr>
          <p:cNvSpPr txBox="1"/>
          <p:nvPr/>
        </p:nvSpPr>
        <p:spPr>
          <a:xfrm>
            <a:off x="2396613" y="635156"/>
            <a:ext cx="457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700" dirty="0">
                <a:latin typeface="Aharoni" panose="02010803020104030203" pitchFamily="2" charset="-79"/>
                <a:cs typeface="Aharoni" panose="02010803020104030203" pitchFamily="2" charset="-79"/>
              </a:rPr>
              <a:t>INTRODUCING </a:t>
            </a:r>
            <a:br>
              <a:rPr lang="en-IN" sz="27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n-IN" sz="27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n-IN" sz="66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C41B4E-E10C-F7D5-44BA-0DE208CA8DA4}"/>
              </a:ext>
            </a:extLst>
          </p:cNvPr>
          <p:cNvSpPr txBox="1"/>
          <p:nvPr/>
        </p:nvSpPr>
        <p:spPr>
          <a:xfrm>
            <a:off x="3280785" y="1301343"/>
            <a:ext cx="4572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600" dirty="0">
                <a:latin typeface="Aharoni" panose="02010803020104030203" pitchFamily="2" charset="-79"/>
                <a:cs typeface="Aharoni" panose="02010803020104030203" pitchFamily="2" charset="-79"/>
              </a:rPr>
              <a:t>Post</a:t>
            </a:r>
            <a:endParaRPr lang="en-IN" sz="13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7CF6D6-E0F5-AF61-9727-9CEAFA4D0437}"/>
              </a:ext>
            </a:extLst>
          </p:cNvPr>
          <p:cNvSpPr txBox="1"/>
          <p:nvPr/>
        </p:nvSpPr>
        <p:spPr>
          <a:xfrm>
            <a:off x="4982099" y="1301343"/>
            <a:ext cx="4572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600" dirty="0">
                <a:latin typeface="Aharoni" panose="02010803020104030203" pitchFamily="2" charset="-79"/>
                <a:cs typeface="Aharoni" panose="02010803020104030203" pitchFamily="2" charset="-79"/>
              </a:rPr>
              <a:t>er  </a:t>
            </a:r>
            <a:endParaRPr lang="en-IN" sz="13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874928-8986-7469-3E83-6EF30E302529}"/>
              </a:ext>
            </a:extLst>
          </p:cNvPr>
          <p:cNvSpPr txBox="1"/>
          <p:nvPr/>
        </p:nvSpPr>
        <p:spPr>
          <a:xfrm>
            <a:off x="5496974" y="1276819"/>
            <a:ext cx="484115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600" dirty="0">
                <a:latin typeface="Aharoni" panose="02010803020104030203" pitchFamily="2" charset="-79"/>
                <a:cs typeface="Aharoni" panose="02010803020104030203" pitchFamily="2" charset="-79"/>
              </a:rPr>
              <a:t>.  </a:t>
            </a:r>
            <a:endParaRPr lang="en-IN" sz="13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0EF34D-DDFF-F7A4-DEA0-294DB92E3D36}"/>
              </a:ext>
            </a:extLst>
          </p:cNvPr>
          <p:cNvSpPr txBox="1"/>
          <p:nvPr/>
        </p:nvSpPr>
        <p:spPr>
          <a:xfrm>
            <a:off x="5014837" y="1301343"/>
            <a:ext cx="537335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600" dirty="0">
                <a:latin typeface="Aharoni" panose="02010803020104030203" pitchFamily="2" charset="-79"/>
                <a:cs typeface="Aharoni" panose="02010803020104030203" pitchFamily="2" charset="-79"/>
              </a:rPr>
              <a:t>r</a:t>
            </a:r>
            <a:endParaRPr lang="en-IN" sz="13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E12165-D37B-AE38-BC76-AA683B55301A}"/>
              </a:ext>
            </a:extLst>
          </p:cNvPr>
          <p:cNvSpPr txBox="1"/>
          <p:nvPr/>
        </p:nvSpPr>
        <p:spPr>
          <a:xfrm>
            <a:off x="2696098" y="2031178"/>
            <a:ext cx="539219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600" dirty="0">
                <a:latin typeface="Aharoni" panose="02010803020104030203" pitchFamily="2" charset="-79"/>
                <a:cs typeface="Aharoni" panose="02010803020104030203" pitchFamily="2" charset="-79"/>
              </a:rPr>
              <a:t>  </a:t>
            </a:r>
            <a:endParaRPr lang="en-IN" sz="13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EDBD1E9-D37A-B421-7B4A-876B379D0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95" t="31703" r="60515" b="34963"/>
          <a:stretch>
            <a:fillRect/>
          </a:stretch>
        </p:blipFill>
        <p:spPr>
          <a:xfrm>
            <a:off x="3913885" y="2423649"/>
            <a:ext cx="1316231" cy="17145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2B4A76F-8B98-6DFF-14CD-6408E0D5F705}"/>
              </a:ext>
            </a:extLst>
          </p:cNvPr>
          <p:cNvSpPr/>
          <p:nvPr/>
        </p:nvSpPr>
        <p:spPr>
          <a:xfrm>
            <a:off x="1821181" y="4277512"/>
            <a:ext cx="5613246" cy="23083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10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Made for your space.</a:t>
            </a:r>
          </a:p>
        </p:txBody>
      </p:sp>
    </p:spTree>
    <p:extLst>
      <p:ext uri="{BB962C8B-B14F-4D97-AF65-F5344CB8AC3E}">
        <p14:creationId xmlns:p14="http://schemas.microsoft.com/office/powerpoint/2010/main" val="1430439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200025"/>
            <a:ext cx="1120497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kern="0" spc="324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POSTR</a:t>
            </a:r>
            <a:endParaRPr lang="en-US" sz="1013" dirty="0"/>
          </a:p>
        </p:txBody>
      </p:sp>
      <p:sp>
        <p:nvSpPr>
          <p:cNvPr id="3" name="Text 1"/>
          <p:cNvSpPr/>
          <p:nvPr/>
        </p:nvSpPr>
        <p:spPr>
          <a:xfrm>
            <a:off x="8353834" y="200025"/>
            <a:ext cx="5799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101" dirty="0">
                <a:solidFill>
                  <a:srgbClr val="9A9A9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4178" y="779561"/>
            <a:ext cx="44115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216" dirty="0">
                <a:solidFill>
                  <a:srgbClr val="BC6C4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MBA E-COMMERCE PROJECT · 2026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00050" y="3033851"/>
            <a:ext cx="3838766" cy="1723239"/>
          </a:xfrm>
          <a:prstGeom prst="roundRect">
            <a:avLst>
              <a:gd name="adj" fmla="val 27251"/>
            </a:avLst>
          </a:prstGeom>
          <a:solidFill>
            <a:srgbClr val="F1E9D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10765" y="3797635"/>
            <a:ext cx="0" cy="489347"/>
          </a:xfrm>
          <a:prstGeom prst="line">
            <a:avLst/>
          </a:prstGeom>
          <a:noFill/>
          <a:ln w="21431">
            <a:solidFill>
              <a:srgbClr val="BC6C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163195" y="3274580"/>
            <a:ext cx="4389793" cy="1138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2400" b="1" kern="0" spc="118" dirty="0">
                <a:solidFill>
                  <a:srgbClr val="8E4F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PROJECT TEAM</a:t>
            </a:r>
            <a:endParaRPr lang="en-US" sz="2400" b="1" dirty="0"/>
          </a:p>
        </p:txBody>
      </p:sp>
      <p:sp>
        <p:nvSpPr>
          <p:cNvPr id="16" name="Text 14"/>
          <p:cNvSpPr/>
          <p:nvPr/>
        </p:nvSpPr>
        <p:spPr>
          <a:xfrm>
            <a:off x="550069" y="3633810"/>
            <a:ext cx="3688747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kern="0" spc="8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Poojitha K </a:t>
            </a:r>
          </a:p>
          <a:p>
            <a:pPr marL="0" indent="0" algn="l">
              <a:lnSpc>
                <a:spcPts val="1139"/>
              </a:lnSpc>
              <a:buNone/>
            </a:pPr>
            <a:endParaRPr lang="en-US" kern="0" spc="8" dirty="0">
              <a:solidFill>
                <a:srgbClr val="0A0A0A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1139"/>
              </a:lnSpc>
              <a:buNone/>
            </a:pPr>
            <a:r>
              <a:rPr lang="en-US" kern="0" spc="8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Anushka Mahato</a:t>
            </a:r>
          </a:p>
          <a:p>
            <a:pPr marL="0" indent="0" algn="l">
              <a:lnSpc>
                <a:spcPts val="1139"/>
              </a:lnSpc>
              <a:buNone/>
            </a:pPr>
            <a:endParaRPr lang="en-US" kern="0" spc="8" dirty="0">
              <a:solidFill>
                <a:srgbClr val="0A0A0A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1139"/>
              </a:lnSpc>
            </a:pPr>
            <a:r>
              <a:rPr lang="en-IN" dirty="0" err="1"/>
              <a:t>Sriparno</a:t>
            </a:r>
            <a:r>
              <a:rPr lang="en-IN" dirty="0"/>
              <a:t> Chowdhury</a:t>
            </a:r>
          </a:p>
          <a:p>
            <a:pPr>
              <a:lnSpc>
                <a:spcPts val="1139"/>
              </a:lnSpc>
            </a:pPr>
            <a:endParaRPr lang="en-US" kern="0" spc="8" dirty="0">
              <a:solidFill>
                <a:srgbClr val="0A0A0A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1139"/>
              </a:lnSpc>
              <a:buNone/>
            </a:pPr>
            <a:r>
              <a:rPr lang="en-US" kern="0" spc="8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Akshaya Tantri</a:t>
            </a:r>
            <a:endParaRPr lang="en-US" dirty="0"/>
          </a:p>
        </p:txBody>
      </p:sp>
      <p:pic>
        <p:nvPicPr>
          <p:cNvPr id="24" name="Image 0" descr="/tmp/h2p-fit-1785994584289-zzuj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149" y="600075"/>
            <a:ext cx="3944801" cy="4143375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400050" y="4854178"/>
            <a:ext cx="727590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9A9A9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POSTR · CAMPUS GIFTING REIMAGINED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690247" y="4854178"/>
            <a:ext cx="120797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7" dirty="0">
                <a:solidFill>
                  <a:srgbClr val="9A9A9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CONFIDENTIAL PITCH DECK</a:t>
            </a:r>
            <a:endParaRPr lang="en-US" sz="619" dirty="0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0DDB4C67-C780-2717-3608-DAB607975154}"/>
              </a:ext>
            </a:extLst>
          </p:cNvPr>
          <p:cNvSpPr/>
          <p:nvPr/>
        </p:nvSpPr>
        <p:spPr>
          <a:xfrm>
            <a:off x="523888" y="2170870"/>
            <a:ext cx="4094165" cy="48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831"/>
              </a:lnSpc>
            </a:pPr>
            <a:r>
              <a:rPr lang="en-US" sz="4000" b="1" kern="0" spc="-297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Made for your space</a:t>
            </a:r>
            <a:endParaRPr lang="en-US" sz="40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64C9ED8-062F-CBA9-DCA4-E3CFA982E2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88" y="923554"/>
            <a:ext cx="3710151" cy="15431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8183651" y="4841748"/>
            <a:ext cx="685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582930"/>
            <a:ext cx="7543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364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Gaps &amp; Competitor Analysis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11480" y="9738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large marketplaces fall short for campus gifting</a:t>
            </a:r>
            <a:endParaRPr lang="en-US" sz="975" dirty="0"/>
          </a:p>
        </p:txBody>
      </p:sp>
      <p:sp>
        <p:nvSpPr>
          <p:cNvPr id="7" name="Shape 5"/>
          <p:cNvSpPr/>
          <p:nvPr/>
        </p:nvSpPr>
        <p:spPr>
          <a:xfrm>
            <a:off x="3669030" y="1543050"/>
            <a:ext cx="2571750" cy="377190"/>
          </a:xfrm>
          <a:prstGeom prst="roundRect">
            <a:avLst>
              <a:gd name="adj" fmla="val 10909"/>
            </a:avLst>
          </a:prstGeom>
          <a:solidFill>
            <a:srgbClr val="EFE9E1"/>
          </a:solidFill>
          <a:ln/>
        </p:spPr>
        <p:txBody>
          <a:bodyPr/>
          <a:lstStyle/>
          <a:p>
            <a:endParaRPr lang="en-IN" sz="1300"/>
          </a:p>
        </p:txBody>
      </p:sp>
      <p:sp>
        <p:nvSpPr>
          <p:cNvPr id="8" name="Text 6"/>
          <p:cNvSpPr/>
          <p:nvPr/>
        </p:nvSpPr>
        <p:spPr>
          <a:xfrm>
            <a:off x="3669030" y="1543050"/>
            <a:ext cx="257175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/ Marketplaces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12230" y="1543050"/>
            <a:ext cx="2297430" cy="377190"/>
          </a:xfrm>
          <a:prstGeom prst="roundRect">
            <a:avLst>
              <a:gd name="adj" fmla="val 10909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IN" sz="1300"/>
          </a:p>
        </p:txBody>
      </p:sp>
      <p:sp>
        <p:nvSpPr>
          <p:cNvPr id="10" name="Text 8"/>
          <p:cNvSpPr/>
          <p:nvPr/>
        </p:nvSpPr>
        <p:spPr>
          <a:xfrm>
            <a:off x="6412230" y="1543050"/>
            <a:ext cx="22974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975104"/>
            <a:ext cx="29489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Speed</a:t>
            </a:r>
            <a:endParaRPr lang="en-US" sz="1300" dirty="0"/>
          </a:p>
        </p:txBody>
      </p:sp>
      <p:pic>
        <p:nvPicPr>
          <p:cNvPr id="12" name="Image 0" descr="icons/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0" y="2194560"/>
            <a:ext cx="192024" cy="19202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046220" y="1975104"/>
            <a:ext cx="21259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7+ days lead time</a:t>
            </a:r>
            <a:endParaRPr lang="en-US" sz="1300" dirty="0"/>
          </a:p>
        </p:txBody>
      </p:sp>
      <p:pic>
        <p:nvPicPr>
          <p:cNvPr id="14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194560"/>
            <a:ext cx="192024" cy="1920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700266" y="1975104"/>
            <a:ext cx="195453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24–48 hr campus delivery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11480" y="2564892"/>
            <a:ext cx="8318754" cy="630936"/>
          </a:xfrm>
          <a:prstGeom prst="rect">
            <a:avLst/>
          </a:prstGeom>
          <a:solidFill>
            <a:srgbClr val="FAF8F5"/>
          </a:solidFill>
          <a:ln/>
        </p:spPr>
        <p:txBody>
          <a:bodyPr/>
          <a:lstStyle/>
          <a:p>
            <a:endParaRPr lang="en-IN" sz="1300"/>
          </a:p>
        </p:txBody>
      </p:sp>
      <p:sp>
        <p:nvSpPr>
          <p:cNvPr id="17" name="Text 13"/>
          <p:cNvSpPr/>
          <p:nvPr/>
        </p:nvSpPr>
        <p:spPr>
          <a:xfrm>
            <a:off x="411480" y="2606040"/>
            <a:ext cx="29489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300" dirty="0"/>
          </a:p>
        </p:txBody>
      </p:sp>
      <p:pic>
        <p:nvPicPr>
          <p:cNvPr id="18" name="Image 2" descr="icons/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0" y="2825496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046220" y="2606040"/>
            <a:ext cx="21259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— low-res prints, thin cardstock</a:t>
            </a:r>
            <a:endParaRPr lang="en-US" sz="1300" dirty="0"/>
          </a:p>
        </p:txBody>
      </p:sp>
      <p:pic>
        <p:nvPicPr>
          <p:cNvPr id="20" name="Image 3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825496"/>
            <a:ext cx="192024" cy="1920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00266" y="2606040"/>
            <a:ext cx="195453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vendor-verified before packing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11480" y="3236976"/>
            <a:ext cx="29489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Value</a:t>
            </a:r>
            <a:endParaRPr lang="en-US" sz="1300" dirty="0"/>
          </a:p>
        </p:txBody>
      </p:sp>
      <p:pic>
        <p:nvPicPr>
          <p:cNvPr id="23" name="Image 4" descr="icons/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0" y="3456432"/>
            <a:ext cx="192024" cy="1920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046220" y="3236976"/>
            <a:ext cx="21259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Generic, one-off gift</a:t>
            </a:r>
            <a:endParaRPr lang="en-US" sz="1300" dirty="0"/>
          </a:p>
        </p:txBody>
      </p:sp>
      <p:pic>
        <p:nvPicPr>
          <p:cNvPr id="25" name="Image 5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456432"/>
            <a:ext cx="192024" cy="19202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00266" y="3236976"/>
            <a:ext cx="195453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memory vault + shared birthday notes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411480" y="3826764"/>
            <a:ext cx="8318754" cy="630936"/>
          </a:xfrm>
          <a:prstGeom prst="rect">
            <a:avLst/>
          </a:prstGeom>
          <a:solidFill>
            <a:srgbClr val="FAF8F5"/>
          </a:solidFill>
          <a:ln/>
        </p:spPr>
        <p:txBody>
          <a:bodyPr/>
          <a:lstStyle/>
          <a:p>
            <a:endParaRPr lang="en-IN" sz="1300"/>
          </a:p>
        </p:txBody>
      </p:sp>
      <p:sp>
        <p:nvSpPr>
          <p:cNvPr id="28" name="Text 20"/>
          <p:cNvSpPr/>
          <p:nvPr/>
        </p:nvSpPr>
        <p:spPr>
          <a:xfrm>
            <a:off x="411480" y="3867912"/>
            <a:ext cx="29489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/ Replacement</a:t>
            </a:r>
            <a:endParaRPr lang="en-US" sz="1300" dirty="0"/>
          </a:p>
        </p:txBody>
      </p:sp>
      <p:pic>
        <p:nvPicPr>
          <p:cNvPr id="29" name="Image 6" descr="icons/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0" y="4087368"/>
            <a:ext cx="192024" cy="19202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046220" y="3867912"/>
            <a:ext cx="21259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Slow, tedious claims process</a:t>
            </a:r>
            <a:endParaRPr lang="en-US" sz="1300" dirty="0"/>
          </a:p>
        </p:txBody>
      </p:sp>
      <p:pic>
        <p:nvPicPr>
          <p:cNvPr id="31" name="Image 7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087368"/>
            <a:ext cx="192024" cy="192024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700266" y="3867912"/>
            <a:ext cx="195453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no-questions replacement</a:t>
            </a:r>
            <a:endParaRPr lang="en-US" sz="13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E66FF3C-47EC-2C0A-B3C3-E4272E52D95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124" t="14369" r="64590" b="18522"/>
          <a:stretch>
            <a:fillRect/>
          </a:stretch>
        </p:blipFill>
        <p:spPr>
          <a:xfrm>
            <a:off x="8436594" y="140589"/>
            <a:ext cx="587279" cy="5795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8183651" y="4800600"/>
            <a:ext cx="685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582930"/>
            <a:ext cx="7543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364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Unique Selling Proposition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11480" y="973836"/>
            <a:ext cx="7200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differentiators that set POSTR apart from standard print shops</a:t>
            </a:r>
            <a:endParaRPr lang="en-US" sz="975" dirty="0"/>
          </a:p>
        </p:txBody>
      </p:sp>
      <p:sp>
        <p:nvSpPr>
          <p:cNvPr id="7" name="Shape 5"/>
          <p:cNvSpPr/>
          <p:nvPr/>
        </p:nvSpPr>
        <p:spPr>
          <a:xfrm>
            <a:off x="411480" y="1474470"/>
            <a:ext cx="1954530" cy="3086100"/>
          </a:xfrm>
          <a:prstGeom prst="roundRect">
            <a:avLst>
              <a:gd name="adj" fmla="val 3158"/>
            </a:avLst>
          </a:prstGeom>
          <a:solidFill>
            <a:srgbClr val="EFE9E1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IN" sz="1300" dirty="0"/>
          </a:p>
        </p:txBody>
      </p:sp>
      <p:sp>
        <p:nvSpPr>
          <p:cNvPr id="8" name="Shape 6"/>
          <p:cNvSpPr/>
          <p:nvPr/>
        </p:nvSpPr>
        <p:spPr>
          <a:xfrm>
            <a:off x="1114425" y="17145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sz="1300"/>
          </a:p>
        </p:txBody>
      </p:sp>
      <p:pic>
        <p:nvPicPr>
          <p:cNvPr id="9" name="Image 0" descr="icons/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869" y="1837944"/>
            <a:ext cx="301752" cy="3017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4924" y="1597914"/>
            <a:ext cx="411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B850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400300"/>
            <a:ext cx="168021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sz="1300" b="1" dirty="0">
                <a:solidFill>
                  <a:srgbClr val="364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QR Memory Vault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2983230"/>
            <a:ext cx="1652778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Scannable QR on every print opens a private cloud vault (50–60 MB) storing videos, albums &amp; tagged memories — for life.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558034" y="1474470"/>
            <a:ext cx="1954530" cy="3086100"/>
          </a:xfrm>
          <a:prstGeom prst="roundRect">
            <a:avLst>
              <a:gd name="adj" fmla="val 3158"/>
            </a:avLst>
          </a:prstGeom>
          <a:solidFill>
            <a:srgbClr val="EFE9E1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IN" sz="1300"/>
          </a:p>
        </p:txBody>
      </p:sp>
      <p:sp>
        <p:nvSpPr>
          <p:cNvPr id="14" name="Shape 11"/>
          <p:cNvSpPr/>
          <p:nvPr/>
        </p:nvSpPr>
        <p:spPr>
          <a:xfrm>
            <a:off x="3260979" y="17145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sz="1300"/>
          </a:p>
        </p:txBody>
      </p:sp>
      <p:pic>
        <p:nvPicPr>
          <p:cNvPr id="15" name="Image 1" descr="icons/gi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4423" y="183794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81478" y="1597914"/>
            <a:ext cx="411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B850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695194" y="2400300"/>
            <a:ext cx="168021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sz="1300" b="1" dirty="0">
                <a:solidFill>
                  <a:srgbClr val="364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Campus Birthday Pack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695194" y="2983230"/>
            <a:ext cx="1652778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display-stand card with 2 personalized prints, plus space for peers to leave anonymous birthday notes.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704588" y="1474470"/>
            <a:ext cx="1954530" cy="3086100"/>
          </a:xfrm>
          <a:prstGeom prst="roundRect">
            <a:avLst>
              <a:gd name="adj" fmla="val 3158"/>
            </a:avLst>
          </a:prstGeom>
          <a:solidFill>
            <a:srgbClr val="EFE9E1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IN" sz="1300"/>
          </a:p>
        </p:txBody>
      </p:sp>
      <p:sp>
        <p:nvSpPr>
          <p:cNvPr id="20" name="Shape 16"/>
          <p:cNvSpPr/>
          <p:nvPr/>
        </p:nvSpPr>
        <p:spPr>
          <a:xfrm>
            <a:off x="5407533" y="17145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sz="1300"/>
          </a:p>
        </p:txBody>
      </p:sp>
      <p:pic>
        <p:nvPicPr>
          <p:cNvPr id="21" name="Image 2" descr="icons/lea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0977" y="1837944"/>
            <a:ext cx="301752" cy="30175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28032" y="1597914"/>
            <a:ext cx="411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B850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841748" y="2400300"/>
            <a:ext cx="168021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sz="1300" b="1" dirty="0">
                <a:solidFill>
                  <a:srgbClr val="364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 Groove-Box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841748" y="2983230"/>
            <a:ext cx="1652778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Packaging doubles as a desk stand, pen holder or flower vase — instant utility, zero waste.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851142" y="1474470"/>
            <a:ext cx="1954530" cy="3086100"/>
          </a:xfrm>
          <a:prstGeom prst="roundRect">
            <a:avLst>
              <a:gd name="adj" fmla="val 3158"/>
            </a:avLst>
          </a:prstGeom>
          <a:solidFill>
            <a:srgbClr val="EFE9E1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IN" sz="1300"/>
          </a:p>
        </p:txBody>
      </p:sp>
      <p:sp>
        <p:nvSpPr>
          <p:cNvPr id="26" name="Shape 21"/>
          <p:cNvSpPr/>
          <p:nvPr/>
        </p:nvSpPr>
        <p:spPr>
          <a:xfrm>
            <a:off x="7554087" y="17145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sz="1300"/>
          </a:p>
        </p:txBody>
      </p:sp>
      <p:pic>
        <p:nvPicPr>
          <p:cNvPr id="27" name="Image 3" descr="icons/tru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7531" y="1837944"/>
            <a:ext cx="301752" cy="30175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74586" y="1597914"/>
            <a:ext cx="411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B850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6988302" y="2400300"/>
            <a:ext cx="168021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sz="1300" b="1" dirty="0">
                <a:solidFill>
                  <a:srgbClr val="364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48-Hr Campus Delivery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988302" y="2983230"/>
            <a:ext cx="1652778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24–48 hour hyper-local delivery vs. 7+ days on Amazon, backed by a risk-free replacement guarantee.</a:t>
            </a:r>
            <a:endParaRPr lang="en-US" sz="13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3998D85-BBB0-BDA0-F36E-9E1251F42AE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124" t="14369" r="64590" b="18522"/>
          <a:stretch>
            <a:fillRect/>
          </a:stretch>
        </p:blipFill>
        <p:spPr>
          <a:xfrm>
            <a:off x="8436594" y="140589"/>
            <a:ext cx="587279" cy="5795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8183651" y="4800600"/>
            <a:ext cx="685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75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411480" y="582930"/>
            <a:ext cx="7886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364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D2C Business Model &amp; Tiered Pricing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11480" y="9738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Direct-to-consumer storefront, optimized for campus youth and gift-shoppers — three combo tiers priced against actual sourcing cost</a:t>
            </a:r>
            <a:endParaRPr lang="en-US" sz="938" dirty="0"/>
          </a:p>
        </p:txBody>
      </p:sp>
      <p:sp>
        <p:nvSpPr>
          <p:cNvPr id="7" name="Shape 5"/>
          <p:cNvSpPr/>
          <p:nvPr/>
        </p:nvSpPr>
        <p:spPr>
          <a:xfrm>
            <a:off x="411480" y="1474470"/>
            <a:ext cx="8318754" cy="342900"/>
          </a:xfrm>
          <a:prstGeom prst="roundRect">
            <a:avLst>
              <a:gd name="adj" fmla="val 10000"/>
            </a:avLst>
          </a:prstGeom>
          <a:solidFill>
            <a:srgbClr val="36454F"/>
          </a:solidFill>
          <a:ln/>
        </p:spPr>
        <p:txBody>
          <a:bodyPr/>
          <a:lstStyle/>
          <a:p>
            <a:endParaRPr lang="en-IN" sz="1300"/>
          </a:p>
        </p:txBody>
      </p:sp>
      <p:sp>
        <p:nvSpPr>
          <p:cNvPr id="8" name="Text 6"/>
          <p:cNvSpPr/>
          <p:nvPr/>
        </p:nvSpPr>
        <p:spPr>
          <a:xfrm>
            <a:off x="493776" y="1474470"/>
            <a:ext cx="1234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31086" y="1474470"/>
            <a:ext cx="31203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54346" y="1474470"/>
            <a:ext cx="960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Cost*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17336" y="1474470"/>
            <a:ext cx="12687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88936" y="1474470"/>
            <a:ext cx="12207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1858518"/>
            <a:ext cx="8318754" cy="699516"/>
          </a:xfrm>
          <a:prstGeom prst="rect">
            <a:avLst/>
          </a:prstGeom>
          <a:solidFill>
            <a:srgbClr val="FAF8F5"/>
          </a:solidFill>
          <a:ln/>
        </p:spPr>
        <p:txBody>
          <a:bodyPr/>
          <a:lstStyle/>
          <a:p>
            <a:endParaRPr lang="en-IN" sz="1300"/>
          </a:p>
        </p:txBody>
      </p:sp>
      <p:sp>
        <p:nvSpPr>
          <p:cNvPr id="14" name="Text 12"/>
          <p:cNvSpPr/>
          <p:nvPr/>
        </p:nvSpPr>
        <p:spPr>
          <a:xfrm>
            <a:off x="493776" y="1858518"/>
            <a:ext cx="121386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Pack</a:t>
            </a:r>
            <a:endParaRPr lang="en-US" sz="1300" dirty="0"/>
          </a:p>
          <a:p>
            <a:pPr>
              <a:lnSpc>
                <a:spcPct val="110000"/>
              </a:lnSpc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(Entry Tier)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31086" y="1858518"/>
            <a:ext cx="30861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 custom polaroids + wooden clips &amp; twine set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06340" y="1858518"/>
            <a:ext cx="99441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₹37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69330" y="1858518"/>
            <a:ext cx="130302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₹149 – ₹179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40930" y="1858518"/>
            <a:ext cx="1220724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3E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" y="2599182"/>
            <a:ext cx="121386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Pack</a:t>
            </a:r>
            <a:endParaRPr lang="en-US" sz="1300" dirty="0"/>
          </a:p>
          <a:p>
            <a:pPr>
              <a:lnSpc>
                <a:spcPct val="110000"/>
              </a:lnSpc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 Margin)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831086" y="2599182"/>
            <a:ext cx="30861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 A4 poster + 3 polaroids + micro-LED lights + QR vault + groove box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06340" y="2599182"/>
            <a:ext cx="99441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₹143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69330" y="2599182"/>
            <a:ext cx="130302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₹399 – ₹449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40930" y="2599182"/>
            <a:ext cx="1220724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3E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~66%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" y="3339846"/>
            <a:ext cx="8318754" cy="699516"/>
          </a:xfrm>
          <a:prstGeom prst="rect">
            <a:avLst/>
          </a:prstGeom>
          <a:solidFill>
            <a:srgbClr val="FAF8F5"/>
          </a:solidFill>
          <a:ln/>
        </p:spPr>
        <p:txBody>
          <a:bodyPr/>
          <a:lstStyle/>
          <a:p>
            <a:endParaRPr lang="en-IN" sz="1300"/>
          </a:p>
        </p:txBody>
      </p:sp>
      <p:sp>
        <p:nvSpPr>
          <p:cNvPr id="25" name="Text 23"/>
          <p:cNvSpPr/>
          <p:nvPr/>
        </p:nvSpPr>
        <p:spPr>
          <a:xfrm>
            <a:off x="493776" y="3339846"/>
            <a:ext cx="121386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Deluxe Combo</a:t>
            </a:r>
            <a:endParaRPr lang="en-US" sz="1300" dirty="0"/>
          </a:p>
          <a:p>
            <a:pPr>
              <a:lnSpc>
                <a:spcPct val="110000"/>
              </a:lnSpc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(Couples / Groups)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831086" y="3339846"/>
            <a:ext cx="30861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 A3 posters (bulk rate) + 6 polaroids + 2× LED lights + 2× groove box + QR vault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06340" y="3339846"/>
            <a:ext cx="99441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₹212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69330" y="3339846"/>
            <a:ext cx="130302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₹599 – ₹699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40930" y="3339846"/>
            <a:ext cx="1220724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3E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~68%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" y="4288010"/>
            <a:ext cx="831875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90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*Unit cost derived from local vendor benchmarks: A3/A4 print ₹20–₹50/pc, polaroid ₹4.43/pc (₹155 per 35), clips &amp; twine ≈₹15/pack, LED lights ₹35–₹50/unit, groove box ≈₹25/unit.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485407B-6D7C-FD41-5DB0-8606BBCE32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24" t="14369" r="64590" b="18522"/>
          <a:stretch>
            <a:fillRect/>
          </a:stretch>
        </p:blipFill>
        <p:spPr>
          <a:xfrm>
            <a:off x="8436594" y="140589"/>
            <a:ext cx="587279" cy="5795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8183651" y="4800600"/>
            <a:ext cx="685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75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411480" y="582930"/>
            <a:ext cx="7886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364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 Infrastructure &amp; Technology Stack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11480" y="973836"/>
            <a:ext cx="7200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6B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powering the storefront, payments, and digital memory vaults</a:t>
            </a:r>
            <a:endParaRPr lang="en-US" sz="975" dirty="0"/>
          </a:p>
        </p:txBody>
      </p:sp>
      <p:sp>
        <p:nvSpPr>
          <p:cNvPr id="7" name="Shape 5"/>
          <p:cNvSpPr/>
          <p:nvPr/>
        </p:nvSpPr>
        <p:spPr>
          <a:xfrm>
            <a:off x="411480" y="1543050"/>
            <a:ext cx="8318754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en-IN" sz="1300"/>
          </a:p>
        </p:txBody>
      </p:sp>
      <p:sp>
        <p:nvSpPr>
          <p:cNvPr id="8" name="Shape 6"/>
          <p:cNvSpPr/>
          <p:nvPr/>
        </p:nvSpPr>
        <p:spPr>
          <a:xfrm>
            <a:off x="617220" y="1693926"/>
            <a:ext cx="582930" cy="582930"/>
          </a:xfrm>
          <a:prstGeom prst="ellipse">
            <a:avLst/>
          </a:prstGeom>
          <a:solidFill>
            <a:srgbClr val="EFE9E1"/>
          </a:solidFill>
          <a:ln/>
        </p:spPr>
        <p:txBody>
          <a:bodyPr/>
          <a:lstStyle/>
          <a:p>
            <a:endParaRPr lang="en-IN" sz="1300"/>
          </a:p>
        </p:txBody>
      </p:sp>
      <p:pic>
        <p:nvPicPr>
          <p:cNvPr id="9" name="Image 0" descr="icons/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831086"/>
            <a:ext cx="308610" cy="30861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65277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364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E-Commerce Engine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71600" y="1940814"/>
            <a:ext cx="35661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69180" y="1652778"/>
            <a:ext cx="33604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storefront for rapid catalog browsing, custom photo-upload management, and checkout.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11480" y="2571750"/>
            <a:ext cx="8318754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en-IN" sz="1300"/>
          </a:p>
        </p:txBody>
      </p:sp>
      <p:sp>
        <p:nvSpPr>
          <p:cNvPr id="14" name="Shape 11"/>
          <p:cNvSpPr/>
          <p:nvPr/>
        </p:nvSpPr>
        <p:spPr>
          <a:xfrm>
            <a:off x="617220" y="2722626"/>
            <a:ext cx="582930" cy="582930"/>
          </a:xfrm>
          <a:prstGeom prst="ellipse">
            <a:avLst/>
          </a:prstGeom>
          <a:solidFill>
            <a:srgbClr val="EFE9E1"/>
          </a:solidFill>
          <a:ln/>
        </p:spPr>
        <p:txBody>
          <a:bodyPr/>
          <a:lstStyle/>
          <a:p>
            <a:endParaRPr lang="en-IN" sz="1300"/>
          </a:p>
        </p:txBody>
      </p:sp>
      <p:pic>
        <p:nvPicPr>
          <p:cNvPr id="15" name="Image 1" descr="icons/wal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2859786"/>
            <a:ext cx="308610" cy="30861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71600" y="268147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364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Payment Processing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371600" y="2969514"/>
            <a:ext cx="35661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· Razorpay · Paytm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869180" y="2681478"/>
            <a:ext cx="33604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payment gateway for instant, frictionless mobile payments popular among university students.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11480" y="3600450"/>
            <a:ext cx="8318754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en-IN" sz="1300"/>
          </a:p>
        </p:txBody>
      </p:sp>
      <p:sp>
        <p:nvSpPr>
          <p:cNvPr id="20" name="Shape 16"/>
          <p:cNvSpPr/>
          <p:nvPr/>
        </p:nvSpPr>
        <p:spPr>
          <a:xfrm>
            <a:off x="617220" y="3751326"/>
            <a:ext cx="582930" cy="582930"/>
          </a:xfrm>
          <a:prstGeom prst="ellipse">
            <a:avLst/>
          </a:prstGeom>
          <a:solidFill>
            <a:srgbClr val="EFE9E1"/>
          </a:solidFill>
          <a:ln/>
        </p:spPr>
        <p:txBody>
          <a:bodyPr/>
          <a:lstStyle/>
          <a:p>
            <a:endParaRPr lang="en-IN" sz="1300"/>
          </a:p>
        </p:txBody>
      </p:sp>
      <p:pic>
        <p:nvPicPr>
          <p:cNvPr id="21" name="Image 2" descr="icons/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3888486"/>
            <a:ext cx="308610" cy="30861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71600" y="371017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364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Virtual Memory Storage Backend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371600" y="3998214"/>
            <a:ext cx="35661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storage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869180" y="3710178"/>
            <a:ext cx="33604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QR landing engine routed to cloud storage buckets allocated per custom QR order ID.</a:t>
            </a:r>
            <a:endParaRPr lang="en-US" sz="13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02C2DF8-4393-B30A-188A-E476EE4F26B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124" t="14369" r="64590" b="18522"/>
          <a:stretch>
            <a:fillRect/>
          </a:stretch>
        </p:blipFill>
        <p:spPr>
          <a:xfrm>
            <a:off x="8436594" y="140589"/>
            <a:ext cx="587279" cy="5795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C900B1-FC5C-A22A-A555-8FDC3CC78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0"/>
            <a:ext cx="8309610" cy="5143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1971C3-6270-FCA0-79DA-BEE2706F5D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24" t="14369" r="64590" b="18522"/>
          <a:stretch>
            <a:fillRect/>
          </a:stretch>
        </p:blipFill>
        <p:spPr>
          <a:xfrm>
            <a:off x="8436594" y="140589"/>
            <a:ext cx="587279" cy="579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513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5">
            <a:extLst>
              <a:ext uri="{FF2B5EF4-FFF2-40B4-BE49-F238E27FC236}">
                <a16:creationId xmlns:a16="http://schemas.microsoft.com/office/drawing/2014/main" id="{CD4AF823-F4AB-BE3B-2C22-843267FDF6B1}"/>
              </a:ext>
            </a:extLst>
          </p:cNvPr>
          <p:cNvSpPr/>
          <p:nvPr/>
        </p:nvSpPr>
        <p:spPr>
          <a:xfrm>
            <a:off x="3377565" y="1596653"/>
            <a:ext cx="2743200" cy="274320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IN" sz="1350"/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661D549B-8C20-0AF5-FFC0-0A6325A8CBF0}"/>
              </a:ext>
            </a:extLst>
          </p:cNvPr>
          <p:cNvSpPr/>
          <p:nvPr/>
        </p:nvSpPr>
        <p:spPr>
          <a:xfrm>
            <a:off x="6309360" y="1577340"/>
            <a:ext cx="2743200" cy="274320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IN" sz="1350"/>
          </a:p>
        </p:txBody>
      </p:sp>
      <p:sp>
        <p:nvSpPr>
          <p:cNvPr id="2" name="Text 0"/>
          <p:cNvSpPr/>
          <p:nvPr/>
        </p:nvSpPr>
        <p:spPr>
          <a:xfrm>
            <a:off x="411480" y="24003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8183651" y="4800600"/>
            <a:ext cx="685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582930"/>
            <a:ext cx="7886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364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Bootstrapped Capital &amp; Fund Allocation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11480" y="973836"/>
            <a:ext cx="7200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co-founder funding structure and budget distribution</a:t>
            </a:r>
            <a:endParaRPr lang="en-US" sz="975" dirty="0"/>
          </a:p>
        </p:txBody>
      </p:sp>
      <p:sp>
        <p:nvSpPr>
          <p:cNvPr id="7" name="Shape 5"/>
          <p:cNvSpPr/>
          <p:nvPr/>
        </p:nvSpPr>
        <p:spPr>
          <a:xfrm>
            <a:off x="411480" y="1577340"/>
            <a:ext cx="2743200" cy="274320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IN" sz="1350"/>
          </a:p>
        </p:txBody>
      </p:sp>
      <p:sp>
        <p:nvSpPr>
          <p:cNvPr id="8" name="Text 6"/>
          <p:cNvSpPr/>
          <p:nvPr/>
        </p:nvSpPr>
        <p:spPr>
          <a:xfrm>
            <a:off x="411480" y="181737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kern="0" spc="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TOTAL CAPITAL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11480" y="202311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₹4,000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17220" y="277749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Raised equally among 4 students</a:t>
            </a:r>
            <a:endParaRPr lang="en-US" sz="863" dirty="0"/>
          </a:p>
        </p:txBody>
      </p:sp>
      <p:sp>
        <p:nvSpPr>
          <p:cNvPr id="11" name="Shape 9"/>
          <p:cNvSpPr/>
          <p:nvPr/>
        </p:nvSpPr>
        <p:spPr>
          <a:xfrm>
            <a:off x="822960" y="3154680"/>
            <a:ext cx="1920240" cy="0"/>
          </a:xfrm>
          <a:prstGeom prst="line">
            <a:avLst/>
          </a:prstGeom>
          <a:noFill/>
          <a:ln w="12700">
            <a:solidFill>
              <a:srgbClr val="5A6169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12" name="Text 10"/>
          <p:cNvSpPr/>
          <p:nvPr/>
        </p:nvSpPr>
        <p:spPr>
          <a:xfrm>
            <a:off x="411480" y="3291840"/>
            <a:ext cx="27432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₹1,000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17220" y="3703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per person</a:t>
            </a:r>
            <a:endParaRPr lang="en-US" sz="825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3771900" y="1474470"/>
          <a:ext cx="2537460" cy="2537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hape 12"/>
          <p:cNvSpPr/>
          <p:nvPr/>
        </p:nvSpPr>
        <p:spPr>
          <a:xfrm>
            <a:off x="6398514" y="1724288"/>
            <a:ext cx="123444" cy="123444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 sz="1300"/>
          </a:p>
        </p:txBody>
      </p:sp>
      <p:sp>
        <p:nvSpPr>
          <p:cNvPr id="16" name="Text 13"/>
          <p:cNvSpPr/>
          <p:nvPr/>
        </p:nvSpPr>
        <p:spPr>
          <a:xfrm>
            <a:off x="6604254" y="1635017"/>
            <a:ext cx="2945918" cy="324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Supplies  </a:t>
            </a: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₹3200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623830" y="2116943"/>
            <a:ext cx="20574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Photo paper stock, micro-LED lights, clips, cardboard packaging.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398514" y="3119891"/>
            <a:ext cx="123444" cy="123444"/>
          </a:xfrm>
          <a:prstGeom prst="rect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IN" sz="1300"/>
          </a:p>
        </p:txBody>
      </p:sp>
      <p:sp>
        <p:nvSpPr>
          <p:cNvPr id="22" name="Text 19"/>
          <p:cNvSpPr/>
          <p:nvPr/>
        </p:nvSpPr>
        <p:spPr>
          <a:xfrm>
            <a:off x="6623830" y="3133607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Tech Infrastructure  </a:t>
            </a: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· ₹800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604254" y="3572519"/>
            <a:ext cx="237445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Shopify trial domain, hosting, virtual storage</a:t>
            </a:r>
            <a:endParaRPr lang="en-US" sz="1300" dirty="0"/>
          </a:p>
        </p:txBody>
      </p:sp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9DABDC79-F925-8D0A-0915-EC994C88E2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356240"/>
              </p:ext>
            </p:extLst>
          </p:nvPr>
        </p:nvGraphicFramePr>
        <p:xfrm>
          <a:off x="3394710" y="1555751"/>
          <a:ext cx="2812778" cy="27177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CB9F5F8E-E4A8-DF34-9BFC-7198FCD356B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124" t="14369" r="64590" b="18522"/>
          <a:stretch>
            <a:fillRect/>
          </a:stretch>
        </p:blipFill>
        <p:spPr>
          <a:xfrm>
            <a:off x="8436594" y="140589"/>
            <a:ext cx="587279" cy="5795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8183651" y="4800600"/>
            <a:ext cx="685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75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411480" y="582930"/>
            <a:ext cx="80924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75" b="1" dirty="0">
                <a:solidFill>
                  <a:srgbClr val="364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Feasibility Analysis: Cost Structure &amp; Unit Economics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7200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cost benchmarks and gross margin by combo tier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11480" y="1405890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13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COST BENCHMARKS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59636"/>
            <a:ext cx="4046220" cy="315468"/>
          </a:xfrm>
          <a:prstGeom prst="rect">
            <a:avLst/>
          </a:prstGeom>
          <a:solidFill>
            <a:srgbClr val="FAF8F5"/>
          </a:solidFill>
          <a:ln/>
        </p:spPr>
        <p:txBody>
          <a:bodyPr/>
          <a:lstStyle/>
          <a:p>
            <a:endParaRPr lang="en-IN" sz="1300"/>
          </a:p>
        </p:txBody>
      </p:sp>
      <p:sp>
        <p:nvSpPr>
          <p:cNvPr id="9" name="Text 7"/>
          <p:cNvSpPr/>
          <p:nvPr/>
        </p:nvSpPr>
        <p:spPr>
          <a:xfrm>
            <a:off x="493776" y="1659636"/>
            <a:ext cx="28117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4A4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A3/A4 print — single (1 pc)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23260" y="1659636"/>
            <a:ext cx="11658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 / pc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" y="1975104"/>
            <a:ext cx="28117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4A4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A3/A4 print — bulk (50 pcs, 1 side)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23260" y="1975104"/>
            <a:ext cx="11658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 / pc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290572"/>
            <a:ext cx="4046220" cy="315468"/>
          </a:xfrm>
          <a:prstGeom prst="rect">
            <a:avLst/>
          </a:prstGeom>
          <a:solidFill>
            <a:srgbClr val="FAF8F5"/>
          </a:solidFill>
          <a:ln/>
        </p:spPr>
        <p:txBody>
          <a:bodyPr/>
          <a:lstStyle/>
          <a:p>
            <a:endParaRPr lang="en-IN" sz="1300"/>
          </a:p>
        </p:txBody>
      </p:sp>
      <p:sp>
        <p:nvSpPr>
          <p:cNvPr id="14" name="Text 12"/>
          <p:cNvSpPr/>
          <p:nvPr/>
        </p:nvSpPr>
        <p:spPr>
          <a:xfrm>
            <a:off x="493776" y="2290572"/>
            <a:ext cx="28117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4A4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Polaroid print (bulk, 35 pcs)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23260" y="2290572"/>
            <a:ext cx="11658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₹4.43 / pc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" y="2606040"/>
            <a:ext cx="28117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4A4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clips and set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23260" y="2606040"/>
            <a:ext cx="11658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₹150 / bulk set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2921508"/>
            <a:ext cx="4046220" cy="315468"/>
          </a:xfrm>
          <a:prstGeom prst="rect">
            <a:avLst/>
          </a:prstGeom>
          <a:solidFill>
            <a:srgbClr val="FAF8F5"/>
          </a:solidFill>
          <a:ln/>
        </p:spPr>
        <p:txBody>
          <a:bodyPr/>
          <a:lstStyle/>
          <a:p>
            <a:endParaRPr lang="en-IN" sz="1300"/>
          </a:p>
        </p:txBody>
      </p:sp>
      <p:sp>
        <p:nvSpPr>
          <p:cNvPr id="19" name="Text 17"/>
          <p:cNvSpPr/>
          <p:nvPr/>
        </p:nvSpPr>
        <p:spPr>
          <a:xfrm>
            <a:off x="493776" y="2921508"/>
            <a:ext cx="28117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4A4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Micro-LED fairy lights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23260" y="2921508"/>
            <a:ext cx="11658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 – ₹50 / unit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" y="3236976"/>
            <a:ext cx="28117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4A4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groove-box packaging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23260" y="3236976"/>
            <a:ext cx="11658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₹25 / unit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3781438"/>
            <a:ext cx="40462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30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inventory-holding risk: on-demand printing via local vendor tie-ups means no unsold stock exposure.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97730" y="1405890"/>
            <a:ext cx="40462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13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vs. PRICE BY TIER (₹)</a:t>
            </a:r>
            <a:endParaRPr lang="en-US" sz="1300" dirty="0"/>
          </a:p>
        </p:txBody>
      </p:sp>
      <p:graphicFrame>
        <p:nvGraphicFramePr>
          <p:cNvPr id="25" name="Chart 0"/>
          <p:cNvGraphicFramePr/>
          <p:nvPr>
            <p:extLst>
              <p:ext uri="{D42A27DB-BD31-4B8C-83A1-F6EECF244321}">
                <p14:modId xmlns:p14="http://schemas.microsoft.com/office/powerpoint/2010/main" val="4188404600"/>
              </p:ext>
            </p:extLst>
          </p:nvPr>
        </p:nvGraphicFramePr>
        <p:xfrm>
          <a:off x="4697730" y="1645920"/>
          <a:ext cx="4046220" cy="22974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7" name="Picture 26">
            <a:extLst>
              <a:ext uri="{FF2B5EF4-FFF2-40B4-BE49-F238E27FC236}">
                <a16:creationId xmlns:a16="http://schemas.microsoft.com/office/drawing/2014/main" id="{0ED66AD5-F81A-067C-F8AA-22561D3A13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124" t="14369" r="64590" b="18522"/>
          <a:stretch>
            <a:fillRect/>
          </a:stretch>
        </p:blipFill>
        <p:spPr>
          <a:xfrm>
            <a:off x="8436594" y="140589"/>
            <a:ext cx="587279" cy="5795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8183651" y="4800600"/>
            <a:ext cx="685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75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411480" y="582930"/>
            <a:ext cx="80924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b="1" dirty="0">
                <a:solidFill>
                  <a:srgbClr val="364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Feasibility Analysis: Operations &amp; Sourcing Risk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11480" y="973836"/>
            <a:ext cx="7200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6B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inventory, local vendor tie-ups, and quality assurance protocol</a:t>
            </a:r>
            <a:endParaRPr lang="en-US" sz="975" dirty="0"/>
          </a:p>
        </p:txBody>
      </p:sp>
      <p:sp>
        <p:nvSpPr>
          <p:cNvPr id="7" name="Shape 5"/>
          <p:cNvSpPr/>
          <p:nvPr/>
        </p:nvSpPr>
        <p:spPr>
          <a:xfrm>
            <a:off x="411480" y="1577340"/>
            <a:ext cx="2640330" cy="267462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2000"/>
              </a:srgbClr>
            </a:outerShdw>
          </a:effectLst>
        </p:spPr>
        <p:txBody>
          <a:bodyPr/>
          <a:lstStyle/>
          <a:p>
            <a:endParaRPr lang="en-IN" sz="1300"/>
          </a:p>
        </p:txBody>
      </p:sp>
      <p:sp>
        <p:nvSpPr>
          <p:cNvPr id="8" name="Shape 6"/>
          <p:cNvSpPr/>
          <p:nvPr/>
        </p:nvSpPr>
        <p:spPr>
          <a:xfrm>
            <a:off x="1423035" y="1851660"/>
            <a:ext cx="617220" cy="617220"/>
          </a:xfrm>
          <a:prstGeom prst="ellipse">
            <a:avLst/>
          </a:prstGeom>
          <a:solidFill>
            <a:srgbClr val="EFE9E1"/>
          </a:solidFill>
          <a:ln/>
        </p:spPr>
        <p:txBody>
          <a:bodyPr/>
          <a:lstStyle/>
          <a:p>
            <a:endParaRPr lang="en-IN" sz="1300"/>
          </a:p>
        </p:txBody>
      </p:sp>
      <p:pic>
        <p:nvPicPr>
          <p:cNvPr id="9" name="Image 0" descr="icons/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053" y="1981962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2278" y="2540810"/>
            <a:ext cx="255953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3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Inventory-Holding Risk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7220" y="3120390"/>
            <a:ext cx="222885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On-demand printing with local vendor tie-ups eliminates unsold-stock exposure entirely.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50692" y="1577340"/>
            <a:ext cx="2640330" cy="267462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2000"/>
              </a:srgbClr>
            </a:outerShdw>
          </a:effectLst>
        </p:spPr>
        <p:txBody>
          <a:bodyPr/>
          <a:lstStyle/>
          <a:p>
            <a:endParaRPr lang="en-IN" sz="1300"/>
          </a:p>
        </p:txBody>
      </p:sp>
      <p:sp>
        <p:nvSpPr>
          <p:cNvPr id="13" name="Shape 10"/>
          <p:cNvSpPr/>
          <p:nvPr/>
        </p:nvSpPr>
        <p:spPr>
          <a:xfrm>
            <a:off x="4262247" y="1851660"/>
            <a:ext cx="617220" cy="617220"/>
          </a:xfrm>
          <a:prstGeom prst="ellipse">
            <a:avLst/>
          </a:prstGeom>
          <a:solidFill>
            <a:srgbClr val="EFE9E1"/>
          </a:solidFill>
          <a:ln/>
        </p:spPr>
        <p:txBody>
          <a:bodyPr/>
          <a:lstStyle/>
          <a:p>
            <a:endParaRPr lang="en-IN" sz="1300"/>
          </a:p>
        </p:txBody>
      </p:sp>
      <p:pic>
        <p:nvPicPr>
          <p:cNvPr id="14" name="Image 1" descr="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6265" y="1981962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96018" y="2536934"/>
            <a:ext cx="264033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3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Quality Assurance Protocol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56432" y="3120390"/>
            <a:ext cx="222885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Every print is physically verified with local suppliers before packing — guaranteeing high resolution and zero paper defects.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089904" y="1577340"/>
            <a:ext cx="2640330" cy="267462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2000"/>
              </a:srgbClr>
            </a:outerShdw>
          </a:effectLst>
        </p:spPr>
        <p:txBody>
          <a:bodyPr/>
          <a:lstStyle/>
          <a:p>
            <a:endParaRPr lang="en-IN" sz="1300"/>
          </a:p>
        </p:txBody>
      </p:sp>
      <p:sp>
        <p:nvSpPr>
          <p:cNvPr id="18" name="Shape 14"/>
          <p:cNvSpPr/>
          <p:nvPr/>
        </p:nvSpPr>
        <p:spPr>
          <a:xfrm>
            <a:off x="7101459" y="1851660"/>
            <a:ext cx="617220" cy="617220"/>
          </a:xfrm>
          <a:prstGeom prst="ellipse">
            <a:avLst/>
          </a:prstGeom>
          <a:solidFill>
            <a:srgbClr val="EFE9E1"/>
          </a:solidFill>
          <a:ln/>
        </p:spPr>
        <p:txBody>
          <a:bodyPr/>
          <a:lstStyle/>
          <a:p>
            <a:endParaRPr lang="en-IN" sz="1300"/>
          </a:p>
        </p:txBody>
      </p:sp>
      <p:pic>
        <p:nvPicPr>
          <p:cNvPr id="19" name="Image 2" descr="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5477" y="1981962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61354" y="2606040"/>
            <a:ext cx="229743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3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 Supply-Chain Risk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95644" y="3120390"/>
            <a:ext cx="222885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local sourcing prevents production bottlenecks and guarantees the 24–48 hour fulfillment promise.</a:t>
            </a:r>
            <a:endParaRPr lang="en-US" sz="13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618ACFE-29B2-BE1A-715A-B7F678F9EF3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124" t="14369" r="64590" b="18522"/>
          <a:stretch>
            <a:fillRect/>
          </a:stretch>
        </p:blipFill>
        <p:spPr>
          <a:xfrm>
            <a:off x="8436594" y="140589"/>
            <a:ext cx="587279" cy="5795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8183651" y="4800600"/>
            <a:ext cx="685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75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411480" y="582930"/>
            <a:ext cx="80924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25" b="1" dirty="0">
                <a:solidFill>
                  <a:srgbClr val="364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Execution Plan: 4-Week Operational Roadmap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11480" y="973836"/>
            <a:ext cx="7200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teaser launch to full campus rollout</a:t>
            </a:r>
            <a:endParaRPr lang="en-US" sz="975" dirty="0"/>
          </a:p>
        </p:txBody>
      </p:sp>
      <p:sp>
        <p:nvSpPr>
          <p:cNvPr id="7" name="Shape 5"/>
          <p:cNvSpPr/>
          <p:nvPr/>
        </p:nvSpPr>
        <p:spPr>
          <a:xfrm>
            <a:off x="754380" y="2160270"/>
            <a:ext cx="7612380" cy="0"/>
          </a:xfrm>
          <a:prstGeom prst="line">
            <a:avLst/>
          </a:prstGeom>
          <a:noFill/>
          <a:ln w="38100">
            <a:solidFill>
              <a:srgbClr val="E3D9CB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8" name="Shape 6"/>
          <p:cNvSpPr/>
          <p:nvPr/>
        </p:nvSpPr>
        <p:spPr>
          <a:xfrm>
            <a:off x="1381887" y="2050542"/>
            <a:ext cx="219456" cy="219456"/>
          </a:xfrm>
          <a:prstGeom prst="ellipse">
            <a:avLst/>
          </a:prstGeom>
          <a:solidFill>
            <a:srgbClr val="B8504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9" name="Text 7"/>
          <p:cNvSpPr/>
          <p:nvPr/>
        </p:nvSpPr>
        <p:spPr>
          <a:xfrm>
            <a:off x="1381887" y="205054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14350" y="1337310"/>
            <a:ext cx="1954530" cy="685800"/>
          </a:xfrm>
          <a:prstGeom prst="roundRect">
            <a:avLst>
              <a:gd name="adj" fmla="val 7000"/>
            </a:avLst>
          </a:prstGeom>
          <a:solidFill>
            <a:srgbClr val="EFE9E1"/>
          </a:solidFill>
          <a:ln/>
        </p:spPr>
        <p:txBody>
          <a:bodyPr/>
          <a:lstStyle/>
          <a:p>
            <a:endParaRPr lang="en-IN" sz="1350" dirty="0"/>
          </a:p>
        </p:txBody>
      </p:sp>
      <p:sp>
        <p:nvSpPr>
          <p:cNvPr id="11" name="Text 9"/>
          <p:cNvSpPr/>
          <p:nvPr/>
        </p:nvSpPr>
        <p:spPr>
          <a:xfrm>
            <a:off x="514350" y="1337310"/>
            <a:ext cx="19545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b="1" kern="0" spc="113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63" dirty="0"/>
          </a:p>
        </p:txBody>
      </p:sp>
      <p:sp>
        <p:nvSpPr>
          <p:cNvPr id="12" name="Text 10"/>
          <p:cNvSpPr/>
          <p:nvPr/>
        </p:nvSpPr>
        <p:spPr>
          <a:xfrm>
            <a:off x="596646" y="1546479"/>
            <a:ext cx="178993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5000"/>
              </a:lnSpc>
            </a:pPr>
            <a:r>
              <a:rPr lang="en-US" sz="1400" b="1" dirty="0">
                <a:solidFill>
                  <a:srgbClr val="364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434590"/>
            <a:ext cx="188595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Campus promotions, Instagram campaign roll-out, and Shopify storefront activation.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507867" y="2050542"/>
            <a:ext cx="219456" cy="219456"/>
          </a:xfrm>
          <a:prstGeom prst="ellipse">
            <a:avLst/>
          </a:prstGeom>
          <a:solidFill>
            <a:srgbClr val="B8504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15" name="Text 13"/>
          <p:cNvSpPr/>
          <p:nvPr/>
        </p:nvSpPr>
        <p:spPr>
          <a:xfrm>
            <a:off x="3507867" y="205054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40330" y="1337310"/>
            <a:ext cx="1954530" cy="685800"/>
          </a:xfrm>
          <a:prstGeom prst="roundRect">
            <a:avLst>
              <a:gd name="adj" fmla="val 7000"/>
            </a:avLst>
          </a:prstGeom>
          <a:solidFill>
            <a:srgbClr val="EFE9E1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7" name="Text 15"/>
          <p:cNvSpPr/>
          <p:nvPr/>
        </p:nvSpPr>
        <p:spPr>
          <a:xfrm>
            <a:off x="2640330" y="1337310"/>
            <a:ext cx="19545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b="1" kern="0" spc="113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63" dirty="0"/>
          </a:p>
        </p:txBody>
      </p:sp>
      <p:sp>
        <p:nvSpPr>
          <p:cNvPr id="18" name="Text 16"/>
          <p:cNvSpPr/>
          <p:nvPr/>
        </p:nvSpPr>
        <p:spPr>
          <a:xfrm>
            <a:off x="2722626" y="1546479"/>
            <a:ext cx="178993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5000"/>
              </a:lnSpc>
            </a:pPr>
            <a:r>
              <a:rPr lang="en-US" sz="1400" b="1" dirty="0">
                <a:solidFill>
                  <a:srgbClr val="364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 Processing &amp; Fast Fulfillment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74620" y="2434590"/>
            <a:ext cx="188595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Begin accepting orders, initiate local vendor printing, launch 24–48 hr campus delivery.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33847" y="2050542"/>
            <a:ext cx="219456" cy="219456"/>
          </a:xfrm>
          <a:prstGeom prst="ellipse">
            <a:avLst/>
          </a:prstGeom>
          <a:solidFill>
            <a:srgbClr val="B8504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21" name="Text 19"/>
          <p:cNvSpPr/>
          <p:nvPr/>
        </p:nvSpPr>
        <p:spPr>
          <a:xfrm>
            <a:off x="5633847" y="205054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66310" y="1337310"/>
            <a:ext cx="1954530" cy="685800"/>
          </a:xfrm>
          <a:prstGeom prst="roundRect">
            <a:avLst>
              <a:gd name="adj" fmla="val 7000"/>
            </a:avLst>
          </a:prstGeom>
          <a:solidFill>
            <a:srgbClr val="EFE9E1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23" name="Text 21"/>
          <p:cNvSpPr/>
          <p:nvPr/>
        </p:nvSpPr>
        <p:spPr>
          <a:xfrm>
            <a:off x="4766310" y="1337310"/>
            <a:ext cx="19545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b="1" kern="0" spc="113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63" dirty="0"/>
          </a:p>
        </p:txBody>
      </p:sp>
      <p:sp>
        <p:nvSpPr>
          <p:cNvPr id="24" name="Text 22"/>
          <p:cNvSpPr/>
          <p:nvPr/>
        </p:nvSpPr>
        <p:spPr>
          <a:xfrm>
            <a:off x="4848606" y="1546479"/>
            <a:ext cx="178993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5000"/>
              </a:lnSpc>
            </a:pPr>
            <a:r>
              <a:rPr lang="en-US" sz="1400" b="1" dirty="0">
                <a:solidFill>
                  <a:srgbClr val="364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Line Expansion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00600" y="2434590"/>
            <a:ext cx="188595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Introduce special Combo Packs and launch the Campus Birthday Pack.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59827" y="2050542"/>
            <a:ext cx="219456" cy="219456"/>
          </a:xfrm>
          <a:prstGeom prst="ellipse">
            <a:avLst/>
          </a:prstGeom>
          <a:solidFill>
            <a:srgbClr val="B8504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27" name="Text 25"/>
          <p:cNvSpPr/>
          <p:nvPr/>
        </p:nvSpPr>
        <p:spPr>
          <a:xfrm>
            <a:off x="7759827" y="205054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92290" y="1337310"/>
            <a:ext cx="1954530" cy="685800"/>
          </a:xfrm>
          <a:prstGeom prst="roundRect">
            <a:avLst>
              <a:gd name="adj" fmla="val 7000"/>
            </a:avLst>
          </a:prstGeom>
          <a:solidFill>
            <a:srgbClr val="EFE9E1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29" name="Text 27"/>
          <p:cNvSpPr/>
          <p:nvPr/>
        </p:nvSpPr>
        <p:spPr>
          <a:xfrm>
            <a:off x="6892290" y="1337310"/>
            <a:ext cx="19545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b="1" kern="0" spc="113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63" dirty="0"/>
          </a:p>
        </p:txBody>
      </p:sp>
      <p:sp>
        <p:nvSpPr>
          <p:cNvPr id="30" name="Text 28"/>
          <p:cNvSpPr/>
          <p:nvPr/>
        </p:nvSpPr>
        <p:spPr>
          <a:xfrm>
            <a:off x="6974586" y="1546479"/>
            <a:ext cx="178993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5000"/>
              </a:lnSpc>
            </a:pPr>
            <a:r>
              <a:rPr lang="en-US" sz="1400" b="1" dirty="0">
                <a:solidFill>
                  <a:srgbClr val="364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Review, Scale &amp; Optimize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26580" y="2434590"/>
            <a:ext cx="188595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Collect testimonials, expand word-of-mouth campaigns, optimize unit production costs.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11480" y="3943350"/>
            <a:ext cx="8318754" cy="720090"/>
          </a:xfrm>
          <a:prstGeom prst="roundRect">
            <a:avLst>
              <a:gd name="adj" fmla="val 7619"/>
            </a:avLst>
          </a:prstGeom>
          <a:solidFill>
            <a:srgbClr val="EFE9E1"/>
          </a:solidFill>
          <a:ln/>
        </p:spPr>
        <p:txBody>
          <a:bodyPr/>
          <a:lstStyle/>
          <a:p>
            <a:endParaRPr lang="en-IN" sz="1350"/>
          </a:p>
        </p:txBody>
      </p:sp>
      <p:pic>
        <p:nvPicPr>
          <p:cNvPr id="33" name="Image 0" descr="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135374"/>
            <a:ext cx="342900" cy="3429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097280" y="3943350"/>
            <a:ext cx="747522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38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at Week 4: a repeatable weekly fulfillment cycle, an expanded product line, and a testimonial base ready to fuel word-of-mouth growth into the next term.</a:t>
            </a:r>
            <a:endParaRPr lang="en-US" sz="938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56D6156-08B4-C35D-32BC-0572CC0C8F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124" t="14369" r="64590" b="18522"/>
          <a:stretch>
            <a:fillRect/>
          </a:stretch>
        </p:blipFill>
        <p:spPr>
          <a:xfrm>
            <a:off x="8436594" y="140589"/>
            <a:ext cx="587279" cy="5795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0">
            <a:extLst>
              <a:ext uri="{FF2B5EF4-FFF2-40B4-BE49-F238E27FC236}">
                <a16:creationId xmlns:a16="http://schemas.microsoft.com/office/drawing/2014/main" id="{B798D4F8-9160-DCF0-5CBB-689B6D77DACE}"/>
              </a:ext>
            </a:extLst>
          </p:cNvPr>
          <p:cNvSpPr/>
          <p:nvPr/>
        </p:nvSpPr>
        <p:spPr>
          <a:xfrm>
            <a:off x="73898" y="2947062"/>
            <a:ext cx="5004895" cy="1998477"/>
          </a:xfrm>
          <a:prstGeom prst="roundRect">
            <a:avLst>
              <a:gd name="adj" fmla="val 7619"/>
            </a:avLst>
          </a:prstGeom>
          <a:solidFill>
            <a:srgbClr val="EFE9E1"/>
          </a:solidFill>
          <a:ln/>
        </p:spPr>
        <p:txBody>
          <a:bodyPr/>
          <a:lstStyle/>
          <a:p>
            <a:pPr algn="ctr"/>
            <a:endParaRPr lang="en-IN" sz="4000" b="1" dirty="0"/>
          </a:p>
          <a:p>
            <a:pPr algn="ctr"/>
            <a:r>
              <a:rPr lang="en-IN" sz="4000" b="1" dirty="0"/>
              <a:t>THANK YOU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A9980-E6AF-6BD8-07E8-F09848B48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805" y="190500"/>
            <a:ext cx="2571750" cy="24709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315E7F-E048-0F5D-21A0-276C4F47C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2661417"/>
            <a:ext cx="3903742" cy="24709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F37047-BC43-5F8C-FAEB-483A49A30E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8568" y="91649"/>
            <a:ext cx="3234690" cy="26686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7D6E98-AC40-6002-2C72-7A44154E74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47" y="91649"/>
            <a:ext cx="3091021" cy="266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947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965</Words>
  <Application>Microsoft Office PowerPoint</Application>
  <PresentationFormat>On-screen Show (16:9)</PresentationFormat>
  <Paragraphs>167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Aharoni</vt:lpstr>
      <vt:lpstr>Arial</vt:lpstr>
      <vt:lpstr>Calibri</vt:lpstr>
      <vt:lpstr>Carlito</vt:lpstr>
      <vt:lpstr>Liberation Sans Narrow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poojitha murthy</cp:lastModifiedBy>
  <cp:revision>15</cp:revision>
  <dcterms:created xsi:type="dcterms:W3CDTF">2026-08-06T05:36:35Z</dcterms:created>
  <dcterms:modified xsi:type="dcterms:W3CDTF">2026-08-07T04:31:22Z</dcterms:modified>
</cp:coreProperties>
</file>